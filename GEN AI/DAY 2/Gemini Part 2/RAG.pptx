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877" r:id="rId2"/>
    <p:sldId id="803" r:id="rId3"/>
    <p:sldId id="449" r:id="rId4"/>
    <p:sldId id="26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napatiRaju Nadimpalli" initials="GN" lastIdx="1" clrIdx="0">
    <p:extLst>
      <p:ext uri="{19B8F6BF-5375-455C-9EA6-DF929625EA0E}">
        <p15:presenceInfo xmlns:p15="http://schemas.microsoft.com/office/powerpoint/2012/main" userId="d9f10cd8c1805c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9" autoAdjust="0"/>
    <p:restoredTop sz="95033" autoAdjust="0"/>
  </p:normalViewPr>
  <p:slideViewPr>
    <p:cSldViewPr snapToGrid="0">
      <p:cViewPr varScale="1">
        <p:scale>
          <a:sx n="74" d="100"/>
          <a:sy n="74" d="100"/>
        </p:scale>
        <p:origin x="941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EFFAA5-8177-4F46-8B8D-61C52F5D0B7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E09554C-EB84-4BE1-96CC-3A9230CF86C5}">
      <dgm:prSet/>
      <dgm:spPr/>
      <dgm:t>
        <a:bodyPr/>
        <a:lstStyle/>
        <a:p>
          <a:r>
            <a:rPr lang="en-US" b="0" i="0" baseline="0"/>
            <a:t>How does ChatGPT answer questions using uploaded documents?</a:t>
          </a:r>
          <a:endParaRPr lang="en-US"/>
        </a:p>
      </dgm:t>
    </dgm:pt>
    <dgm:pt modelId="{C8657D62-C370-439B-814A-C96A1AEE5758}" type="parTrans" cxnId="{6F72BDB9-F41D-4AD1-A546-6E47967AD9D6}">
      <dgm:prSet/>
      <dgm:spPr/>
      <dgm:t>
        <a:bodyPr/>
        <a:lstStyle/>
        <a:p>
          <a:endParaRPr lang="en-US"/>
        </a:p>
      </dgm:t>
    </dgm:pt>
    <dgm:pt modelId="{C474E7EB-3494-40D5-BF70-C627DEA9E67C}" type="sibTrans" cxnId="{6F72BDB9-F41D-4AD1-A546-6E47967AD9D6}">
      <dgm:prSet/>
      <dgm:spPr/>
      <dgm:t>
        <a:bodyPr/>
        <a:lstStyle/>
        <a:p>
          <a:endParaRPr lang="en-US"/>
        </a:p>
      </dgm:t>
    </dgm:pt>
    <dgm:pt modelId="{0D2B0272-A7B4-4DA6-9BB1-44D6AF1206A9}">
      <dgm:prSet/>
      <dgm:spPr/>
      <dgm:t>
        <a:bodyPr/>
        <a:lstStyle/>
        <a:p>
          <a:r>
            <a:rPr lang="en-US" b="0" i="0" baseline="0"/>
            <a:t>How can an AI system give answers only from company knowledge files?</a:t>
          </a:r>
          <a:endParaRPr lang="en-US"/>
        </a:p>
      </dgm:t>
    </dgm:pt>
    <dgm:pt modelId="{ED663910-EED1-45D5-BBC5-30B861DAEE01}" type="parTrans" cxnId="{319051B2-2C76-4AD0-B6CF-2A951BB832B7}">
      <dgm:prSet/>
      <dgm:spPr/>
      <dgm:t>
        <a:bodyPr/>
        <a:lstStyle/>
        <a:p>
          <a:endParaRPr lang="en-US"/>
        </a:p>
      </dgm:t>
    </dgm:pt>
    <dgm:pt modelId="{4CC6A90A-5EBA-4B48-A0C1-7C5438C03C62}" type="sibTrans" cxnId="{319051B2-2C76-4AD0-B6CF-2A951BB832B7}">
      <dgm:prSet/>
      <dgm:spPr/>
      <dgm:t>
        <a:bodyPr/>
        <a:lstStyle/>
        <a:p>
          <a:endParaRPr lang="en-US"/>
        </a:p>
      </dgm:t>
    </dgm:pt>
    <dgm:pt modelId="{2B92ACA3-48BD-4027-A7E6-D5C676F6FE27}">
      <dgm:prSet/>
      <dgm:spPr/>
      <dgm:t>
        <a:bodyPr/>
        <a:lstStyle/>
        <a:p>
          <a:r>
            <a:rPr lang="en-US" b="0" i="0" baseline="0"/>
            <a:t>How does retrieval improve accuracy compared to plain LLM answers?</a:t>
          </a:r>
          <a:endParaRPr lang="en-US"/>
        </a:p>
      </dgm:t>
    </dgm:pt>
    <dgm:pt modelId="{58AE270D-258F-423B-9656-4ECC7D992E9B}" type="parTrans" cxnId="{F228BEC8-0D09-4E7D-8027-1A6D3C1F641F}">
      <dgm:prSet/>
      <dgm:spPr/>
      <dgm:t>
        <a:bodyPr/>
        <a:lstStyle/>
        <a:p>
          <a:endParaRPr lang="en-US"/>
        </a:p>
      </dgm:t>
    </dgm:pt>
    <dgm:pt modelId="{9CEB239C-B8C8-46B2-80E8-B5213D45F691}" type="sibTrans" cxnId="{F228BEC8-0D09-4E7D-8027-1A6D3C1F641F}">
      <dgm:prSet/>
      <dgm:spPr/>
      <dgm:t>
        <a:bodyPr/>
        <a:lstStyle/>
        <a:p>
          <a:endParaRPr lang="en-US"/>
        </a:p>
      </dgm:t>
    </dgm:pt>
    <dgm:pt modelId="{E8ECD5AA-034B-4F62-A130-8945A22C3484}" type="pres">
      <dgm:prSet presAssocID="{18EFFAA5-8177-4F46-8B8D-61C52F5D0B7A}" presName="root" presStyleCnt="0">
        <dgm:presLayoutVars>
          <dgm:dir/>
          <dgm:resizeHandles val="exact"/>
        </dgm:presLayoutVars>
      </dgm:prSet>
      <dgm:spPr/>
    </dgm:pt>
    <dgm:pt modelId="{BDE344A7-AAB1-4DC7-93F4-019BBBA7291D}" type="pres">
      <dgm:prSet presAssocID="{BE09554C-EB84-4BE1-96CC-3A9230CF86C5}" presName="compNode" presStyleCnt="0"/>
      <dgm:spPr/>
    </dgm:pt>
    <dgm:pt modelId="{A6B38BEE-9E00-4AED-80F4-16ED44233075}" type="pres">
      <dgm:prSet presAssocID="{BE09554C-EB84-4BE1-96CC-3A9230CF86C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bow"/>
        </a:ext>
      </dgm:extLst>
    </dgm:pt>
    <dgm:pt modelId="{D583932E-7367-4895-ADEE-F59027AECA3B}" type="pres">
      <dgm:prSet presAssocID="{BE09554C-EB84-4BE1-96CC-3A9230CF86C5}" presName="spaceRect" presStyleCnt="0"/>
      <dgm:spPr/>
    </dgm:pt>
    <dgm:pt modelId="{F1287003-97C2-41F1-8D9F-ECE14F44DD2A}" type="pres">
      <dgm:prSet presAssocID="{BE09554C-EB84-4BE1-96CC-3A9230CF86C5}" presName="textRect" presStyleLbl="revTx" presStyleIdx="0" presStyleCnt="3">
        <dgm:presLayoutVars>
          <dgm:chMax val="1"/>
          <dgm:chPref val="1"/>
        </dgm:presLayoutVars>
      </dgm:prSet>
      <dgm:spPr/>
    </dgm:pt>
    <dgm:pt modelId="{C4C1C857-C2EF-4A94-B087-9AD7CA14ED3F}" type="pres">
      <dgm:prSet presAssocID="{C474E7EB-3494-40D5-BF70-C627DEA9E67C}" presName="sibTrans" presStyleCnt="0"/>
      <dgm:spPr/>
    </dgm:pt>
    <dgm:pt modelId="{7D84C56C-0EC6-44E0-B592-DA16052FFD5D}" type="pres">
      <dgm:prSet presAssocID="{0D2B0272-A7B4-4DA6-9BB1-44D6AF1206A9}" presName="compNode" presStyleCnt="0"/>
      <dgm:spPr/>
    </dgm:pt>
    <dgm:pt modelId="{B7C99EEC-F90D-4DC5-863F-0512349104F4}" type="pres">
      <dgm:prSet presAssocID="{0D2B0272-A7B4-4DA6-9BB1-44D6AF1206A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2819B83-9A5E-4925-B0F2-FA09462BB143}" type="pres">
      <dgm:prSet presAssocID="{0D2B0272-A7B4-4DA6-9BB1-44D6AF1206A9}" presName="spaceRect" presStyleCnt="0"/>
      <dgm:spPr/>
    </dgm:pt>
    <dgm:pt modelId="{F72282D7-2D4A-45F2-A2B6-A6142DE17080}" type="pres">
      <dgm:prSet presAssocID="{0D2B0272-A7B4-4DA6-9BB1-44D6AF1206A9}" presName="textRect" presStyleLbl="revTx" presStyleIdx="1" presStyleCnt="3">
        <dgm:presLayoutVars>
          <dgm:chMax val="1"/>
          <dgm:chPref val="1"/>
        </dgm:presLayoutVars>
      </dgm:prSet>
      <dgm:spPr/>
    </dgm:pt>
    <dgm:pt modelId="{E2EB85BB-33C6-4528-908D-90F710CC5205}" type="pres">
      <dgm:prSet presAssocID="{4CC6A90A-5EBA-4B48-A0C1-7C5438C03C62}" presName="sibTrans" presStyleCnt="0"/>
      <dgm:spPr/>
    </dgm:pt>
    <dgm:pt modelId="{6357BED0-76D2-485F-8ECF-29CB358C1DF0}" type="pres">
      <dgm:prSet presAssocID="{2B92ACA3-48BD-4027-A7E6-D5C676F6FE27}" presName="compNode" presStyleCnt="0"/>
      <dgm:spPr/>
    </dgm:pt>
    <dgm:pt modelId="{167D23AD-EDB7-4170-B720-D436B626BAD7}" type="pres">
      <dgm:prSet presAssocID="{2B92ACA3-48BD-4027-A7E6-D5C676F6FE2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268B0B3-0358-451F-B40D-EFD512041192}" type="pres">
      <dgm:prSet presAssocID="{2B92ACA3-48BD-4027-A7E6-D5C676F6FE27}" presName="spaceRect" presStyleCnt="0"/>
      <dgm:spPr/>
    </dgm:pt>
    <dgm:pt modelId="{9CB9F813-590A-4FDB-B262-F0AEEFB20D4A}" type="pres">
      <dgm:prSet presAssocID="{2B92ACA3-48BD-4027-A7E6-D5C676F6FE2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2C8441B-C32C-49B8-AA84-20A3ED58C210}" type="presOf" srcId="{BE09554C-EB84-4BE1-96CC-3A9230CF86C5}" destId="{F1287003-97C2-41F1-8D9F-ECE14F44DD2A}" srcOrd="0" destOrd="0" presId="urn:microsoft.com/office/officeart/2018/2/layout/IconLabelList"/>
    <dgm:cxn modelId="{4CFBF245-E730-47B0-BF47-FA63209FC0D2}" type="presOf" srcId="{2B92ACA3-48BD-4027-A7E6-D5C676F6FE27}" destId="{9CB9F813-590A-4FDB-B262-F0AEEFB20D4A}" srcOrd="0" destOrd="0" presId="urn:microsoft.com/office/officeart/2018/2/layout/IconLabelList"/>
    <dgm:cxn modelId="{DEED48AB-7002-4F54-8EFE-CEDE88A07689}" type="presOf" srcId="{18EFFAA5-8177-4F46-8B8D-61C52F5D0B7A}" destId="{E8ECD5AA-034B-4F62-A130-8945A22C3484}" srcOrd="0" destOrd="0" presId="urn:microsoft.com/office/officeart/2018/2/layout/IconLabelList"/>
    <dgm:cxn modelId="{319051B2-2C76-4AD0-B6CF-2A951BB832B7}" srcId="{18EFFAA5-8177-4F46-8B8D-61C52F5D0B7A}" destId="{0D2B0272-A7B4-4DA6-9BB1-44D6AF1206A9}" srcOrd="1" destOrd="0" parTransId="{ED663910-EED1-45D5-BBC5-30B861DAEE01}" sibTransId="{4CC6A90A-5EBA-4B48-A0C1-7C5438C03C62}"/>
    <dgm:cxn modelId="{6F72BDB9-F41D-4AD1-A546-6E47967AD9D6}" srcId="{18EFFAA5-8177-4F46-8B8D-61C52F5D0B7A}" destId="{BE09554C-EB84-4BE1-96CC-3A9230CF86C5}" srcOrd="0" destOrd="0" parTransId="{C8657D62-C370-439B-814A-C96A1AEE5758}" sibTransId="{C474E7EB-3494-40D5-BF70-C627DEA9E67C}"/>
    <dgm:cxn modelId="{F228BEC8-0D09-4E7D-8027-1A6D3C1F641F}" srcId="{18EFFAA5-8177-4F46-8B8D-61C52F5D0B7A}" destId="{2B92ACA3-48BD-4027-A7E6-D5C676F6FE27}" srcOrd="2" destOrd="0" parTransId="{58AE270D-258F-423B-9656-4ECC7D992E9B}" sibTransId="{9CEB239C-B8C8-46B2-80E8-B5213D45F691}"/>
    <dgm:cxn modelId="{CC42E1D8-83DB-4DC6-B08A-4BB872ECB532}" type="presOf" srcId="{0D2B0272-A7B4-4DA6-9BB1-44D6AF1206A9}" destId="{F72282D7-2D4A-45F2-A2B6-A6142DE17080}" srcOrd="0" destOrd="0" presId="urn:microsoft.com/office/officeart/2018/2/layout/IconLabelList"/>
    <dgm:cxn modelId="{53F7C184-AE67-47A6-BCD6-66431AC7D497}" type="presParOf" srcId="{E8ECD5AA-034B-4F62-A130-8945A22C3484}" destId="{BDE344A7-AAB1-4DC7-93F4-019BBBA7291D}" srcOrd="0" destOrd="0" presId="urn:microsoft.com/office/officeart/2018/2/layout/IconLabelList"/>
    <dgm:cxn modelId="{891CD59E-182B-49CF-A483-02578858D416}" type="presParOf" srcId="{BDE344A7-AAB1-4DC7-93F4-019BBBA7291D}" destId="{A6B38BEE-9E00-4AED-80F4-16ED44233075}" srcOrd="0" destOrd="0" presId="urn:microsoft.com/office/officeart/2018/2/layout/IconLabelList"/>
    <dgm:cxn modelId="{9BDEBDC5-B7C3-4377-BA40-8B59F1E9620B}" type="presParOf" srcId="{BDE344A7-AAB1-4DC7-93F4-019BBBA7291D}" destId="{D583932E-7367-4895-ADEE-F59027AECA3B}" srcOrd="1" destOrd="0" presId="urn:microsoft.com/office/officeart/2018/2/layout/IconLabelList"/>
    <dgm:cxn modelId="{C0C5A022-112F-40DB-8571-27CE1997F425}" type="presParOf" srcId="{BDE344A7-AAB1-4DC7-93F4-019BBBA7291D}" destId="{F1287003-97C2-41F1-8D9F-ECE14F44DD2A}" srcOrd="2" destOrd="0" presId="urn:microsoft.com/office/officeart/2018/2/layout/IconLabelList"/>
    <dgm:cxn modelId="{89810A54-12B2-4E80-B4DE-90993134256C}" type="presParOf" srcId="{E8ECD5AA-034B-4F62-A130-8945A22C3484}" destId="{C4C1C857-C2EF-4A94-B087-9AD7CA14ED3F}" srcOrd="1" destOrd="0" presId="urn:microsoft.com/office/officeart/2018/2/layout/IconLabelList"/>
    <dgm:cxn modelId="{F0A4CA8A-78BB-4190-9C79-D69DE5B6D2D0}" type="presParOf" srcId="{E8ECD5AA-034B-4F62-A130-8945A22C3484}" destId="{7D84C56C-0EC6-44E0-B592-DA16052FFD5D}" srcOrd="2" destOrd="0" presId="urn:microsoft.com/office/officeart/2018/2/layout/IconLabelList"/>
    <dgm:cxn modelId="{4B8A0015-12F3-4985-9AF5-9F8432B4B66C}" type="presParOf" srcId="{7D84C56C-0EC6-44E0-B592-DA16052FFD5D}" destId="{B7C99EEC-F90D-4DC5-863F-0512349104F4}" srcOrd="0" destOrd="0" presId="urn:microsoft.com/office/officeart/2018/2/layout/IconLabelList"/>
    <dgm:cxn modelId="{405BF286-2524-4DC3-8743-380DD3BCFDFA}" type="presParOf" srcId="{7D84C56C-0EC6-44E0-B592-DA16052FFD5D}" destId="{D2819B83-9A5E-4925-B0F2-FA09462BB143}" srcOrd="1" destOrd="0" presId="urn:microsoft.com/office/officeart/2018/2/layout/IconLabelList"/>
    <dgm:cxn modelId="{09C6C151-8C1D-4EA6-8F75-85045FB2D8B1}" type="presParOf" srcId="{7D84C56C-0EC6-44E0-B592-DA16052FFD5D}" destId="{F72282D7-2D4A-45F2-A2B6-A6142DE17080}" srcOrd="2" destOrd="0" presId="urn:microsoft.com/office/officeart/2018/2/layout/IconLabelList"/>
    <dgm:cxn modelId="{FADF3614-1203-44DF-BCAA-E45AF9B42848}" type="presParOf" srcId="{E8ECD5AA-034B-4F62-A130-8945A22C3484}" destId="{E2EB85BB-33C6-4528-908D-90F710CC5205}" srcOrd="3" destOrd="0" presId="urn:microsoft.com/office/officeart/2018/2/layout/IconLabelList"/>
    <dgm:cxn modelId="{A55251C2-7DE9-4857-BFBE-8107551CE972}" type="presParOf" srcId="{E8ECD5AA-034B-4F62-A130-8945A22C3484}" destId="{6357BED0-76D2-485F-8ECF-29CB358C1DF0}" srcOrd="4" destOrd="0" presId="urn:microsoft.com/office/officeart/2018/2/layout/IconLabelList"/>
    <dgm:cxn modelId="{E8E71A61-A3CB-427A-B181-52E8191280AE}" type="presParOf" srcId="{6357BED0-76D2-485F-8ECF-29CB358C1DF0}" destId="{167D23AD-EDB7-4170-B720-D436B626BAD7}" srcOrd="0" destOrd="0" presId="urn:microsoft.com/office/officeart/2018/2/layout/IconLabelList"/>
    <dgm:cxn modelId="{9FA759A5-1297-479F-B2CE-80122BCAFFB9}" type="presParOf" srcId="{6357BED0-76D2-485F-8ECF-29CB358C1DF0}" destId="{6268B0B3-0358-451F-B40D-EFD512041192}" srcOrd="1" destOrd="0" presId="urn:microsoft.com/office/officeart/2018/2/layout/IconLabelList"/>
    <dgm:cxn modelId="{D9E18721-773C-4317-9BBD-A1A29F0BABA2}" type="presParOf" srcId="{6357BED0-76D2-485F-8ECF-29CB358C1DF0}" destId="{9CB9F813-590A-4FDB-B262-F0AEEFB20D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38BEE-9E00-4AED-80F4-16ED44233075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87003-97C2-41F1-8D9F-ECE14F44DD2A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How does ChatGPT answer questions using uploaded documents?</a:t>
          </a:r>
          <a:endParaRPr lang="en-US" sz="1700" kern="1200"/>
        </a:p>
      </dsp:txBody>
      <dsp:txXfrm>
        <a:off x="378109" y="2068861"/>
        <a:ext cx="2872305" cy="720000"/>
      </dsp:txXfrm>
    </dsp:sp>
    <dsp:sp modelId="{B7C99EEC-F90D-4DC5-863F-0512349104F4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2282D7-2D4A-45F2-A2B6-A6142DE17080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How can an AI system give answers only from company knowledge files?</a:t>
          </a:r>
          <a:endParaRPr lang="en-US" sz="1700" kern="1200"/>
        </a:p>
      </dsp:txBody>
      <dsp:txXfrm>
        <a:off x="3753067" y="2068861"/>
        <a:ext cx="2872305" cy="720000"/>
      </dsp:txXfrm>
    </dsp:sp>
    <dsp:sp modelId="{167D23AD-EDB7-4170-B720-D436B626BAD7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9F813-590A-4FDB-B262-F0AEEFB20D4A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How does retrieval improve accuracy compared to plain LLM answers?</a:t>
          </a:r>
          <a:endParaRPr lang="en-US" sz="1700" kern="1200"/>
        </a:p>
      </dsp:txBody>
      <dsp:txXfrm>
        <a:off x="7128025" y="2068861"/>
        <a:ext cx="287230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E1377-9DCB-4A7B-8FC5-438CF17636E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B2275-10A0-4E59-849E-53645633B7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DD912-63E3-41FE-8709-B972E4074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CAEAC-205B-4F31-BF00-9BA0B1536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4EE40-8054-49F7-9CD0-6F3715C9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65B8-3731-4646-9A38-C41AFCF6A558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5D998-8CDB-479A-8CA9-98276B408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B7099-771B-43EB-ACCC-878C43BEE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0864-095F-44F9-B204-8E877E0A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7187-0484-42D4-96AF-6931119118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21B64-F3A3-4F74-8B81-E673943D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28763-2872-44F2-B870-C774C47A014E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F36FD-4C82-4A62-A091-576CE322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825C-C0E7-462C-B2C1-7A8EB5B8C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5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8B3C-A7F9-4D97-800E-25F4AAF9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AAE67-D713-47BB-B863-03975F646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E49-3C4C-4B35-A3A3-EDC7A564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AF5E3-0FE7-4652-ABC5-1577508914AD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B648A-C44F-4807-B797-F67B338F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E50A3-5692-49C1-8950-2C6EECAC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1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BDDA-36A7-44B0-9398-9C8CA7904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68ADD-4521-47BC-B302-4167DA9FE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CF162-AD6B-46E6-8F7E-0C593CA90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71D3D-6CAA-4B69-930F-DFE2881D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3DD8A-8774-4078-91BE-35A157A16B5B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160CF4-BA97-4D73-9C10-943473D1B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3C7B0F-6E16-4537-BE9B-9D45E0103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2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CF51D-E22B-4C73-929D-3B9B9AB4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6D1F8-9B3A-4B49-BA7C-19EA8DEA9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8F2DA-EB39-4845-8B34-622F273AD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4613E-997C-41A1-B557-2B801BFC2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A3ABD-CCCC-4D67-ADAC-CDF709DDC8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8ACB99-0697-4B75-8104-CFB78CD0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FA034-E59E-4B23-BCD5-9E1ABC2E320E}" type="datetime1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E20A3E-BAD3-497A-AEAC-755AC22C1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303E4-B860-478A-9D68-F5977994C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C197-7ABB-48B1-AF7F-161856CAC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7841D-D759-41BB-A4C9-6CAE8EF31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BAB6E-74E7-4DBD-86E8-C8FECCA93059}" type="datetime1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4B8C1C-4608-429B-93E5-AC41A469E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268F7-2B35-4AF3-A6E5-B41A724A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4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2EDD0-A3A6-4DAD-A411-8370AB90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A4E38-C34C-4C50-AB37-FA771B909562}" type="datetime1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F9F723-619D-486C-8B20-57E2CE3A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C94DF-9E1D-41CA-AF11-B39DAB477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58B6-C084-46B7-87FF-FCE2454F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0463-6B84-4972-A403-1E0BDB893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3DD6A-3012-4A6D-827B-408CDC3D4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458BE0-A78F-4742-81DC-704F9E56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63DB7-FE6D-4802-A014-17CB909A6F4E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C1A93-DC56-4C2A-AF67-33DBFB41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4D976-C3DD-4FA9-BA07-4218F7919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15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86604-F25C-4174-9436-F10FD8192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B4EB0F-610D-40AE-B89D-241EC0E5F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49229C-2A98-4F68-A68A-09566E859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1188-30FE-4F17-BEDE-5C3694851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2940E-C1E0-4B1E-8639-E87CC3253541}" type="datetime1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EB850-0C36-4A22-B079-D998C5CB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C7874-4130-46BF-8651-5E990084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6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85A1-5218-47FC-B6BB-B8913FAC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195DF7-134F-40E3-BBA2-F626A990A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BA54E-B2F1-45BA-9141-571A8DF1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44328-CE78-42B7-B050-866B445C01D3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308AD-692F-47BA-BD4F-8BA82E90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EDC02-373B-4840-9214-D3E4DC4A1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59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1BD648-3E13-45FA-8D71-4BB30A7CBA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69380-8F1B-44F0-8255-C7E7250EB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E7EAA-8738-4C9E-A293-CCC06B48C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B3BE-DB0C-45C6-A5FB-883A9E4C223B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9A517-3D92-4DCC-A6FD-21C5E7544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822C-4A1D-4E61-BCB0-0ACFC767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786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5C7D45-FAB3-4B26-BF1A-4CABB107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3B396-DD94-4675-B453-50F45BA99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EC511-3182-4223-8050-0C86D0B21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5DE7E-80AD-4E02-B30D-E021F61C0581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C7999-BF3F-438D-A1BE-0CC72B417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AI DS Python Dr N V Ganapathi Raju PhD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9A727-BE08-4517-B910-9B033712B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C825F-A010-48C1-90C2-DBB3B4D4B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80F0C2-85BD-6BF8-3B8B-5EDD10EE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Answering from Documents</a:t>
            </a:r>
          </a:p>
        </p:txBody>
      </p:sp>
      <p:graphicFrame>
        <p:nvGraphicFramePr>
          <p:cNvPr id="30" name="Rectangle 1">
            <a:extLst>
              <a:ext uri="{FF2B5EF4-FFF2-40B4-BE49-F238E27FC236}">
                <a16:creationId xmlns:a16="http://schemas.microsoft.com/office/drawing/2014/main" id="{586B082A-70CA-F52E-82E1-86E5C4EE959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3B1664-BA0C-594C-08A8-CC5F99F7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A949C-26FD-4AD3-A8BF-3FEB91B6219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59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B99B-74F5-8BBC-DAD5-76A8CA36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BF5CB-656E-7D33-DCB7-2BC753B3C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400" b="1" kern="10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RAG (Retrieval-Augmented Generation)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Converse with our own documents / data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are limited – they don’t know what they don’t know</a:t>
            </a: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r>
              <a:rPr lang="en-IN" b="1" kern="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solves the problem of </a:t>
            </a:r>
            <a:r>
              <a:rPr lang="en-IN" b="1" kern="1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hullicination</a:t>
            </a:r>
            <a:endParaRPr lang="en-IN" b="1" kern="1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Aft>
                <a:spcPts val="800"/>
              </a:spcAft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5533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333696-B2FF-202F-031C-DA991A8CC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35" y="45304"/>
            <a:ext cx="5534625" cy="67495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5313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EFBCB-120B-A467-B810-6E0BFEE8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kern="10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Why Use RAG</a:t>
            </a:r>
            <a:r>
              <a:rPr lang="en-IN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Mangal" panose="02040503050203030202" pitchFamily="18" charset="0"/>
              </a:rPr>
              <a:t>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C0B62-9A5E-13B5-B2E0-DB0CD4B1B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Keeps LLM responses </a:t>
            </a:r>
            <a:r>
              <a:rPr lang="en-IN" b="1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grounded in facts</a:t>
            </a:r>
            <a:endParaRPr lang="en-IN" kern="100" dirty="0">
              <a:effectLst/>
              <a:latin typeface="Time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Reduces hallucinations</a:t>
            </a: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You can keep your </a:t>
            </a:r>
            <a:r>
              <a:rPr lang="en-IN" b="1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data private</a:t>
            </a:r>
            <a:endParaRPr lang="en-IN" kern="100" dirty="0">
              <a:effectLst/>
              <a:latin typeface="Time"/>
              <a:ea typeface="Aptos" panose="020B0004020202020204" pitchFamily="34" charset="0"/>
              <a:cs typeface="Mangal" panose="02040503050203030202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You can answer questions on </a:t>
            </a:r>
            <a:r>
              <a:rPr lang="en-IN" b="1" kern="100" dirty="0">
                <a:effectLst/>
                <a:latin typeface="Time"/>
                <a:ea typeface="Aptos" panose="020B0004020202020204" pitchFamily="34" charset="0"/>
                <a:cs typeface="Mangal" panose="02040503050203030202" pitchFamily="18" charset="0"/>
              </a:rPr>
              <a:t>any document or domain</a:t>
            </a:r>
            <a:endParaRPr lang="en-IN" kern="100" dirty="0">
              <a:effectLst/>
              <a:latin typeface="Time"/>
              <a:ea typeface="Aptos" panose="020B0004020202020204" pitchFamily="34" charset="0"/>
              <a:cs typeface="Mangal" panose="02040503050203030202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13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4104</TotalTime>
  <Words>94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Time</vt:lpstr>
      <vt:lpstr>Times New Roman</vt:lpstr>
      <vt:lpstr>Office Theme</vt:lpstr>
      <vt:lpstr>Answering from Documents</vt:lpstr>
      <vt:lpstr>RAG</vt:lpstr>
      <vt:lpstr>PowerPoint Presentation</vt:lpstr>
      <vt:lpstr>Why Use RAG?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GanapatiRaju Nadimpalli</dc:creator>
  <cp:lastModifiedBy>Ganapathiraju N</cp:lastModifiedBy>
  <cp:revision>1633</cp:revision>
  <dcterms:created xsi:type="dcterms:W3CDTF">2019-08-22T12:34:15Z</dcterms:created>
  <dcterms:modified xsi:type="dcterms:W3CDTF">2026-04-02T06:05:42Z</dcterms:modified>
</cp:coreProperties>
</file>