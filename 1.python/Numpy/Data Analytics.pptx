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715" r:id="rId2"/>
    <p:sldId id="693" r:id="rId3"/>
    <p:sldId id="714" r:id="rId4"/>
    <p:sldId id="692" r:id="rId5"/>
    <p:sldId id="701" r:id="rId6"/>
    <p:sldId id="695" r:id="rId7"/>
    <p:sldId id="264" r:id="rId8"/>
    <p:sldId id="307" r:id="rId9"/>
    <p:sldId id="718" r:id="rId10"/>
    <p:sldId id="356" r:id="rId11"/>
    <p:sldId id="357" r:id="rId12"/>
    <p:sldId id="675" r:id="rId13"/>
    <p:sldId id="676" r:id="rId14"/>
    <p:sldId id="688" r:id="rId15"/>
    <p:sldId id="67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napatiRaju Nadimpalli" initials="GN" lastIdx="1" clrIdx="0">
    <p:extLst>
      <p:ext uri="{19B8F6BF-5375-455C-9EA6-DF929625EA0E}">
        <p15:presenceInfo xmlns:p15="http://schemas.microsoft.com/office/powerpoint/2012/main" userId="d9f10cd8c1805c6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28" autoAdjust="0"/>
    <p:restoredTop sz="93203" autoAdjust="0"/>
  </p:normalViewPr>
  <p:slideViewPr>
    <p:cSldViewPr snapToGrid="0">
      <p:cViewPr varScale="1">
        <p:scale>
          <a:sx n="77" d="100"/>
          <a:sy n="77" d="100"/>
        </p:scale>
        <p:origin x="82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Sheet1!$B$3:$B$5</c:f>
              <c:strCache>
                <c:ptCount val="3"/>
                <c:pt idx="0">
                  <c:v>North America</c:v>
                </c:pt>
                <c:pt idx="1">
                  <c:v>Asia</c:v>
                </c:pt>
                <c:pt idx="2">
                  <c:v>Europe</c:v>
                </c:pt>
              </c:strCache>
            </c:strRef>
          </c:cat>
          <c:val>
            <c:numRef>
              <c:f>Sheet1!$C$3:$C$5</c:f>
              <c:numCache>
                <c:formatCode>General</c:formatCode>
                <c:ptCount val="3"/>
                <c:pt idx="0">
                  <c:v>15</c:v>
                </c:pt>
                <c:pt idx="1">
                  <c:v>29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3B-44C0-BD31-C8CF1E1825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339578760"/>
        <c:axId val="339579088"/>
      </c:barChart>
      <c:lineChart>
        <c:grouping val="standard"/>
        <c:varyColors val="0"/>
        <c:ser>
          <c:idx val="1"/>
          <c:order val="1"/>
          <c:tx>
            <c:strRef>
              <c:f>Sheet1!$D$2</c:f>
              <c:strCache>
                <c:ptCount val="1"/>
                <c:pt idx="0">
                  <c:v>Relative Frequency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Sheet1!$B$3:$B$5</c:f>
              <c:strCache>
                <c:ptCount val="3"/>
                <c:pt idx="0">
                  <c:v>North America</c:v>
                </c:pt>
                <c:pt idx="1">
                  <c:v>Asia</c:v>
                </c:pt>
                <c:pt idx="2">
                  <c:v>Europe</c:v>
                </c:pt>
              </c:strCache>
            </c:strRef>
          </c:cat>
          <c:val>
            <c:numRef>
              <c:f>Sheet1!$D$3:$D$5</c:f>
              <c:numCache>
                <c:formatCode>0%</c:formatCode>
                <c:ptCount val="3"/>
                <c:pt idx="0">
                  <c:v>0.3</c:v>
                </c:pt>
                <c:pt idx="1">
                  <c:v>0.57999999999999996</c:v>
                </c:pt>
                <c:pt idx="2">
                  <c:v>0.12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33B-44C0-BD31-C8CF1E1825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8244472"/>
        <c:axId val="568244144"/>
      </c:lineChart>
      <c:catAx>
        <c:axId val="339578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9579088"/>
        <c:crosses val="autoZero"/>
        <c:auto val="1"/>
        <c:lblAlgn val="ctr"/>
        <c:lblOffset val="100"/>
        <c:noMultiLvlLbl val="0"/>
      </c:catAx>
      <c:valAx>
        <c:axId val="339579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9578760"/>
        <c:crosses val="autoZero"/>
        <c:crossBetween val="between"/>
      </c:valAx>
      <c:valAx>
        <c:axId val="568244144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8244472"/>
        <c:crosses val="max"/>
        <c:crossBetween val="between"/>
      </c:valAx>
      <c:catAx>
        <c:axId val="5682444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682441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Sheet1!$J$24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Sheet1!$I$25:$I$28</c:f>
              <c:strCache>
                <c:ptCount val="4"/>
                <c:pt idx="0">
                  <c:v>0-19</c:v>
                </c:pt>
                <c:pt idx="1">
                  <c:v>20-39</c:v>
                </c:pt>
                <c:pt idx="2">
                  <c:v>40-59</c:v>
                </c:pt>
                <c:pt idx="3">
                  <c:v>60-79</c:v>
                </c:pt>
              </c:strCache>
            </c:strRef>
          </c:cat>
          <c:val>
            <c:numRef>
              <c:f>Sheet1!$J$25:$J$28</c:f>
              <c:numCache>
                <c:formatCode>General</c:formatCode>
                <c:ptCount val="4"/>
                <c:pt idx="0">
                  <c:v>19</c:v>
                </c:pt>
                <c:pt idx="1">
                  <c:v>21</c:v>
                </c:pt>
                <c:pt idx="2">
                  <c:v>5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55-4775-ADE5-85531914D9D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62731016"/>
        <c:axId val="362724128"/>
      </c:barChart>
      <c:catAx>
        <c:axId val="3627310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2724128"/>
        <c:crosses val="autoZero"/>
        <c:auto val="1"/>
        <c:lblAlgn val="ctr"/>
        <c:lblOffset val="100"/>
        <c:noMultiLvlLbl val="0"/>
      </c:catAx>
      <c:valAx>
        <c:axId val="362724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Frequency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273101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Sheet1!$J$24</c:f>
              <c:strCache>
                <c:ptCount val="1"/>
                <c:pt idx="0">
                  <c:v>Frequency</c:v>
                </c:pt>
              </c:strCache>
            </c:strRef>
          </c:tx>
          <c:dPt>
            <c:idx val="0"/>
            <c:bubble3D val="0"/>
            <c:spPr>
              <a:pattFill prst="ltUpDiag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1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1-286E-460C-B1DD-868C36A4F72A}"/>
              </c:ext>
            </c:extLst>
          </c:dPt>
          <c:dPt>
            <c:idx val="1"/>
            <c:bubble3D val="0"/>
            <c:spPr>
              <a:pattFill prst="ltUpDiag">
                <a:fgClr>
                  <a:schemeClr val="accent2"/>
                </a:fgClr>
                <a:bgClr>
                  <a:schemeClr val="accent2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2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3-286E-460C-B1DD-868C36A4F72A}"/>
              </c:ext>
            </c:extLst>
          </c:dPt>
          <c:dPt>
            <c:idx val="2"/>
            <c:bubble3D val="0"/>
            <c:spPr>
              <a:pattFill prst="ltUpDiag">
                <a:fgClr>
                  <a:schemeClr val="accent3"/>
                </a:fgClr>
                <a:bgClr>
                  <a:schemeClr val="accent3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3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5-286E-460C-B1DD-868C36A4F72A}"/>
              </c:ext>
            </c:extLst>
          </c:dPt>
          <c:dPt>
            <c:idx val="3"/>
            <c:bubble3D val="0"/>
            <c:spPr>
              <a:pattFill prst="ltUpDiag">
                <a:fgClr>
                  <a:schemeClr val="accent4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4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7-286E-460C-B1DD-868C36A4F72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Sheet1!$I$25:$I$28</c:f>
              <c:strCache>
                <c:ptCount val="4"/>
                <c:pt idx="0">
                  <c:v>0-19</c:v>
                </c:pt>
                <c:pt idx="1">
                  <c:v>20-39</c:v>
                </c:pt>
                <c:pt idx="2">
                  <c:v>40-59</c:v>
                </c:pt>
                <c:pt idx="3">
                  <c:v>60-79</c:v>
                </c:pt>
              </c:strCache>
            </c:strRef>
          </c:cat>
          <c:val>
            <c:numRef>
              <c:f>Sheet1!$J$25:$J$28</c:f>
              <c:numCache>
                <c:formatCode>General</c:formatCode>
                <c:ptCount val="4"/>
                <c:pt idx="0">
                  <c:v>19</c:v>
                </c:pt>
                <c:pt idx="1">
                  <c:v>21</c:v>
                </c:pt>
                <c:pt idx="2">
                  <c:v>5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86E-460C-B1DD-868C36A4F7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dTable>
        <c:showHorzBorder val="1"/>
        <c:showVertBorder val="1"/>
        <c:showOutline val="1"/>
        <c:showKeys val="1"/>
        <c:spPr>
          <a:noFill/>
          <a:ln w="9525">
            <a:solidFill>
              <a:schemeClr val="tx1">
                <a:lumMod val="15000"/>
                <a:lumOff val="8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Sheet1!$J$24</c:f>
              <c:strCache>
                <c:ptCount val="1"/>
                <c:pt idx="0">
                  <c:v>Frequency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Sheet1!$I$25:$I$28</c:f>
              <c:strCache>
                <c:ptCount val="4"/>
                <c:pt idx="0">
                  <c:v>0-19</c:v>
                </c:pt>
                <c:pt idx="1">
                  <c:v>20-39</c:v>
                </c:pt>
                <c:pt idx="2">
                  <c:v>40-59</c:v>
                </c:pt>
                <c:pt idx="3">
                  <c:v>60-79</c:v>
                </c:pt>
              </c:strCache>
            </c:strRef>
          </c:cat>
          <c:val>
            <c:numRef>
              <c:f>Sheet1!$J$25:$J$28</c:f>
              <c:numCache>
                <c:formatCode>General</c:formatCode>
                <c:ptCount val="4"/>
                <c:pt idx="0">
                  <c:v>19</c:v>
                </c:pt>
                <c:pt idx="1">
                  <c:v>21</c:v>
                </c:pt>
                <c:pt idx="2">
                  <c:v>5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F52-4053-8C6E-C30C81B108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62731016"/>
        <c:axId val="362724128"/>
      </c:lineChart>
      <c:catAx>
        <c:axId val="3627310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2724128"/>
        <c:crosses val="autoZero"/>
        <c:auto val="1"/>
        <c:lblAlgn val="ctr"/>
        <c:lblOffset val="100"/>
        <c:noMultiLvlLbl val="0"/>
      </c:catAx>
      <c:valAx>
        <c:axId val="362724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Frequency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273101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8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E1377-9DCB-4A7B-8FC5-438CF17636ED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B2275-10A0-4E59-849E-53645633B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4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DD912-63E3-41FE-8709-B972E4074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7CAEAC-205B-4F31-BF00-9BA0B1536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4EE40-8054-49F7-9CD0-6F3715C93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D174-5EA7-450A-8C88-9758E35F4648}" type="datetime1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5D998-8CDB-479A-8CA9-98276B408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 ML JNTUH SCDE Dr N V Ganapathi Raju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B7099-771B-43EB-ACCC-878C43BEE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C825F-A010-48C1-90C2-DBB3B4D4B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0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B0864-095F-44F9-B204-8E877E0A2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B7187-0484-42D4-96AF-693111911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21B64-F3A3-4F74-8B81-E673943D9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A8036-9123-4915-A0D0-CBDE5E866E55}" type="datetime1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F36FD-4C82-4A62-A091-576CE3221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 ML JNTUH SCDE Dr N V Ganapathi Raju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825C-C0E7-462C-B2C1-7A8EB5B8C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C825F-A010-48C1-90C2-DBB3B4D4B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151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08B3C-A7F9-4D97-800E-25F4AAF95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AAE67-D713-47BB-B863-03975F646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D1E49-3C4C-4B35-A3A3-EDC7A5646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939E9-D64B-412A-894B-3ED2B6DE001E}" type="datetime1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B648A-C44F-4807-B797-F67B338F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 ML JNTUH SCDE Dr N V Ganapathi Raju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E50A3-5692-49C1-8950-2C6EECACA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C825F-A010-48C1-90C2-DBB3B4D4B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1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6BDDA-36A7-44B0-9398-9C8CA7904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68ADD-4521-47BC-B302-4167DA9FE0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6CF162-AD6B-46E6-8F7E-0C593CA90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71D3D-6CAA-4B69-930F-DFE2881D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E32B-F237-47A1-87ED-73C43AA2CF65}" type="datetime1">
              <a:rPr lang="en-US" smtClean="0"/>
              <a:t>2/8/2024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60CF4-BA97-4D73-9C10-943473D1B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 ML JNTUH SCDE Dr N V Ganapathi Raju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3C7B0F-6E16-4537-BE9B-9D45E0103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C825F-A010-48C1-90C2-DBB3B4D4B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2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CF51D-E22B-4C73-929D-3B9B9AB4A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6D1F8-9B3A-4B49-BA7C-19EA8DEA9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B8F2DA-EB39-4845-8B34-622F273AD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14613E-997C-41A1-B557-2B801BFC2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FA3ABD-CCCC-4D67-ADAC-CDF709DDC8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8ACB99-0697-4B75-8104-CFB78CD0C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C171-2C65-47E3-9EFF-493DCB319BAA}" type="datetime1">
              <a:rPr lang="en-US" smtClean="0"/>
              <a:t>2/8/2024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E20A3E-BAD3-497A-AEAC-755AC22C1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 ML JNTUH SCDE Dr N V Ganapathi Raju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2303E4-B860-478A-9D68-F5977994C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C825F-A010-48C1-90C2-DBB3B4D4B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2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5C197-7ABB-48B1-AF7F-161856CAC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77841D-D759-41BB-A4C9-6CAE8EF3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D404-DE4A-44EA-9FAE-36239FD61CD0}" type="datetime1">
              <a:rPr lang="en-US" smtClean="0"/>
              <a:t>2/8/2024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4B8C1C-4608-429B-93E5-AC41A469E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 ML JNTUH SCDE Dr N V Ganapathi Raju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2268F7-2B35-4AF3-A6E5-B41A724A7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C825F-A010-48C1-90C2-DBB3B4D4B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249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E2EDD0-A3A6-4DAD-A411-8370AB907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6C2C3-E4DF-464A-BF9B-DE0D307F7432}" type="datetime1">
              <a:rPr lang="en-US" smtClean="0"/>
              <a:t>2/8/2024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F9F723-619D-486C-8B20-57E2CE3AF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 ML JNTUH SCDE Dr N V Ganapathi Raju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C94DF-9E1D-41CA-AF11-B39DAB477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C825F-A010-48C1-90C2-DBB3B4D4B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2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E58B6-C084-46B7-87FF-FCE2454F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C0463-6B84-4972-A403-1E0BDB893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83DD6A-3012-4A6D-827B-408CDC3D4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58BE0-A78F-4742-81DC-704F9E56C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9A9C9-9C93-478D-9E7C-DEE606331E4E}" type="datetime1">
              <a:rPr lang="en-US" smtClean="0"/>
              <a:t>2/8/2024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C1A93-DC56-4C2A-AF67-33DBFB41D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 ML JNTUH SCDE Dr N V Ganapathi Raju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4D976-C3DD-4FA9-BA07-4218F791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C825F-A010-48C1-90C2-DBB3B4D4B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15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86604-F25C-4174-9436-F10FD8192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B4EB0F-610D-40AE-B89D-241EC0E5F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49229C-2A98-4F68-A68A-09566E859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D1188-30FE-4F17-BEDE-5C3694851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E9A33-0EA3-4F34-ADAA-FD1DA5C98B90}" type="datetime1">
              <a:rPr lang="en-US" smtClean="0"/>
              <a:t>2/8/2024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AEB850-0C36-4A22-B079-D998C5CBA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 ML JNTUH SCDE Dr N V Ganapathi Raju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C7874-4130-46BF-8651-5E990084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C825F-A010-48C1-90C2-DBB3B4D4B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64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085A1-5218-47FC-B6BB-B8913FAC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95DF7-134F-40E3-BBA2-F626A990A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BA54E-B2F1-45BA-9141-571A8DF1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73F1A-7A6D-4AB0-9AD2-DF442B5A9392}" type="datetime1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308AD-692F-47BA-BD4F-8BA82E903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 ML JNTUH SCDE Dr N V Ganapathi Raju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EDC02-373B-4840-9214-D3E4DC4A1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C825F-A010-48C1-90C2-DBB3B4D4B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96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BD648-3E13-45FA-8D71-4BB30A7CBA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869380-8F1B-44F0-8255-C7E7250EB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E7EAA-8738-4C9E-A293-CCC06B48C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B318-96A5-4AE9-B9B9-A28D3F7969DF}" type="datetime1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9A517-3D92-4DCC-A6FD-21C5E754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 ML JNTUH SCDE Dr N V Ganapathi Raju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B822C-4A1D-4E61-BCB0-0ACFC7674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C825F-A010-48C1-90C2-DBB3B4D4B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786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5C7D45-FAB3-4B26-BF1A-4CABB107A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3B396-DD94-4675-B453-50F45BA99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EC511-3182-4223-8050-0C86D0B21E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655A9-866D-495C-BA8E-6CF7C6A98539}" type="datetime1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C7999-BF3F-438D-A1BE-0CC72B4177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AI ML JNTUH SCDE Dr N V Ganapathi Raju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9A727-BE08-4517-B910-9B033712B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C825F-A010-48C1-90C2-DBB3B4D4B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43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80E4BD-B31C-2CA4-050C-46FCC8306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201" y="3831135"/>
            <a:ext cx="5865067" cy="883719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pic>
        <p:nvPicPr>
          <p:cNvPr id="1026" name="Picture 2" descr="Data Management Images - Free Download on Freepik">
            <a:extLst>
              <a:ext uri="{FF2B5EF4-FFF2-40B4-BE49-F238E27FC236}">
                <a16:creationId xmlns:a16="http://schemas.microsoft.com/office/drawing/2014/main" id="{BF9CEBC3-E4BF-0734-22EB-DE48F7BBC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690" y="622013"/>
            <a:ext cx="3849462" cy="239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B750D7-B3E6-55F2-D630-51F4CFE7018A}"/>
              </a:ext>
            </a:extLst>
          </p:cNvPr>
          <p:cNvSpPr txBox="1"/>
          <p:nvPr/>
        </p:nvSpPr>
        <p:spPr>
          <a:xfrm>
            <a:off x="6217114" y="3311361"/>
            <a:ext cx="5240702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Facebook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users send on average 31.25 million messages and view 2.77 million videos every minute.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massive growth in video and photo data, where every minute up to 300 hours of video are uploaded to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YouTube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alone.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2BCE85-57C0-B31A-50F4-FADE9EBC5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769" y="953852"/>
            <a:ext cx="5111398" cy="195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690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E69C4-5E87-D796-FA5F-0DD1B02EF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84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Cambria" panose="02040503050406030204" pitchFamily="18" charset="0"/>
              </a:rPr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B6AC3-6797-3E18-E3D1-146CE773C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6020"/>
            <a:ext cx="10942983" cy="523032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</a:rPr>
              <a:t>Quantities 1,2,3,…100,…1000…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</a:rPr>
              <a:t>Characters A, B, C…Z, a, b, c,…z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</a:rPr>
              <a:t>Symbols ! @ # $ % &amp; * ()…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</a:rPr>
              <a:t>Quantities , Characters, Symbols are stored in digital format.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</a:rPr>
              <a:t>Data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 plural                 Datum singular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Data is Every Where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Machines, Robots, Sensors, Our self are products of data. 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All roads lead to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DATA.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rgbClr val="0070C0"/>
              </a:solidFill>
              <a:latin typeface="Cambria" panose="02040503050406030204" pitchFamily="18" charset="0"/>
            </a:endParaRPr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30FAF721-E099-93EB-2F03-262AE05BC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126021"/>
            <a:ext cx="2395745" cy="239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466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25FC6-9105-4D25-B65D-5C79FBAB6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88" y="142461"/>
            <a:ext cx="9344512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accent1"/>
                </a:solidFill>
                <a:latin typeface="Cambria" panose="02040503050406030204" pitchFamily="18" charset="0"/>
              </a:rPr>
              <a:t>Numerous kinds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548E-86F5-48CD-BCE7-0EB9B8BCF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88" y="1295400"/>
            <a:ext cx="9344512" cy="5257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Text data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 (.doc, .txt, .pdf…)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Excel data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(.csv, .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tsv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HTML  data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XML data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JSON data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Relational Database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(Oracle,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MySql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Sqlite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…)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Log files / Transactional data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Sensors/Web servers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Social Media data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(FB, Twitter, WhatsApp, YouTube…)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Image / Audio / Video / Signal….</a:t>
            </a:r>
          </a:p>
          <a:p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7" name="Picture 6" descr="A picture containing text, map&#10;&#10;Description automatically generated">
            <a:extLst>
              <a:ext uri="{FF2B5EF4-FFF2-40B4-BE49-F238E27FC236}">
                <a16:creationId xmlns:a16="http://schemas.microsoft.com/office/drawing/2014/main" id="{796BD9F3-620E-471A-8433-1E3FB1122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49136"/>
            <a:ext cx="5516217" cy="275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040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BF128A-0EF0-4CA2-A2C6-6DBC50BE0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374" y="274638"/>
            <a:ext cx="9455426" cy="792162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1"/>
                </a:solidFill>
                <a:latin typeface="Cambria" panose="02040503050406030204" pitchFamily="18" charset="0"/>
              </a:rPr>
              <a:t>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6888A5-7BA3-4B58-8CA0-384272ED9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374" y="1166191"/>
            <a:ext cx="10522227" cy="512138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n-US" sz="1800" b="1" dirty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Data is useful in a refined form. </a:t>
            </a:r>
          </a:p>
          <a:p>
            <a:pPr lvl="1">
              <a:lnSpc>
                <a:spcPct val="200000"/>
              </a:lnSpc>
            </a:pP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Data to Information </a:t>
            </a:r>
          </a:p>
          <a:p>
            <a:pPr lvl="1">
              <a:lnSpc>
                <a:spcPct val="200000"/>
              </a:lnSpc>
            </a:pP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Information to Knowledge  </a:t>
            </a:r>
          </a:p>
          <a:p>
            <a:pPr marL="457200" lvl="1" indent="0"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           (hidden knowledge/pattern/relationships/insights)</a:t>
            </a:r>
          </a:p>
          <a:p>
            <a:pPr lvl="1">
              <a:lnSpc>
                <a:spcPct val="200000"/>
              </a:lnSpc>
            </a:pP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Knowledge to Decision making</a:t>
            </a:r>
          </a:p>
          <a:p>
            <a:pPr lvl="1">
              <a:lnSpc>
                <a:spcPct val="200000"/>
              </a:lnSpc>
            </a:pP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Decision making to Result cycle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5" name="Picture 2" descr="Big Data Analytics Startups Which Are Intensifying Digital Data">
            <a:extLst>
              <a:ext uri="{FF2B5EF4-FFF2-40B4-BE49-F238E27FC236}">
                <a16:creationId xmlns:a16="http://schemas.microsoft.com/office/drawing/2014/main" id="{45B0686C-9D54-26DC-E1AE-D515033CD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122" y="570423"/>
            <a:ext cx="4660571" cy="2139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4649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BF128A-0EF0-4CA2-A2C6-6DBC50BE0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374" y="274638"/>
            <a:ext cx="9455426" cy="792162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1"/>
                </a:solidFill>
                <a:latin typeface="Cambria" panose="02040503050406030204" pitchFamily="18" charset="0"/>
              </a:rPr>
              <a:t>Types of Data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FB56F0-66EE-6475-2C94-C6EC25DC732E}"/>
              </a:ext>
            </a:extLst>
          </p:cNvPr>
          <p:cNvSpPr txBox="1">
            <a:spLocks/>
          </p:cNvSpPr>
          <p:nvPr/>
        </p:nvSpPr>
        <p:spPr>
          <a:xfrm>
            <a:off x="533710" y="1569410"/>
            <a:ext cx="10726783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Structured</a:t>
            </a:r>
            <a:r>
              <a:rPr lang="en-US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    - Information with a high degree of organization that is readily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       searchable and quickly consolidate into facts </a:t>
            </a: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US" dirty="0"/>
              <a:t>                                                                     </a:t>
            </a:r>
            <a:r>
              <a:rPr lang="en-US" i="1" dirty="0"/>
              <a:t>Example</a:t>
            </a:r>
            <a:r>
              <a:rPr lang="en-US" dirty="0"/>
              <a:t>: RDBMS, Spreadsheets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b="1" dirty="0"/>
              <a:t>Unstructured</a:t>
            </a:r>
            <a:r>
              <a:rPr lang="en-US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  -  Information with a lack of structure that is time and energy consuming to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      search and find and consolidate into facts</a:t>
            </a: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US" dirty="0"/>
              <a:t>  </a:t>
            </a:r>
            <a:r>
              <a:rPr lang="en-US" i="1" dirty="0"/>
              <a:t> Example</a:t>
            </a:r>
            <a:r>
              <a:rPr lang="en-US" dirty="0"/>
              <a:t> : email, documents, images, reports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853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85B4E-C900-B275-A7DC-874A441D9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600" b="1" kern="1200" dirty="0">
                <a:solidFill>
                  <a:schemeClr val="accent1"/>
                </a:solidFill>
                <a:latin typeface="Cambria" panose="02040503050406030204" pitchFamily="18" charset="0"/>
              </a:rPr>
              <a:t>Types of Data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30AE91B-B22B-51D0-F88C-7925E302AF22}"/>
              </a:ext>
            </a:extLst>
          </p:cNvPr>
          <p:cNvGraphicFramePr>
            <a:graphicFrameLocks noGrp="1"/>
          </p:cNvGraphicFramePr>
          <p:nvPr/>
        </p:nvGraphicFramePr>
        <p:xfrm>
          <a:off x="715616" y="726909"/>
          <a:ext cx="8552292" cy="5513037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4276146">
                  <a:extLst>
                    <a:ext uri="{9D8B030D-6E8A-4147-A177-3AD203B41FA5}">
                      <a16:colId xmlns:a16="http://schemas.microsoft.com/office/drawing/2014/main" val="994945656"/>
                    </a:ext>
                  </a:extLst>
                </a:gridCol>
                <a:gridCol w="4276146">
                  <a:extLst>
                    <a:ext uri="{9D8B030D-6E8A-4147-A177-3AD203B41FA5}">
                      <a16:colId xmlns:a16="http://schemas.microsoft.com/office/drawing/2014/main" val="1923990498"/>
                    </a:ext>
                  </a:extLst>
                </a:gridCol>
              </a:tblGrid>
              <a:tr h="4807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cap="none" spc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Structured Data</a:t>
                      </a:r>
                      <a:endParaRPr lang="en-US" sz="2000" b="1" cap="none" spc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4345" marT="21738" marB="163035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cap="none" spc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Unstructured Data</a:t>
                      </a:r>
                      <a:endParaRPr lang="en-US" sz="2000" b="1" cap="none" spc="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4345" marT="21738" marB="163035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33296"/>
                  </a:ext>
                </a:extLst>
              </a:tr>
              <a:tr h="98903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cap="none" spc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Structured data is quantitative and is often displayed as numbers, dates, values, and strings.</a:t>
                      </a:r>
                      <a:endParaRPr lang="en-US" sz="1600" b="1" cap="none" spc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4345" marT="21738" marB="1630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cap="none" spc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Unstructured data is qualitative data and includes text, video, audio, images, and more.</a:t>
                      </a:r>
                      <a:endParaRPr lang="en-US" sz="1600" b="1" cap="none" spc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4345" marT="21738" marB="1630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596504"/>
                  </a:ext>
                </a:extLst>
              </a:tr>
              <a:tr h="98903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cap="none" spc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Structured data is stored in rows and columns.</a:t>
                      </a:r>
                      <a:endParaRPr lang="en-US" sz="1600" b="1" cap="none" spc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4345" marT="21738" marB="1630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cap="none" spc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Unstructured data is stored as audio, text, and video files, or NoSQL databases.</a:t>
                      </a:r>
                      <a:endParaRPr lang="en-US" sz="1600" b="1" cap="none" spc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4345" marT="21738" marB="1630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520840"/>
                  </a:ext>
                </a:extLst>
              </a:tr>
              <a:tr h="4355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cap="none" spc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Estimated 20% of business data.</a:t>
                      </a:r>
                      <a:endParaRPr lang="en-US" sz="1600" b="1" cap="none" spc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4345" marT="21738" marB="1630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cap="none" spc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Estimated 80% of business data</a:t>
                      </a:r>
                      <a:endParaRPr lang="en-US" sz="1600" b="1" cap="none" spc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4345" marT="21738" marB="1630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6047487"/>
                  </a:ext>
                </a:extLst>
              </a:tr>
              <a:tr h="98903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cap="none" spc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Stored in data warehouses.</a:t>
                      </a:r>
                      <a:endParaRPr lang="en-US" sz="1600" b="1" cap="none" spc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4345" marT="21738" marB="1630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cap="none" spc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Stored in applications, NoSQL databases, data lakes, and data warehouses.</a:t>
                      </a:r>
                      <a:endParaRPr lang="en-US" sz="1600" b="1" cap="none" spc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4345" marT="21738" marB="1630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031118"/>
                  </a:ext>
                </a:extLst>
              </a:tr>
              <a:tr h="7122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cap="none" spc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Reveals patterns and trends that show you what’s happening.</a:t>
                      </a:r>
                      <a:endParaRPr lang="en-US" sz="1600" b="1" cap="none" spc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4345" marT="21738" marB="1630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cap="none" spc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Reveals patterns and trends that explain why something is happening.</a:t>
                      </a:r>
                      <a:endParaRPr lang="en-US" sz="1600" b="1" cap="none" spc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4345" marT="21738" marB="1630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548094"/>
                  </a:ext>
                </a:extLst>
              </a:tr>
              <a:tr h="4355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cap="none" spc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Requires less storage space.</a:t>
                      </a:r>
                      <a:endParaRPr lang="en-US" sz="1600" b="1" cap="none" spc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4345" marT="21738" marB="1630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cap="none" spc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Needs more storage space.</a:t>
                      </a:r>
                      <a:endParaRPr lang="en-US" sz="1600" b="1" cap="none" spc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4345" marT="21738" marB="1630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584446"/>
                  </a:ext>
                </a:extLst>
              </a:tr>
              <a:tr h="4355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cap="none" spc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Easy to analyze with tools like Excel.</a:t>
                      </a:r>
                      <a:endParaRPr lang="en-US" sz="1600" b="1" cap="none" spc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4345" marT="21738" marB="1630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cap="none" spc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Hard to analyze without AI tools.</a:t>
                      </a:r>
                      <a:endParaRPr lang="en-US" sz="1600" b="1" cap="none" spc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4345" marT="21738" marB="1630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4018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3445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735F55-254B-4295-B3B6-7CFA606A4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795" y="818322"/>
            <a:ext cx="10283021" cy="52213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62192A-D34C-4902-8F63-D2C5DD3931C6}"/>
              </a:ext>
            </a:extLst>
          </p:cNvPr>
          <p:cNvSpPr txBox="1"/>
          <p:nvPr/>
        </p:nvSpPr>
        <p:spPr>
          <a:xfrm>
            <a:off x="10311988" y="2700994"/>
            <a:ext cx="10842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Cambria" panose="02040503050406030204" pitchFamily="18" charset="0"/>
              </a:rPr>
              <a:t>range</a:t>
            </a:r>
            <a:endParaRPr lang="en-US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395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2870C8-8F8B-4DD4-A256-0222576F23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83" y="1537913"/>
            <a:ext cx="2440577" cy="1382994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6CED11B0-6520-4C70-AD85-B44350238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776"/>
            <a:ext cx="10515600" cy="75086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Qualitative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2B6C48-BA73-4A07-8FFA-A2E16404C3D0}"/>
              </a:ext>
            </a:extLst>
          </p:cNvPr>
          <p:cNvSpPr txBox="1"/>
          <p:nvPr/>
        </p:nvSpPr>
        <p:spPr>
          <a:xfrm>
            <a:off x="519984" y="981521"/>
            <a:ext cx="24405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Binary Data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0 or 1</a:t>
            </a:r>
          </a:p>
          <a:p>
            <a:r>
              <a:rPr lang="en-US" dirty="0"/>
              <a:t>Toss of a coin</a:t>
            </a:r>
          </a:p>
          <a:p>
            <a:r>
              <a:rPr lang="en-US" dirty="0"/>
              <a:t>Switch on/off</a:t>
            </a:r>
          </a:p>
        </p:txBody>
      </p:sp>
      <p:pic>
        <p:nvPicPr>
          <p:cNvPr id="9" name="Picture 8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17C6204A-CDF8-4B7E-9DAE-982ADF085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6650" y="1434072"/>
            <a:ext cx="6667500" cy="15906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7A5270-A51D-43E1-92E8-1412F52EDC09}"/>
              </a:ext>
            </a:extLst>
          </p:cNvPr>
          <p:cNvSpPr txBox="1"/>
          <p:nvPr/>
        </p:nvSpPr>
        <p:spPr>
          <a:xfrm>
            <a:off x="3542179" y="981521"/>
            <a:ext cx="85332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Nominal Data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Data is not ordered. </a:t>
            </a:r>
          </a:p>
          <a:p>
            <a:r>
              <a:rPr lang="en-US" dirty="0"/>
              <a:t>cannot perform any quantitative mathematical operations, such as addition or division.</a:t>
            </a:r>
          </a:p>
        </p:txBody>
      </p:sp>
      <p:pic>
        <p:nvPicPr>
          <p:cNvPr id="14" name="Picture 13" descr="A screenshot of a cell phone&#10;&#10;Description automatically generated">
            <a:extLst>
              <a:ext uri="{FF2B5EF4-FFF2-40B4-BE49-F238E27FC236}">
                <a16:creationId xmlns:a16="http://schemas.microsoft.com/office/drawing/2014/main" id="{56D5BBA4-8F22-4B23-9679-9F3EB28298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179" y="3974127"/>
            <a:ext cx="4867275" cy="14668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08B5544-CDCD-45C6-8591-DD610F3B80AF}"/>
              </a:ext>
            </a:extLst>
          </p:cNvPr>
          <p:cNvSpPr txBox="1"/>
          <p:nvPr/>
        </p:nvSpPr>
        <p:spPr>
          <a:xfrm>
            <a:off x="3542178" y="3581603"/>
            <a:ext cx="85332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Ordinal Data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Data is ordered</a:t>
            </a:r>
            <a:r>
              <a:rPr lang="en-US" dirty="0"/>
              <a:t>. </a:t>
            </a:r>
          </a:p>
          <a:p>
            <a:r>
              <a:rPr lang="en-US" dirty="0"/>
              <a:t>Typically measures of non-numeric concepts like satisfaction, happiness, discomfort, etc.</a:t>
            </a:r>
          </a:p>
        </p:txBody>
      </p:sp>
    </p:spTree>
    <p:extLst>
      <p:ext uri="{BB962C8B-B14F-4D97-AF65-F5344CB8AC3E}">
        <p14:creationId xmlns:p14="http://schemas.microsoft.com/office/powerpoint/2010/main" val="1265769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ndoor">
            <a:extLst>
              <a:ext uri="{FF2B5EF4-FFF2-40B4-BE49-F238E27FC236}">
                <a16:creationId xmlns:a16="http://schemas.microsoft.com/office/drawing/2014/main" id="{DE1C006B-2511-51AF-EFA7-2FF8DB35C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717" y="4460035"/>
            <a:ext cx="5808816" cy="2114014"/>
          </a:xfrm>
          <a:prstGeom prst="rect">
            <a:avLst/>
          </a:prstGeom>
        </p:spPr>
      </p:pic>
      <p:pic>
        <p:nvPicPr>
          <p:cNvPr id="2" name="Picture 1" descr="A screenshot of a cell phone">
            <a:extLst>
              <a:ext uri="{FF2B5EF4-FFF2-40B4-BE49-F238E27FC236}">
                <a16:creationId xmlns:a16="http://schemas.microsoft.com/office/drawing/2014/main" id="{7DB49357-A490-510F-1C4E-30DCE21EA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99" y="225473"/>
            <a:ext cx="5608686" cy="511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312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2CE09E1-E891-4957-A7ED-AC6EFACDE2A8}"/>
              </a:ext>
            </a:extLst>
          </p:cNvPr>
          <p:cNvSpPr/>
          <p:nvPr/>
        </p:nvSpPr>
        <p:spPr>
          <a:xfrm>
            <a:off x="622853" y="391397"/>
            <a:ext cx="92633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3600" b="1" dirty="0">
                <a:solidFill>
                  <a:schemeClr val="accent1"/>
                </a:solidFill>
                <a:latin typeface="Cambria" panose="02040503050406030204" pitchFamily="18" charset="0"/>
              </a:rPr>
              <a:t>Students for AIML course</a:t>
            </a:r>
          </a:p>
        </p:txBody>
      </p:sp>
      <p:pic>
        <p:nvPicPr>
          <p:cNvPr id="7" name="Picture 6" descr="A picture containing drawing, doll&#10;&#10;Description automatically generated">
            <a:extLst>
              <a:ext uri="{FF2B5EF4-FFF2-40B4-BE49-F238E27FC236}">
                <a16:creationId xmlns:a16="http://schemas.microsoft.com/office/drawing/2014/main" id="{B20DC1F6-1320-4CCC-B853-5420295B9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4343" y="5196017"/>
            <a:ext cx="1401998" cy="143885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D37C751-477E-426E-B2F3-6851B82DD28C}"/>
              </a:ext>
            </a:extLst>
          </p:cNvPr>
          <p:cNvSpPr/>
          <p:nvPr/>
        </p:nvSpPr>
        <p:spPr>
          <a:xfrm>
            <a:off x="10631305" y="4454488"/>
            <a:ext cx="10730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Think?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1CB064-82C1-4EB3-BBAD-A34C533B820A}"/>
              </a:ext>
            </a:extLst>
          </p:cNvPr>
          <p:cNvGraphicFramePr>
            <a:graphicFrameLocks noGrp="1"/>
          </p:cNvGraphicFramePr>
          <p:nvPr/>
        </p:nvGraphicFramePr>
        <p:xfrm>
          <a:off x="622853" y="1059668"/>
          <a:ext cx="8878831" cy="49515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0914">
                  <a:extLst>
                    <a:ext uri="{9D8B030D-6E8A-4147-A177-3AD203B41FA5}">
                      <a16:colId xmlns:a16="http://schemas.microsoft.com/office/drawing/2014/main" val="3329178686"/>
                    </a:ext>
                  </a:extLst>
                </a:gridCol>
                <a:gridCol w="1795173">
                  <a:extLst>
                    <a:ext uri="{9D8B030D-6E8A-4147-A177-3AD203B41FA5}">
                      <a16:colId xmlns:a16="http://schemas.microsoft.com/office/drawing/2014/main" val="227159530"/>
                    </a:ext>
                  </a:extLst>
                </a:gridCol>
                <a:gridCol w="1746657">
                  <a:extLst>
                    <a:ext uri="{9D8B030D-6E8A-4147-A177-3AD203B41FA5}">
                      <a16:colId xmlns:a16="http://schemas.microsoft.com/office/drawing/2014/main" val="544370109"/>
                    </a:ext>
                  </a:extLst>
                </a:gridCol>
                <a:gridCol w="1795173">
                  <a:extLst>
                    <a:ext uri="{9D8B030D-6E8A-4147-A177-3AD203B41FA5}">
                      <a16:colId xmlns:a16="http://schemas.microsoft.com/office/drawing/2014/main" val="3060791063"/>
                    </a:ext>
                  </a:extLst>
                </a:gridCol>
                <a:gridCol w="1770914">
                  <a:extLst>
                    <a:ext uri="{9D8B030D-6E8A-4147-A177-3AD203B41FA5}">
                      <a16:colId xmlns:a16="http://schemas.microsoft.com/office/drawing/2014/main" val="3941396718"/>
                    </a:ext>
                  </a:extLst>
                </a:gridCol>
              </a:tblGrid>
              <a:tr h="5270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USA</a:t>
                      </a:r>
                      <a:endParaRPr lang="en-US" sz="14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China</a:t>
                      </a:r>
                      <a:endParaRPr lang="en-US" sz="14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USA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Sweden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China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20378776"/>
                  </a:ext>
                </a:extLst>
              </a:tr>
              <a:tr h="491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Canada</a:t>
                      </a:r>
                      <a:endParaRPr lang="en-US" sz="14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China</a:t>
                      </a:r>
                      <a:endParaRPr lang="en-US" sz="14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Japan</a:t>
                      </a:r>
                      <a:endParaRPr lang="en-US" sz="14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Mexico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USA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44310699"/>
                  </a:ext>
                </a:extLst>
              </a:tr>
              <a:tr h="491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China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Germany</a:t>
                      </a:r>
                      <a:endParaRPr lang="en-US" sz="14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India</a:t>
                      </a:r>
                      <a:endParaRPr lang="en-US" sz="14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India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Japan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5179572"/>
                  </a:ext>
                </a:extLst>
              </a:tr>
              <a:tr h="491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USA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USA</a:t>
                      </a:r>
                      <a:endParaRPr lang="en-US" sz="14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USA</a:t>
                      </a:r>
                      <a:endParaRPr lang="en-US" sz="14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China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China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1039597"/>
                  </a:ext>
                </a:extLst>
              </a:tr>
              <a:tr h="491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India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Japan</a:t>
                      </a:r>
                      <a:endParaRPr lang="en-US" sz="14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England</a:t>
                      </a:r>
                      <a:endParaRPr lang="en-US" sz="14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India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Japan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01466453"/>
                  </a:ext>
                </a:extLst>
              </a:tr>
              <a:tr h="491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Englad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India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China</a:t>
                      </a:r>
                      <a:endParaRPr lang="en-US" sz="14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Mexico</a:t>
                      </a:r>
                      <a:endParaRPr lang="en-US" sz="14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USA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52568348"/>
                  </a:ext>
                </a:extLst>
              </a:tr>
              <a:tr h="491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Mexico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USA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Canada</a:t>
                      </a:r>
                      <a:endParaRPr lang="en-US" sz="14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Pakistan</a:t>
                      </a:r>
                      <a:endParaRPr lang="en-US" sz="14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India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34411293"/>
                  </a:ext>
                </a:extLst>
              </a:tr>
              <a:tr h="491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Japan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China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USA</a:t>
                      </a:r>
                      <a:endParaRPr lang="en-US" sz="14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Japan</a:t>
                      </a:r>
                      <a:endParaRPr lang="en-US" sz="14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Germany</a:t>
                      </a:r>
                      <a:endParaRPr lang="en-US" sz="14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0509922"/>
                  </a:ext>
                </a:extLst>
              </a:tr>
              <a:tr h="491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China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India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India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China</a:t>
                      </a:r>
                      <a:endParaRPr lang="en-US" sz="14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China</a:t>
                      </a:r>
                      <a:endParaRPr lang="en-US" sz="14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15665554"/>
                  </a:ext>
                </a:extLst>
              </a:tr>
              <a:tr h="4916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Germany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Japan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China</a:t>
                      </a:r>
                      <a:endParaRPr lang="en-US" sz="14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USA</a:t>
                      </a:r>
                      <a:endParaRPr lang="en-US" sz="14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Japan</a:t>
                      </a:r>
                      <a:endParaRPr lang="en-US" sz="14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00800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4829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00DCC89-2137-43B9-AA97-9F14E6E73374}"/>
              </a:ext>
            </a:extLst>
          </p:cNvPr>
          <p:cNvSpPr/>
          <p:nvPr/>
        </p:nvSpPr>
        <p:spPr>
          <a:xfrm>
            <a:off x="750616" y="273814"/>
            <a:ext cx="800445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b="1" dirty="0">
                <a:solidFill>
                  <a:schemeClr val="accent1"/>
                </a:solidFill>
                <a:latin typeface="Cambria" panose="02040503050406030204" pitchFamily="18" charset="0"/>
              </a:rPr>
              <a:t>Students for AIML course </a:t>
            </a:r>
          </a:p>
        </p:txBody>
      </p:sp>
      <p:pic>
        <p:nvPicPr>
          <p:cNvPr id="4" name="Picture 3" descr="A drawing of a person&#10;&#10;Description automatically generated">
            <a:extLst>
              <a:ext uri="{FF2B5EF4-FFF2-40B4-BE49-F238E27FC236}">
                <a16:creationId xmlns:a16="http://schemas.microsoft.com/office/drawing/2014/main" id="{0BB2F49E-CA87-4DB3-A9A5-F9DB10D719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8057" y="4862841"/>
            <a:ext cx="1496263" cy="18629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6591875-B334-4A1F-8C6E-851750E76E8B}"/>
              </a:ext>
            </a:extLst>
          </p:cNvPr>
          <p:cNvSpPr/>
          <p:nvPr/>
        </p:nvSpPr>
        <p:spPr>
          <a:xfrm>
            <a:off x="10208057" y="4075665"/>
            <a:ext cx="149626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Analyze?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A294EE-AE90-4D82-84E0-33DDF1CB75A3}"/>
              </a:ext>
            </a:extLst>
          </p:cNvPr>
          <p:cNvGraphicFramePr>
            <a:graphicFrameLocks noGrp="1"/>
          </p:cNvGraphicFramePr>
          <p:nvPr/>
        </p:nvGraphicFramePr>
        <p:xfrm>
          <a:off x="871914" y="1157169"/>
          <a:ext cx="9186486" cy="5012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4572">
                  <a:extLst>
                    <a:ext uri="{9D8B030D-6E8A-4147-A177-3AD203B41FA5}">
                      <a16:colId xmlns:a16="http://schemas.microsoft.com/office/drawing/2014/main" val="4056204891"/>
                    </a:ext>
                  </a:extLst>
                </a:gridCol>
                <a:gridCol w="2540943">
                  <a:extLst>
                    <a:ext uri="{9D8B030D-6E8A-4147-A177-3AD203B41FA5}">
                      <a16:colId xmlns:a16="http://schemas.microsoft.com/office/drawing/2014/main" val="3497293020"/>
                    </a:ext>
                  </a:extLst>
                </a:gridCol>
                <a:gridCol w="2540943">
                  <a:extLst>
                    <a:ext uri="{9D8B030D-6E8A-4147-A177-3AD203B41FA5}">
                      <a16:colId xmlns:a16="http://schemas.microsoft.com/office/drawing/2014/main" val="2750610091"/>
                    </a:ext>
                  </a:extLst>
                </a:gridCol>
                <a:gridCol w="2150028">
                  <a:extLst>
                    <a:ext uri="{9D8B030D-6E8A-4147-A177-3AD203B41FA5}">
                      <a16:colId xmlns:a16="http://schemas.microsoft.com/office/drawing/2014/main" val="4198493260"/>
                    </a:ext>
                  </a:extLst>
                </a:gridCol>
              </a:tblGrid>
              <a:tr h="4320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Country</a:t>
                      </a:r>
                      <a:endParaRPr lang="en-US" sz="20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Frequency</a:t>
                      </a:r>
                      <a:endParaRPr lang="en-US" sz="20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Proportion</a:t>
                      </a:r>
                      <a:endParaRPr lang="en-US" sz="20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Percent</a:t>
                      </a:r>
                      <a:endParaRPr lang="en-US" sz="20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48831783"/>
                  </a:ext>
                </a:extLst>
              </a:tr>
              <a:tr h="4030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  <a:latin typeface="Cambria" panose="02040503050406030204" pitchFamily="18" charset="0"/>
                        </a:rPr>
                        <a:t>Canada</a:t>
                      </a:r>
                      <a:endParaRPr lang="en-US" sz="2000" b="0" i="0" u="none" strike="noStrike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0.04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4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96219702"/>
                  </a:ext>
                </a:extLst>
              </a:tr>
              <a:tr h="4030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  <a:latin typeface="Cambria" panose="02040503050406030204" pitchFamily="18" charset="0"/>
                        </a:rPr>
                        <a:t>China</a:t>
                      </a:r>
                      <a:endParaRPr lang="en-US" sz="2000" b="0" i="0" u="none" strike="noStrike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  <a:latin typeface="Cambria" panose="02040503050406030204" pitchFamily="18" charset="0"/>
                        </a:rPr>
                        <a:t>12</a:t>
                      </a:r>
                      <a:endParaRPr lang="en-US" sz="2000" b="0" i="0" u="none" strike="noStrike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0.24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  <a:latin typeface="Cambria" panose="02040503050406030204" pitchFamily="18" charset="0"/>
                        </a:rPr>
                        <a:t>24</a:t>
                      </a:r>
                      <a:endParaRPr lang="en-US" sz="2000" b="0" i="0" u="none" strike="noStrike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1977421"/>
                  </a:ext>
                </a:extLst>
              </a:tr>
              <a:tr h="4030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England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  <a:latin typeface="Cambria" panose="02040503050406030204" pitchFamily="18" charset="0"/>
                        </a:rPr>
                        <a:t>2</a:t>
                      </a:r>
                      <a:endParaRPr lang="en-US" sz="2000" b="0" i="0" u="none" strike="noStrike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0.04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4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8060988"/>
                  </a:ext>
                </a:extLst>
              </a:tr>
              <a:tr h="4030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Germany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  <a:latin typeface="Cambria" panose="02040503050406030204" pitchFamily="18" charset="0"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0.06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12409977"/>
                  </a:ext>
                </a:extLst>
              </a:tr>
              <a:tr h="4030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India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  <a:latin typeface="Cambria" panose="02040503050406030204" pitchFamily="18" charset="0"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0.16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16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22414987"/>
                  </a:ext>
                </a:extLst>
              </a:tr>
              <a:tr h="4030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Japan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  <a:latin typeface="Cambria" panose="02040503050406030204" pitchFamily="18" charset="0"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0.16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16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28403586"/>
                  </a:ext>
                </a:extLst>
              </a:tr>
              <a:tr h="4030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Mexico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3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  <a:latin typeface="Cambria" panose="02040503050406030204" pitchFamily="18" charset="0"/>
                        </a:rPr>
                        <a:t>0.06</a:t>
                      </a:r>
                      <a:endParaRPr lang="en-US" sz="2000" b="0" i="0" u="none" strike="noStrike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64214554"/>
                  </a:ext>
                </a:extLst>
              </a:tr>
              <a:tr h="4030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Pakistan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1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  <a:latin typeface="Cambria" panose="02040503050406030204" pitchFamily="18" charset="0"/>
                        </a:rPr>
                        <a:t>0.02</a:t>
                      </a:r>
                      <a:endParaRPr lang="en-US" sz="2000" b="0" i="0" u="none" strike="noStrike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53137459"/>
                  </a:ext>
                </a:extLst>
              </a:tr>
              <a:tr h="4030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Sweden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1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  <a:latin typeface="Cambria" panose="02040503050406030204" pitchFamily="18" charset="0"/>
                        </a:rPr>
                        <a:t>0.02</a:t>
                      </a:r>
                      <a:endParaRPr lang="en-US" sz="2000" b="0" i="0" u="none" strike="noStrike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  <a:latin typeface="Cambria" panose="02040503050406030204" pitchFamily="18" charset="0"/>
                        </a:rPr>
                        <a:t>2</a:t>
                      </a:r>
                      <a:endParaRPr lang="en-US" sz="2000" b="0" i="0" u="none" strike="noStrike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97528862"/>
                  </a:ext>
                </a:extLst>
              </a:tr>
              <a:tr h="3722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USA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  <a:latin typeface="Cambria" panose="02040503050406030204" pitchFamily="18" charset="0"/>
                        </a:rPr>
                        <a:t>10</a:t>
                      </a:r>
                      <a:endParaRPr lang="en-US" sz="2000" b="0" i="0" u="none" strike="noStrike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  <a:latin typeface="Cambria" panose="02040503050406030204" pitchFamily="18" charset="0"/>
                        </a:rPr>
                        <a:t>0.2</a:t>
                      </a:r>
                      <a:endParaRPr lang="en-US" sz="2000" b="0" i="0" u="none" strike="noStrike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  <a:latin typeface="Cambria" panose="02040503050406030204" pitchFamily="18" charset="0"/>
                        </a:rPr>
                        <a:t>20</a:t>
                      </a:r>
                      <a:endParaRPr lang="en-US" sz="2000" b="0" i="0" u="none" strike="noStrike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12871287"/>
                  </a:ext>
                </a:extLst>
              </a:tr>
              <a:tr h="580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Total</a:t>
                      </a:r>
                      <a:endParaRPr lang="en-US" sz="20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50</a:t>
                      </a:r>
                      <a:endParaRPr lang="en-US" sz="20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1</a:t>
                      </a:r>
                      <a:endParaRPr lang="en-US" sz="20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100</a:t>
                      </a:r>
                      <a:endParaRPr lang="en-US" sz="20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09948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2470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DDA09BB-F566-495B-A358-C9918447226E}"/>
              </a:ext>
            </a:extLst>
          </p:cNvPr>
          <p:cNvSpPr/>
          <p:nvPr/>
        </p:nvSpPr>
        <p:spPr>
          <a:xfrm>
            <a:off x="288848" y="194600"/>
            <a:ext cx="115660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b="1" dirty="0">
                <a:solidFill>
                  <a:schemeClr val="accent1"/>
                </a:solidFill>
                <a:latin typeface="Cambria" panose="02040503050406030204" pitchFamily="18" charset="0"/>
              </a:rPr>
              <a:t>Students for a AIML course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0276BB-DE6A-4661-B88B-D574FAAC5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134" y="4539977"/>
            <a:ext cx="1100734" cy="211479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5E4DF57-ACF9-4337-B85C-44936D87FFB2}"/>
              </a:ext>
            </a:extLst>
          </p:cNvPr>
          <p:cNvSpPr/>
          <p:nvPr/>
        </p:nvSpPr>
        <p:spPr>
          <a:xfrm>
            <a:off x="10356272" y="4139867"/>
            <a:ext cx="14985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</a:rPr>
              <a:t>Interpret 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BD307F-A651-40AF-AE08-C8BC8DDED101}"/>
              </a:ext>
            </a:extLst>
          </p:cNvPr>
          <p:cNvGraphicFramePr>
            <a:graphicFrameLocks noGrp="1"/>
          </p:cNvGraphicFramePr>
          <p:nvPr/>
        </p:nvGraphicFramePr>
        <p:xfrm>
          <a:off x="288848" y="779375"/>
          <a:ext cx="5966178" cy="19515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9518">
                  <a:extLst>
                    <a:ext uri="{9D8B030D-6E8A-4147-A177-3AD203B41FA5}">
                      <a16:colId xmlns:a16="http://schemas.microsoft.com/office/drawing/2014/main" val="1698724497"/>
                    </a:ext>
                  </a:extLst>
                </a:gridCol>
                <a:gridCol w="1696631">
                  <a:extLst>
                    <a:ext uri="{9D8B030D-6E8A-4147-A177-3AD203B41FA5}">
                      <a16:colId xmlns:a16="http://schemas.microsoft.com/office/drawing/2014/main" val="2787041552"/>
                    </a:ext>
                  </a:extLst>
                </a:gridCol>
                <a:gridCol w="2200029">
                  <a:extLst>
                    <a:ext uri="{9D8B030D-6E8A-4147-A177-3AD203B41FA5}">
                      <a16:colId xmlns:a16="http://schemas.microsoft.com/office/drawing/2014/main" val="13588622"/>
                    </a:ext>
                  </a:extLst>
                </a:gridCol>
              </a:tblGrid>
              <a:tr h="770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Continent</a:t>
                      </a:r>
                      <a:endParaRPr lang="en-US" sz="18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Frequency</a:t>
                      </a:r>
                      <a:endParaRPr lang="en-US" sz="18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Relative Frequency</a:t>
                      </a:r>
                      <a:endParaRPr lang="en-US" sz="18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56725660"/>
                  </a:ext>
                </a:extLst>
              </a:tr>
              <a:tr h="3977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North America</a:t>
                      </a:r>
                      <a:endParaRPr lang="en-US" sz="16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15</a:t>
                      </a:r>
                      <a:endParaRPr lang="en-US" sz="16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30%</a:t>
                      </a:r>
                      <a:endParaRPr lang="en-US" sz="16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16914065"/>
                  </a:ext>
                </a:extLst>
              </a:tr>
              <a:tr h="3914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Asia</a:t>
                      </a:r>
                      <a:endParaRPr lang="en-US" sz="16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29</a:t>
                      </a:r>
                      <a:endParaRPr lang="en-US" sz="16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58%</a:t>
                      </a:r>
                      <a:endParaRPr lang="en-US" sz="16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08519415"/>
                  </a:ext>
                </a:extLst>
              </a:tr>
              <a:tr h="3914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Europe</a:t>
                      </a:r>
                      <a:endParaRPr lang="en-US" sz="16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6</a:t>
                      </a:r>
                      <a:endParaRPr lang="en-US" sz="16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12%</a:t>
                      </a:r>
                      <a:endParaRPr lang="en-US" sz="16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82140609"/>
                  </a:ext>
                </a:extLst>
              </a:tr>
            </a:tbl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23FB6D-A649-3F67-E890-4A383F324427}"/>
              </a:ext>
            </a:extLst>
          </p:cNvPr>
          <p:cNvGraphicFramePr>
            <a:graphicFrameLocks/>
          </p:cNvGraphicFramePr>
          <p:nvPr/>
        </p:nvGraphicFramePr>
        <p:xfrm>
          <a:off x="5540584" y="3104175"/>
          <a:ext cx="4665139" cy="2974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3469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F828CF-470F-4ED9-B0C3-4B9AC414ED26}"/>
              </a:ext>
            </a:extLst>
          </p:cNvPr>
          <p:cNvSpPr txBox="1"/>
          <p:nvPr/>
        </p:nvSpPr>
        <p:spPr>
          <a:xfrm>
            <a:off x="1025750" y="500474"/>
            <a:ext cx="4423831" cy="88610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chemeClr val="accent1"/>
                </a:solidFill>
                <a:latin typeface="Cambria" panose="02040503050406030204" pitchFamily="18" charset="0"/>
                <a:ea typeface="+mj-ea"/>
                <a:cs typeface="Times New Roman" panose="02020603050405020304" pitchFamily="18" charset="0"/>
              </a:rPr>
              <a:t>Sample Student Ages</a:t>
            </a:r>
          </a:p>
        </p:txBody>
      </p:sp>
      <p:pic>
        <p:nvPicPr>
          <p:cNvPr id="3" name="Picture 2" descr="A screen shot of a social media post&#10;&#10;Description automatically generated">
            <a:extLst>
              <a:ext uri="{FF2B5EF4-FFF2-40B4-BE49-F238E27FC236}">
                <a16:creationId xmlns:a16="http://schemas.microsoft.com/office/drawing/2014/main" id="{E30EAB8B-A198-4193-BB2D-0DF185BE5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071" y="1382579"/>
            <a:ext cx="7906653" cy="4382301"/>
          </a:xfrm>
          <a:prstGeom prst="rect">
            <a:avLst/>
          </a:prstGeom>
        </p:spPr>
      </p:pic>
      <p:pic>
        <p:nvPicPr>
          <p:cNvPr id="11" name="Picture 10" descr="A picture containing drawing, doll&#10;&#10;Description automatically generated">
            <a:extLst>
              <a:ext uri="{FF2B5EF4-FFF2-40B4-BE49-F238E27FC236}">
                <a16:creationId xmlns:a16="http://schemas.microsoft.com/office/drawing/2014/main" id="{995A9575-BA59-4179-B668-F6E2C1A315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2811" y="4869447"/>
            <a:ext cx="1362626" cy="143885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6C7FFAD-42C7-48A0-BCBD-EBA50D7C63DF}"/>
              </a:ext>
            </a:extLst>
          </p:cNvPr>
          <p:cNvSpPr/>
          <p:nvPr/>
        </p:nvSpPr>
        <p:spPr>
          <a:xfrm>
            <a:off x="10272683" y="4268958"/>
            <a:ext cx="10428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Think?</a:t>
            </a:r>
          </a:p>
        </p:txBody>
      </p:sp>
    </p:spTree>
    <p:extLst>
      <p:ext uri="{BB962C8B-B14F-4D97-AF65-F5344CB8AC3E}">
        <p14:creationId xmlns:p14="http://schemas.microsoft.com/office/powerpoint/2010/main" val="1413981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CA8D37-CE34-4265-8337-34FBFA929315}"/>
              </a:ext>
            </a:extLst>
          </p:cNvPr>
          <p:cNvSpPr txBox="1"/>
          <p:nvPr/>
        </p:nvSpPr>
        <p:spPr>
          <a:xfrm>
            <a:off x="840220" y="457576"/>
            <a:ext cx="4423831" cy="6069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+mj-ea"/>
                <a:cs typeface="Times New Roman" panose="02020603050405020304" pitchFamily="18" charset="0"/>
              </a:rPr>
              <a:t>Sample Student Ages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BEC46A-FBAA-4622-9337-6A0B4E7EB859}"/>
              </a:ext>
            </a:extLst>
          </p:cNvPr>
          <p:cNvSpPr/>
          <p:nvPr/>
        </p:nvSpPr>
        <p:spPr>
          <a:xfrm>
            <a:off x="9825064" y="3655943"/>
            <a:ext cx="15187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Analyze?</a:t>
            </a:r>
          </a:p>
        </p:txBody>
      </p:sp>
      <p:pic>
        <p:nvPicPr>
          <p:cNvPr id="9" name="Picture 8" descr="A drawing of a person&#10;&#10;Description automatically generated">
            <a:extLst>
              <a:ext uri="{FF2B5EF4-FFF2-40B4-BE49-F238E27FC236}">
                <a16:creationId xmlns:a16="http://schemas.microsoft.com/office/drawing/2014/main" id="{E89402C4-1A34-4D00-8FC7-AF0CC5628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7265" y="4493393"/>
            <a:ext cx="1518797" cy="186295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0E3FD5-CAB5-44C5-AA97-17060D22E520}"/>
              </a:ext>
            </a:extLst>
          </p:cNvPr>
          <p:cNvGraphicFramePr>
            <a:graphicFrameLocks noGrp="1"/>
          </p:cNvGraphicFramePr>
          <p:nvPr/>
        </p:nvGraphicFramePr>
        <p:xfrm>
          <a:off x="1045938" y="1356068"/>
          <a:ext cx="5573367" cy="36157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10311">
                  <a:extLst>
                    <a:ext uri="{9D8B030D-6E8A-4147-A177-3AD203B41FA5}">
                      <a16:colId xmlns:a16="http://schemas.microsoft.com/office/drawing/2014/main" val="4058547355"/>
                    </a:ext>
                  </a:extLst>
                </a:gridCol>
                <a:gridCol w="2963056">
                  <a:extLst>
                    <a:ext uri="{9D8B030D-6E8A-4147-A177-3AD203B41FA5}">
                      <a16:colId xmlns:a16="http://schemas.microsoft.com/office/drawing/2014/main" val="3024651958"/>
                    </a:ext>
                  </a:extLst>
                </a:gridCol>
              </a:tblGrid>
              <a:tr h="7231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Age</a:t>
                      </a:r>
                      <a:endParaRPr lang="en-US" sz="20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" panose="02040503050406030204" pitchFamily="18" charset="0"/>
                        </a:rPr>
                        <a:t>Frequency</a:t>
                      </a:r>
                      <a:endParaRPr lang="en-US" sz="20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15507303"/>
                  </a:ext>
                </a:extLst>
              </a:tr>
              <a:tr h="7231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0-19</a:t>
                      </a:r>
                      <a:endParaRPr lang="en-US" sz="20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19</a:t>
                      </a:r>
                      <a:endParaRPr lang="en-US" sz="20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7910701"/>
                  </a:ext>
                </a:extLst>
              </a:tr>
              <a:tr h="7231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20-39</a:t>
                      </a:r>
                      <a:endParaRPr lang="en-US" sz="20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21</a:t>
                      </a:r>
                      <a:endParaRPr lang="en-US" sz="20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80853113"/>
                  </a:ext>
                </a:extLst>
              </a:tr>
              <a:tr h="7231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40-59</a:t>
                      </a:r>
                      <a:endParaRPr lang="en-US" sz="20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5</a:t>
                      </a:r>
                      <a:endParaRPr lang="en-US" sz="20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2383665"/>
                  </a:ext>
                </a:extLst>
              </a:tr>
              <a:tr h="7231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60-79</a:t>
                      </a:r>
                      <a:endParaRPr lang="en-US" sz="2000" b="1" i="0" u="none" strike="noStrike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</a:rPr>
                        <a:t>5</a:t>
                      </a:r>
                      <a:endParaRPr lang="en-US" sz="20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7687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4575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D25468-746D-4240-96F2-103B81EA1F11}"/>
              </a:ext>
            </a:extLst>
          </p:cNvPr>
          <p:cNvSpPr txBox="1"/>
          <p:nvPr/>
        </p:nvSpPr>
        <p:spPr>
          <a:xfrm>
            <a:off x="137207" y="136359"/>
            <a:ext cx="4423831" cy="6069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chemeClr val="accent1"/>
                </a:solidFill>
                <a:latin typeface="Cambria" panose="02040503050406030204" pitchFamily="18" charset="0"/>
                <a:ea typeface="+mj-ea"/>
                <a:cs typeface="Times New Roman" panose="02020603050405020304" pitchFamily="18" charset="0"/>
              </a:rPr>
              <a:t>Sample Student Ages</a:t>
            </a:r>
          </a:p>
        </p:txBody>
      </p: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05E1430C-689A-4B1F-AA55-AAF624E36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661" y="4884410"/>
            <a:ext cx="1429328" cy="14197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E852EDE-5DD4-42BA-805C-B718029F3A32}"/>
              </a:ext>
            </a:extLst>
          </p:cNvPr>
          <p:cNvSpPr/>
          <p:nvPr/>
        </p:nvSpPr>
        <p:spPr>
          <a:xfrm>
            <a:off x="10299192" y="3981736"/>
            <a:ext cx="15187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</a:rPr>
              <a:t>Interpret ?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41A43F1-96AC-42F9-89B0-FBF13CAF8AE7}"/>
              </a:ext>
            </a:extLst>
          </p:cNvPr>
          <p:cNvGraphicFramePr>
            <a:graphicFrameLocks/>
          </p:cNvGraphicFramePr>
          <p:nvPr/>
        </p:nvGraphicFramePr>
        <p:xfrm>
          <a:off x="596331" y="921249"/>
          <a:ext cx="4797304" cy="28188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41A43F1-96AC-42F9-89B0-FBF13CAF8AE7}"/>
              </a:ext>
            </a:extLst>
          </p:cNvPr>
          <p:cNvGraphicFramePr>
            <a:graphicFrameLocks/>
          </p:cNvGraphicFramePr>
          <p:nvPr/>
        </p:nvGraphicFramePr>
        <p:xfrm>
          <a:off x="6486590" y="74330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41A43F1-96AC-42F9-89B0-FBF13CAF8AE7}"/>
              </a:ext>
            </a:extLst>
          </p:cNvPr>
          <p:cNvGraphicFramePr>
            <a:graphicFrameLocks/>
          </p:cNvGraphicFramePr>
          <p:nvPr/>
        </p:nvGraphicFramePr>
        <p:xfrm>
          <a:off x="4819003" y="3740084"/>
          <a:ext cx="4797303" cy="2374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52553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1297</TotalTime>
  <Words>646</Words>
  <Application>Microsoft Office PowerPoint</Application>
  <PresentationFormat>Widescreen</PresentationFormat>
  <Paragraphs>226</Paragraphs>
  <Slides>15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Times New Roman</vt:lpstr>
      <vt:lpstr>Office Theme</vt:lpstr>
      <vt:lpstr>Data</vt:lpstr>
      <vt:lpstr>Data</vt:lpstr>
      <vt:lpstr>Numerous kinds of data</vt:lpstr>
      <vt:lpstr>Data</vt:lpstr>
      <vt:lpstr>Types of Data</vt:lpstr>
      <vt:lpstr>Types of Data</vt:lpstr>
      <vt:lpstr>PowerPoint Presentation</vt:lpstr>
      <vt:lpstr>Qualitative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GanapatiRaju Nadimpalli</dc:creator>
  <cp:lastModifiedBy>Ganapathi Raju</cp:lastModifiedBy>
  <cp:revision>537</cp:revision>
  <dcterms:created xsi:type="dcterms:W3CDTF">2019-08-22T12:34:15Z</dcterms:created>
  <dcterms:modified xsi:type="dcterms:W3CDTF">2024-02-08T14:51:06Z</dcterms:modified>
</cp:coreProperties>
</file>