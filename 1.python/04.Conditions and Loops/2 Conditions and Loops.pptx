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82" r:id="rId12"/>
    <p:sldId id="265" r:id="rId13"/>
    <p:sldId id="267" r:id="rId14"/>
    <p:sldId id="268" r:id="rId15"/>
    <p:sldId id="269" r:id="rId16"/>
    <p:sldId id="270" r:id="rId17"/>
    <p:sldId id="271" r:id="rId18"/>
    <p:sldId id="283" r:id="rId19"/>
    <p:sldId id="272" r:id="rId20"/>
    <p:sldId id="273" r:id="rId21"/>
    <p:sldId id="274" r:id="rId22"/>
    <p:sldId id="284" r:id="rId23"/>
    <p:sldId id="279" r:id="rId24"/>
    <p:sldId id="275" r:id="rId25"/>
    <p:sldId id="276" r:id="rId26"/>
    <p:sldId id="281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4778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1265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269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ory WITHOUT Sub-Points">
  <p:cSld name="Theory WITHOUT Sub-Poin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276225" y="1576388"/>
            <a:ext cx="11077575" cy="46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Dependency">
  <p:cSld name="Only Dependenc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276224" y="1218921"/>
            <a:ext cx="11520000" cy="49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3481903" y="3204256"/>
            <a:ext cx="4346545" cy="1042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PYTHON  PROGRAMMING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Conditions and Loops </a:t>
            </a:r>
          </a:p>
        </p:txBody>
      </p:sp>
      <p:sp>
        <p:nvSpPr>
          <p:cNvPr id="122" name="Google Shape;122;p26"/>
          <p:cNvSpPr txBox="1"/>
          <p:nvPr/>
        </p:nvSpPr>
        <p:spPr>
          <a:xfrm>
            <a:off x="8034583" y="5554508"/>
            <a:ext cx="3610362" cy="37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Dr Ganapathi Raju</a:t>
            </a:r>
            <a:endParaRPr sz="18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3" name="Picture 2" descr="Vcube software solutions">
            <a:extLst>
              <a:ext uri="{FF2B5EF4-FFF2-40B4-BE49-F238E27FC236}">
                <a16:creationId xmlns:a16="http://schemas.microsoft.com/office/drawing/2014/main" id="{9C8EA124-3905-788F-BCA7-2F29A243A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233" y="979411"/>
            <a:ext cx="2087807" cy="107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8375F8-A18F-98EF-440E-5A8EC4251D13}"/>
              </a:ext>
            </a:extLst>
          </p:cNvPr>
          <p:cNvSpPr txBox="1"/>
          <p:nvPr/>
        </p:nvSpPr>
        <p:spPr>
          <a:xfrm>
            <a:off x="2567847" y="2054948"/>
            <a:ext cx="6174658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AI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838200" y="1928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Branching and Looping</a:t>
            </a: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396508" y="1285583"/>
            <a:ext cx="11238901" cy="537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Generally, Programs contain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set of Statements</a:t>
            </a: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Set of statements, gets executed </a:t>
            </a:r>
            <a:r>
              <a:rPr lang="en-US" sz="2000" u="sng" dirty="0">
                <a:solidFill>
                  <a:schemeClr val="accent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sequentially in the order</a:t>
            </a: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in which they are written and appear. But situations may arise where we may have to change the </a:t>
            </a:r>
            <a:r>
              <a:rPr lang="en-US" sz="2000" i="1" u="sng" dirty="0">
                <a:solidFill>
                  <a:schemeClr val="accent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order of execution of statements depending on specific conditions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  </a:t>
            </a: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This involves a kind of </a:t>
            </a:r>
            <a:r>
              <a:rPr lang="en-US" sz="2000" u="sng" dirty="0">
                <a:solidFill>
                  <a:schemeClr val="accent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decision making </a:t>
            </a: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from a set of logical conditions/tests.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Decision structures is to evaluate </a:t>
            </a:r>
            <a:r>
              <a:rPr lang="en-US" sz="2000" i="1" u="sng" dirty="0">
                <a:solidFill>
                  <a:schemeClr val="accent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one or multiple expressions/logical conditions</a:t>
            </a: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which return </a:t>
            </a:r>
            <a:r>
              <a:rPr lang="en-US" sz="2000" i="1" u="sng" dirty="0">
                <a:solidFill>
                  <a:schemeClr val="accent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True or False</a:t>
            </a: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outcomes. We can then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determine what actions the program </a:t>
            </a:r>
            <a:r>
              <a:rPr lang="en-US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should take by defining the statements to execute when the outcome is TRUE or FALSE.</a:t>
            </a:r>
          </a:p>
          <a:p>
            <a:pPr marL="3429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loop is an instruction that repeats multiple times as long as some condition is met.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Branching Statements</a:t>
            </a: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276225" y="1576388"/>
            <a:ext cx="11077575" cy="46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/>
              <a:t>Python has three major decision making instructions—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0"/>
              <a:t>             </a:t>
            </a:r>
            <a:r>
              <a:rPr lang="en-US" sz="2400" i="1"/>
              <a:t>if</a:t>
            </a:r>
            <a:r>
              <a:rPr lang="en-US" sz="2400" b="0"/>
              <a:t> statement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0"/>
              <a:t>             </a:t>
            </a:r>
            <a:r>
              <a:rPr lang="en-US" sz="2400" i="1"/>
              <a:t>if-else</a:t>
            </a:r>
            <a:r>
              <a:rPr lang="en-US" sz="2400" b="0"/>
              <a:t> statement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0"/>
              <a:t>             </a:t>
            </a:r>
            <a:r>
              <a:rPr lang="en-US" sz="2400" i="1"/>
              <a:t>if...elif...else </a:t>
            </a:r>
            <a:r>
              <a:rPr lang="en-US" sz="2400" b="0"/>
              <a:t>statement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Branching: if statement</a:t>
            </a:r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276224" y="1215009"/>
            <a:ext cx="11520000" cy="515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▪"/>
            </a:pPr>
            <a:r>
              <a:rPr lang="en-US" sz="2600"/>
              <a:t>The </a:t>
            </a:r>
            <a:r>
              <a:rPr lang="en-US" sz="2600">
                <a:solidFill>
                  <a:srgbClr val="FF0000"/>
                </a:solidFill>
              </a:rPr>
              <a:t>if </a:t>
            </a:r>
            <a:r>
              <a:rPr lang="en-US" sz="2600"/>
              <a:t>statement is used to carry out </a:t>
            </a:r>
            <a:r>
              <a:rPr lang="en-US" sz="2600">
                <a:solidFill>
                  <a:srgbClr val="FF0000"/>
                </a:solidFill>
              </a:rPr>
              <a:t>a logical expression, returns Boolean.</a:t>
            </a:r>
            <a:endParaRPr b="0"/>
          </a:p>
          <a:p>
            <a:pPr marL="342900" lvl="0" indent="-213677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>
              <a:solidFill>
                <a:schemeClr val="accent1"/>
              </a:solidFill>
            </a:endParaRPr>
          </a:p>
          <a:p>
            <a:pPr marL="342900" lvl="0" indent="-213677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>
              <a:solidFill>
                <a:schemeClr val="accent1"/>
              </a:solidFill>
            </a:endParaRPr>
          </a:p>
          <a:p>
            <a:pPr marL="342900" lvl="0" indent="-3429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▪"/>
            </a:pPr>
            <a:r>
              <a:rPr lang="en-US" sz="2200">
                <a:solidFill>
                  <a:schemeClr val="accent1"/>
                </a:solidFill>
              </a:rPr>
              <a:t>The expression in parentheses must produce a Boolean result</a:t>
            </a:r>
            <a:endParaRPr/>
          </a:p>
          <a:p>
            <a:pPr marL="342900" lvl="0" indent="-3429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▪"/>
            </a:pPr>
            <a:r>
              <a:rPr lang="en-US" sz="2200">
                <a:solidFill>
                  <a:schemeClr val="accent1"/>
                </a:solidFill>
              </a:rPr>
              <a:t>At run time, the computer evaluates the expression as True/False</a:t>
            </a:r>
            <a:endParaRPr/>
          </a:p>
          <a:p>
            <a:pPr marL="342900" lvl="0" indent="-3429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▪"/>
            </a:pPr>
            <a:r>
              <a:rPr lang="en-US" sz="2200">
                <a:solidFill>
                  <a:schemeClr val="accent1"/>
                </a:solidFill>
              </a:rPr>
              <a:t>If  True, the computer executes Statement(s).</a:t>
            </a:r>
            <a:endParaRPr/>
          </a:p>
          <a:p>
            <a:pPr marL="342900" lvl="0" indent="-3429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▪"/>
            </a:pPr>
            <a:r>
              <a:rPr lang="en-US" sz="2200">
                <a:solidFill>
                  <a:schemeClr val="accent1"/>
                </a:solidFill>
              </a:rPr>
              <a:t>If False, goes out of if condition</a:t>
            </a:r>
            <a:endParaRPr/>
          </a:p>
          <a:p>
            <a:pPr marL="342900" lvl="0" indent="-3429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▪"/>
            </a:pPr>
            <a:r>
              <a:rPr lang="en-US" sz="2200">
                <a:solidFill>
                  <a:srgbClr val="FF0000"/>
                </a:solidFill>
              </a:rPr>
              <a:t>if</a:t>
            </a:r>
            <a:r>
              <a:rPr lang="en-US" sz="2200" i="1">
                <a:solidFill>
                  <a:schemeClr val="accent1"/>
                </a:solidFill>
              </a:rPr>
              <a:t> </a:t>
            </a:r>
            <a:r>
              <a:rPr lang="en-US" sz="2200">
                <a:solidFill>
                  <a:schemeClr val="accent1"/>
                </a:solidFill>
              </a:rPr>
              <a:t>keyword and ends with a colon ( : )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▪"/>
            </a:pPr>
            <a:r>
              <a:rPr lang="en-US" sz="2200">
                <a:solidFill>
                  <a:schemeClr val="accent1"/>
                </a:solidFill>
              </a:rPr>
              <a:t>In Python, the </a:t>
            </a:r>
            <a:r>
              <a:rPr lang="en-US" sz="2200" i="1">
                <a:solidFill>
                  <a:schemeClr val="accent1"/>
                </a:solidFill>
              </a:rPr>
              <a:t>if </a:t>
            </a:r>
            <a:r>
              <a:rPr lang="en-US" sz="2200">
                <a:solidFill>
                  <a:schemeClr val="accent1"/>
                </a:solidFill>
              </a:rPr>
              <a:t>block statements are determined through indentation and the first un-indented statement marks the end.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3751333" y="1838036"/>
            <a:ext cx="3483256" cy="116795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( expression ) 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statement(s)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3270113" y="2558230"/>
            <a:ext cx="1445342" cy="221226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F0000"/>
              </a:gs>
              <a:gs pos="74000">
                <a:srgbClr val="A9BEE4"/>
              </a:gs>
              <a:gs pos="83000">
                <a:srgbClr val="A9BEE4"/>
              </a:gs>
              <a:gs pos="100000">
                <a:srgbClr val="C5D3ED"/>
              </a:gs>
            </a:gsLst>
            <a:lin ang="540000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7234589" y="1838036"/>
            <a:ext cx="144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colon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6504039" y="2136794"/>
            <a:ext cx="1828800" cy="250723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2793426" y="2237349"/>
            <a:ext cx="144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1101661" y="1965846"/>
            <a:ext cx="3908323" cy="16118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427703" y="171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on if statement</a:t>
            </a:r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1"/>
          </p:nvPr>
        </p:nvSpPr>
        <p:spPr>
          <a:xfrm>
            <a:off x="427703" y="1034860"/>
            <a:ext cx="11367789" cy="527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If the expression returns True, prints statements.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342900" lvl="0" indent="-2032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/>
          </a:p>
          <a:p>
            <a:pPr marL="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Note: </a:t>
            </a:r>
            <a:endParaRPr/>
          </a:p>
          <a:p>
            <a:pPr marL="285750" lvl="0" indent="-28575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/>
              <a:t>There is no limit on the number of statements that can appear in the body, </a:t>
            </a:r>
            <a:endParaRPr/>
          </a:p>
          <a:p>
            <a:pPr marL="0" lvl="0" indent="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/>
              <a:t>      but there must be at least one. </a:t>
            </a:r>
            <a:endParaRPr/>
          </a:p>
          <a:p>
            <a:pPr marL="285750" lvl="0" indent="-28575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0"/>
              <a:t>It is useful to have a body with no statements  </a:t>
            </a:r>
            <a:endParaRPr/>
          </a:p>
          <a:p>
            <a:pPr marL="285750" lvl="0" indent="-28575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b="0"/>
              <a:t>Use the </a:t>
            </a:r>
            <a:r>
              <a:rPr lang="en-US"/>
              <a:t>pass</a:t>
            </a:r>
            <a:r>
              <a:rPr lang="en-US" b="0"/>
              <a:t> statement, which does nothing.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1408470" y="2228671"/>
            <a:ext cx="338229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(x &gt;= 10 ):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print("x &gt;= 10 ",x)</a:t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7477432" y="2566219"/>
            <a:ext cx="1563329" cy="973394"/>
          </a:xfrm>
          <a:prstGeom prst="flowChartDecision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 &gt;=10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8141110" y="1519084"/>
            <a:ext cx="221226" cy="104713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8182884" y="3577729"/>
            <a:ext cx="179452" cy="226263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9040761" y="2946613"/>
            <a:ext cx="1563329" cy="22122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9265997" y="3702921"/>
            <a:ext cx="2649779" cy="89857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print("x &gt;= 10 ", x)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10530348" y="2995292"/>
            <a:ext cx="253181" cy="70762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8362336" y="5029200"/>
            <a:ext cx="2168012" cy="221226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10499622" y="4642821"/>
            <a:ext cx="179452" cy="5496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9265997" y="2494406"/>
            <a:ext cx="19347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expression is True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if...else... statement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276224" y="1218921"/>
            <a:ext cx="11520000" cy="105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A second form of the if statement in which there are two possibilities and the condition determines which one gets executed.</a:t>
            </a:r>
            <a:endParaRPr/>
          </a:p>
          <a:p>
            <a:pPr marL="342900" lvl="0" indent="-2032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/>
          </a:p>
        </p:txBody>
      </p:sp>
      <p:sp>
        <p:nvSpPr>
          <p:cNvPr id="147" name="Google Shape;147;p20"/>
          <p:cNvSpPr/>
          <p:nvPr/>
        </p:nvSpPr>
        <p:spPr>
          <a:xfrm>
            <a:off x="1848791" y="2756531"/>
            <a:ext cx="3483256" cy="157949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( expression ) 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statement(s) 1 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else: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statement(s) 2 ;                 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4728279" y="3226181"/>
            <a:ext cx="769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4621360" y="4021627"/>
            <a:ext cx="7695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645404" y="3272132"/>
            <a:ext cx="144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indentation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645404" y="3909550"/>
            <a:ext cx="144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indentation</a:t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1848791" y="3358351"/>
            <a:ext cx="769553" cy="1968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1848791" y="4012116"/>
            <a:ext cx="769553" cy="19689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4506137" y="2806690"/>
            <a:ext cx="9950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4506136" y="3571358"/>
            <a:ext cx="9950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7477432" y="2871654"/>
            <a:ext cx="1563329" cy="973394"/>
          </a:xfrm>
          <a:prstGeom prst="flowChartDecision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expression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141110" y="1824519"/>
            <a:ext cx="221226" cy="104713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8182884" y="5497944"/>
            <a:ext cx="134580" cy="64785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040761" y="3252048"/>
            <a:ext cx="1563329" cy="22122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9595068" y="4008356"/>
            <a:ext cx="2168012" cy="89857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Statements 1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10530348" y="3300727"/>
            <a:ext cx="253181" cy="70762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8362336" y="5334635"/>
            <a:ext cx="2168012" cy="221226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0499622" y="4948256"/>
            <a:ext cx="179452" cy="54968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920643" y="4050909"/>
            <a:ext cx="2059018" cy="89857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Statements 2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6554210" y="3300727"/>
            <a:ext cx="941998" cy="13217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6554210" y="3432897"/>
            <a:ext cx="176354" cy="61801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530256" y="4977813"/>
            <a:ext cx="176354" cy="61801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706610" y="5497944"/>
            <a:ext cx="1434500" cy="14113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9375829" y="2802409"/>
            <a:ext cx="19347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expression is True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769198" y="2881006"/>
            <a:ext cx="1988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expression is False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/>
          <p:nvPr/>
        </p:nvSpPr>
        <p:spPr>
          <a:xfrm>
            <a:off x="7123471" y="3078140"/>
            <a:ext cx="3952021" cy="271370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1297857" y="1932039"/>
            <a:ext cx="3583859" cy="271370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Programs on if...else...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1691148" y="2100401"/>
            <a:ext cx="3048000" cy="23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10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x%2 == 0 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print('x is even', x)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print('x is odd', x)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276224" y="1215009"/>
            <a:ext cx="11520000" cy="515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to Find If a Given Number Is Odd or Even</a:t>
            </a:r>
            <a:endParaRPr dirty="0"/>
          </a:p>
          <a:p>
            <a:pPr marL="457200" marR="0" lvl="0" indent="-330200" algn="just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to Find the Greater of Two Numbers</a:t>
            </a:r>
            <a:endParaRPr sz="20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7561006" y="3078140"/>
            <a:ext cx="3087329" cy="23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y=10,20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(x &gt; y):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print("x is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big",x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else: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print("y is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big",y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838200" y="212035"/>
            <a:ext cx="10515600" cy="81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if…elif…else statement </a:t>
            </a:r>
            <a:r>
              <a:rPr lang="en-US" sz="3600"/>
              <a:t>(multy-way control)</a:t>
            </a:r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276224" y="1218921"/>
            <a:ext cx="11520000" cy="49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When you need to choose from several possible alternatives, then an </a:t>
            </a:r>
            <a:r>
              <a:rPr lang="en-US" sz="2400" i="1"/>
              <a:t>elif </a:t>
            </a:r>
            <a:r>
              <a:rPr lang="en-US" sz="2400"/>
              <a:t>statement is used along with an </a:t>
            </a:r>
            <a:r>
              <a:rPr lang="en-US" sz="2400" i="1"/>
              <a:t>if </a:t>
            </a:r>
            <a:r>
              <a:rPr lang="en-US" sz="2400"/>
              <a:t>statement.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575187" y="2559138"/>
            <a:ext cx="3362633" cy="32741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expression 1: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statement 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elif expression 2: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statement 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else: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statement last</a:t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4236784" y="3111741"/>
            <a:ext cx="7955216" cy="1431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If expression 1 is </a:t>
            </a:r>
            <a:r>
              <a:rPr lang="en-US" sz="1700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17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, then statement_1 is executed.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If expression 1 is </a:t>
            </a:r>
            <a:r>
              <a:rPr lang="en-US" sz="1700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False </a:t>
            </a:r>
            <a:r>
              <a:rPr lang="en-US" sz="17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and expression 2 is </a:t>
            </a:r>
            <a:r>
              <a:rPr lang="en-US" sz="1700" b="1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17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, then statement 2 is executed.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If none of the expression is </a:t>
            </a:r>
            <a:r>
              <a:rPr lang="en-US" sz="1800" i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, then statement last is executed.</a:t>
            </a:r>
            <a:endParaRPr sz="1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/>
          <p:nvPr/>
        </p:nvSpPr>
        <p:spPr>
          <a:xfrm>
            <a:off x="545690" y="1826621"/>
            <a:ext cx="5550310" cy="46331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545690" y="252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Program using if…</a:t>
            </a:r>
            <a:r>
              <a:rPr lang="en-US" dirty="0" err="1"/>
              <a:t>elif</a:t>
            </a:r>
            <a:r>
              <a:rPr lang="en-US" dirty="0"/>
              <a:t>…else statement </a:t>
            </a:r>
            <a:endParaRPr dirty="0"/>
          </a:p>
        </p:txBody>
      </p:sp>
      <p:sp>
        <p:nvSpPr>
          <p:cNvPr id="195" name="Google Shape;195;p23"/>
          <p:cNvSpPr/>
          <p:nvPr/>
        </p:nvSpPr>
        <p:spPr>
          <a:xfrm>
            <a:off x="980588" y="2043400"/>
            <a:ext cx="4694904" cy="419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int(input("enter first number:"))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int(input("enter second number:"))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(x &gt; y):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print("x &gt; y")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elif (x &lt; y):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print("x &lt; y")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print("x == y")</a:t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7811" y="2043400"/>
            <a:ext cx="5368413" cy="392232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276224" y="1091880"/>
            <a:ext cx="11520000" cy="49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Program to find whether a given number is greater than / less than / equal to another.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range() 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276225" y="1576388"/>
            <a:ext cx="11077575" cy="46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b="0" dirty="0"/>
              <a:t>The range() type returns an immutable sequence of numbers between the given start integer to the stop integer.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dirty="0"/>
              <a:t>range() constructor has two forms of definition: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dirty="0"/>
              <a:t>range(stop)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dirty="0"/>
              <a:t>range(start, stop[, step])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            start</a:t>
            </a:r>
            <a:r>
              <a:rPr lang="en-US" b="0" dirty="0"/>
              <a:t> - integer starting from which the sequence of integers is to be returned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            stop</a:t>
            </a:r>
            <a:r>
              <a:rPr lang="en-US" b="0" dirty="0"/>
              <a:t> - integer before which the sequence of integers is to be returned. The range of integers end at </a:t>
            </a:r>
            <a:r>
              <a:rPr lang="en-US" dirty="0"/>
              <a:t>stop - 1</a:t>
            </a:r>
            <a:r>
              <a:rPr lang="en-US" b="0" dirty="0"/>
              <a:t>.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            step (Optional)</a:t>
            </a:r>
            <a:r>
              <a:rPr lang="en-US" b="0" dirty="0"/>
              <a:t> - integer value which determines the increment between each integer in the sequence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b="0" dirty="0"/>
              <a:t>range() returns an immutable sequence object of numbers depending upon the definitions used:</a:t>
            </a:r>
            <a:endParaRPr dirty="0"/>
          </a:p>
          <a:p>
            <a:pPr marL="342900" lvl="0" indent="-23177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9052E-3105-3E28-DDF4-17929A701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(Iterative Statements)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8FCE5-66B3-E301-C174-D0308DDC9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225" y="1576388"/>
            <a:ext cx="11709298" cy="46307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loop is an instruction that repeats multiple times as long as some condition is met.</a:t>
            </a:r>
          </a:p>
          <a:p>
            <a:pPr>
              <a:lnSpc>
                <a:spcPct val="200000"/>
              </a:lnSpc>
            </a:pPr>
            <a:r>
              <a:rPr lang="en-US" sz="240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Loops help us remove the redundancy of code when a task has to be repeated several times.</a:t>
            </a:r>
            <a:endParaRPr lang="en-US" sz="2400" dirty="0">
              <a:solidFill>
                <a:schemeClr val="accent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400" i="0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two types of loops in Python programming are </a:t>
            </a:r>
            <a:r>
              <a:rPr lang="en-US" sz="2400" i="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2400" i="0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i="0" dirty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01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319643" y="1034860"/>
            <a:ext cx="11552714" cy="548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Probably the most popular looping instruction.</a:t>
            </a:r>
            <a:endParaRPr/>
          </a:p>
          <a:p>
            <a:pPr marL="342900" lvl="0" indent="-1651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 b="0"/>
              <a:t>The </a:t>
            </a:r>
            <a:r>
              <a:rPr lang="en-US" sz="2200" b="0" i="1"/>
              <a:t>for </a:t>
            </a:r>
            <a:r>
              <a:rPr lang="en-US" sz="2200" b="0"/>
              <a:t>loop starts with </a:t>
            </a:r>
            <a:r>
              <a:rPr lang="en-US" sz="2200" b="0" i="1"/>
              <a:t>for </a:t>
            </a:r>
            <a:r>
              <a:rPr lang="en-US" sz="2200" b="0"/>
              <a:t>keyword and ends with a colon. 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 b="0"/>
              <a:t>The first item in the sequence gets assigned to the iteration variable iteration_variable. </a:t>
            </a:r>
            <a:r>
              <a:rPr lang="en-US" sz="2200" b="0" i="1"/>
              <a:t> </a:t>
            </a:r>
            <a:r>
              <a:rPr lang="en-US" sz="2200" b="0"/>
              <a:t>iteration_variable</a:t>
            </a:r>
            <a:r>
              <a:rPr lang="en-US" sz="2200" b="0" i="1"/>
              <a:t> </a:t>
            </a:r>
            <a:r>
              <a:rPr lang="en-US" sz="2200" b="0"/>
              <a:t>can be any valid variable name. Then the statement block is executed. 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 b="0"/>
              <a:t>This process of assigning items from the sequence to the iteration_variable and then executing the statement continues until all the items in the sequence are completed.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en-US" sz="2200" b="0"/>
              <a:t>Actually, the for loop is designed to do more complicated tasks - it can "browse" large collections of data item by item. </a:t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3696929" y="1942767"/>
            <a:ext cx="4798142" cy="11946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iteration_variable in sequence: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statement(s)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/>
          <p:nvPr/>
        </p:nvSpPr>
        <p:spPr>
          <a:xfrm>
            <a:off x="940824" y="4898551"/>
            <a:ext cx="3209925" cy="12124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1012721" y="3148298"/>
            <a:ext cx="2857500" cy="12124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1012721" y="1441738"/>
            <a:ext cx="2423653" cy="116872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for loop with range()</a:t>
            </a:r>
            <a:endParaRPr/>
          </a:p>
        </p:txBody>
      </p:sp>
      <p:pic>
        <p:nvPicPr>
          <p:cNvPr id="219" name="Google Shape;219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397908" y="1146384"/>
            <a:ext cx="25336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1012723" y="1441738"/>
            <a:ext cx="2533650" cy="105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a in range (5):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print  (a)</a:t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1012722" y="3148298"/>
            <a:ext cx="2674375" cy="105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a in range (6,10):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print  (a) </a:t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1012722" y="4925200"/>
            <a:ext cx="3138028" cy="105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a in range (11,20,2):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print  (a) </a:t>
            </a:r>
            <a:endParaRPr/>
          </a:p>
        </p:txBody>
      </p:sp>
      <p:pic>
        <p:nvPicPr>
          <p:cNvPr id="223" name="Google Shape;22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7908" y="3018242"/>
            <a:ext cx="28575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27305" y="4039375"/>
            <a:ext cx="32099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/>
          <p:nvPr/>
        </p:nvSpPr>
        <p:spPr>
          <a:xfrm>
            <a:off x="855406" y="2373455"/>
            <a:ext cx="3244646" cy="13136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 loop with string</a:t>
            </a:r>
            <a:endParaRPr/>
          </a:p>
        </p:txBody>
      </p:sp>
      <p:sp>
        <p:nvSpPr>
          <p:cNvPr id="231" name="Google Shape;231;p27"/>
          <p:cNvSpPr txBox="1">
            <a:spLocks noGrp="1"/>
          </p:cNvSpPr>
          <p:nvPr>
            <p:ph type="body" idx="1"/>
          </p:nvPr>
        </p:nvSpPr>
        <p:spPr>
          <a:xfrm>
            <a:off x="276225" y="1576388"/>
            <a:ext cx="11077575" cy="46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Program to Iterate through Each Character in the String</a:t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1042220" y="2373455"/>
            <a:ext cx="3057832" cy="105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22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</a:t>
            </a:r>
            <a:r>
              <a:rPr lang="en-US" sz="2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'Python’: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print(</a:t>
            </a:r>
            <a:r>
              <a:rPr lang="en-US" sz="22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</a:t>
            </a:r>
            <a:r>
              <a:rPr lang="en-US" sz="2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/>
          <p:nvPr/>
        </p:nvSpPr>
        <p:spPr>
          <a:xfrm>
            <a:off x="811161" y="2342139"/>
            <a:ext cx="3701845" cy="24510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 txBox="1">
            <a:spLocks noGrp="1"/>
          </p:cNvSpPr>
          <p:nvPr>
            <p:ph type="title"/>
          </p:nvPr>
        </p:nvSpPr>
        <p:spPr>
          <a:xfrm>
            <a:off x="275492" y="95489"/>
            <a:ext cx="10800000" cy="93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for loop</a:t>
            </a:r>
            <a:endParaRPr/>
          </a:p>
        </p:txBody>
      </p:sp>
      <p:sp>
        <p:nvSpPr>
          <p:cNvPr id="239" name="Google Shape;239;p28"/>
          <p:cNvSpPr txBox="1">
            <a:spLocks noGrp="1"/>
          </p:cNvSpPr>
          <p:nvPr>
            <p:ph type="body" idx="1"/>
          </p:nvPr>
        </p:nvSpPr>
        <p:spPr>
          <a:xfrm>
            <a:off x="347829" y="1288752"/>
            <a:ext cx="9274250" cy="49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Program : Sum of all first 10 Natural numbers</a:t>
            </a:r>
            <a:endParaRPr/>
          </a:p>
        </p:txBody>
      </p:sp>
      <p:sp>
        <p:nvSpPr>
          <p:cNvPr id="240" name="Google Shape;240;p28"/>
          <p:cNvSpPr/>
          <p:nvPr/>
        </p:nvSpPr>
        <p:spPr>
          <a:xfrm>
            <a:off x="1012722" y="2342139"/>
            <a:ext cx="3972232" cy="207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sum=0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n in range(1,11):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sum+=n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 (sum) </a:t>
            </a:r>
            <a:endParaRPr/>
          </a:p>
        </p:txBody>
      </p:sp>
      <p:pic>
        <p:nvPicPr>
          <p:cNvPr id="241" name="Google Shape;24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8378" y="2521712"/>
            <a:ext cx="4121509" cy="1891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/>
          <p:nvPr/>
        </p:nvSpPr>
        <p:spPr>
          <a:xfrm>
            <a:off x="884903" y="1932039"/>
            <a:ext cx="5442155" cy="425097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50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for loop</a:t>
            </a:r>
            <a:endParaRPr/>
          </a:p>
        </p:txBody>
      </p:sp>
      <p:sp>
        <p:nvSpPr>
          <p:cNvPr id="248" name="Google Shape;248;p29"/>
          <p:cNvSpPr txBox="1">
            <a:spLocks noGrp="1"/>
          </p:cNvSpPr>
          <p:nvPr>
            <p:ph type="body" idx="1"/>
          </p:nvPr>
        </p:nvSpPr>
        <p:spPr>
          <a:xfrm>
            <a:off x="276225" y="953316"/>
            <a:ext cx="11077575" cy="5253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Program  to Find the Sum of All Odd and Even Numbers</a:t>
            </a: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1145457" y="2115826"/>
            <a:ext cx="5624053" cy="378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 = int(input("Enter a number: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 = 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odd = 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 in range(num):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if i % 2 == 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even = even + 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odd = odd + 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print(f"Sum of Even are {even} odd are {odd}")</a:t>
            </a:r>
            <a:endParaRPr/>
          </a:p>
        </p:txBody>
      </p:sp>
      <p:pic>
        <p:nvPicPr>
          <p:cNvPr id="250" name="Google Shape;25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7443" y="2464548"/>
            <a:ext cx="52768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/>
          <p:nvPr/>
        </p:nvSpPr>
        <p:spPr>
          <a:xfrm>
            <a:off x="1099930" y="3429001"/>
            <a:ext cx="3617844" cy="146105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619836" y="1112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while loop</a:t>
            </a:r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191121" y="1436834"/>
            <a:ext cx="11809758" cy="155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b="0" i="0">
                <a:latin typeface="Times New Roman"/>
                <a:ea typeface="Times New Roman"/>
                <a:cs typeface="Times New Roman"/>
                <a:sym typeface="Times New Roman"/>
              </a:rPr>
              <a:t>The while loop in Python is used to iterate over a block of code as long as the test expression (condition) is true.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>
                <a:latin typeface="Arial"/>
                <a:ea typeface="Arial"/>
                <a:cs typeface="Arial"/>
                <a:sym typeface="Arial"/>
              </a:rPr>
              <a:t>Condition: We generally use this loop when we don't know the number of times to iterate beforehand.</a:t>
            </a:r>
            <a:endParaRPr sz="2000"/>
          </a:p>
        </p:txBody>
      </p:sp>
      <p:sp>
        <p:nvSpPr>
          <p:cNvPr id="258" name="Google Shape;258;p30"/>
          <p:cNvSpPr txBox="1"/>
          <p:nvPr/>
        </p:nvSpPr>
        <p:spPr>
          <a:xfrm>
            <a:off x="1318591" y="3692445"/>
            <a:ext cx="329316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test_expression: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Body of while</a:t>
            </a:r>
            <a:endParaRPr/>
          </a:p>
        </p:txBody>
      </p:sp>
      <p:sp>
        <p:nvSpPr>
          <p:cNvPr id="259" name="Google Shape;259;p30"/>
          <p:cNvSpPr txBox="1"/>
          <p:nvPr/>
        </p:nvSpPr>
        <p:spPr>
          <a:xfrm>
            <a:off x="6096000" y="3164681"/>
            <a:ext cx="4777409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Program to add natural # numbers up to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= 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i &lt;= 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 = sum + i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 = i+1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print("The sum is", sum)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1665247" y="2190177"/>
            <a:ext cx="7853066" cy="1889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AI and Data Science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PYTHON  PROGRAMMING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Conditions and Loops</a:t>
            </a:r>
          </a:p>
        </p:txBody>
      </p:sp>
      <p:pic>
        <p:nvPicPr>
          <p:cNvPr id="2" name="Picture 2" descr="Vcube software solutions">
            <a:extLst>
              <a:ext uri="{FF2B5EF4-FFF2-40B4-BE49-F238E27FC236}">
                <a16:creationId xmlns:a16="http://schemas.microsoft.com/office/drawing/2014/main" id="{32983123-2483-A087-9CD3-6491C828B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876" y="948123"/>
            <a:ext cx="2087807" cy="107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603B9C-2E99-FF44-397F-7832C2732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42" y="4585071"/>
            <a:ext cx="8457926" cy="132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22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>
            <a:spLocks noGrp="1"/>
          </p:cNvSpPr>
          <p:nvPr>
            <p:ph type="title"/>
          </p:nvPr>
        </p:nvSpPr>
        <p:spPr>
          <a:xfrm>
            <a:off x="642186" y="171933"/>
            <a:ext cx="10515600" cy="123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break , continue statements</a:t>
            </a:r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body" idx="1"/>
          </p:nvPr>
        </p:nvSpPr>
        <p:spPr>
          <a:xfrm>
            <a:off x="463826" y="1497495"/>
            <a:ext cx="11277600" cy="461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In Python, break and continue statements can alter the flow of a normal loop.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Loops iterate over a block of code until the test expression is false, but sometimes we wish to terminate the current iteration or even the whole loop without checking test expression.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</a:t>
            </a:r>
            <a:r>
              <a:rPr lang="en-US" sz="2000">
                <a:highlight>
                  <a:srgbClr val="FFFF00"/>
                </a:highlight>
              </a:rPr>
              <a:t>break</a:t>
            </a:r>
            <a:r>
              <a:rPr lang="en-US" sz="2000"/>
              <a:t> statement terminates the loop containing it.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If the </a:t>
            </a:r>
            <a:r>
              <a:rPr lang="en-US" sz="2000">
                <a:highlight>
                  <a:srgbClr val="FFFF00"/>
                </a:highlight>
              </a:rPr>
              <a:t>break</a:t>
            </a:r>
            <a:r>
              <a:rPr lang="en-US" sz="2000"/>
              <a:t> statement is inside a nested loop (loop inside another loop), the break statement will terminate the innermost loop.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The </a:t>
            </a:r>
            <a:r>
              <a:rPr lang="en-US" sz="2000">
                <a:highlight>
                  <a:srgbClr val="FFFF00"/>
                </a:highlight>
              </a:rPr>
              <a:t>continue</a:t>
            </a:r>
            <a:r>
              <a:rPr lang="en-US" sz="2000"/>
              <a:t> statement is used to skip the rest of the code inside a loop for the current iteration only.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Loop does not terminate but continues with the next iteration.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/>
          <p:nvPr/>
        </p:nvSpPr>
        <p:spPr>
          <a:xfrm>
            <a:off x="6096000" y="1238865"/>
            <a:ext cx="4424515" cy="275794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383459" y="1238865"/>
            <a:ext cx="4424515" cy="29201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with break , continue statements</a:t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801328" y="1401097"/>
            <a:ext cx="3588775" cy="23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 in range(1, 6):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if i == 3: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break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print("Inside the loop.", i)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print("Outside the loop.")</a:t>
            </a:r>
            <a:endParaRPr/>
          </a:p>
        </p:txBody>
      </p:sp>
      <p:sp>
        <p:nvSpPr>
          <p:cNvPr id="274" name="Google Shape;274;p32"/>
          <p:cNvSpPr/>
          <p:nvPr/>
        </p:nvSpPr>
        <p:spPr>
          <a:xfrm>
            <a:off x="6570405" y="1522479"/>
            <a:ext cx="3475703" cy="23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 in range(1, 6):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if i == 3: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continue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print("Inside the loop.", i)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print("Outside the loop.")</a:t>
            </a:r>
            <a:endParaRPr/>
          </a:p>
        </p:txBody>
      </p:sp>
      <p:pic>
        <p:nvPicPr>
          <p:cNvPr id="275" name="Google Shape;27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528" y="4395018"/>
            <a:ext cx="3930446" cy="2088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93780" y="4215792"/>
            <a:ext cx="3500594" cy="2223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>
            <a:spLocks noGrp="1"/>
          </p:cNvSpPr>
          <p:nvPr>
            <p:ph type="title"/>
          </p:nvPr>
        </p:nvSpPr>
        <p:spPr>
          <a:xfrm>
            <a:off x="705678" y="17999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else statement</a:t>
            </a:r>
            <a:endParaRPr/>
          </a:p>
        </p:txBody>
      </p:sp>
      <p:sp>
        <p:nvSpPr>
          <p:cNvPr id="282" name="Google Shape;282;p33"/>
          <p:cNvSpPr txBox="1">
            <a:spLocks noGrp="1"/>
          </p:cNvSpPr>
          <p:nvPr>
            <p:ph type="body" idx="1"/>
          </p:nvPr>
        </p:nvSpPr>
        <p:spPr>
          <a:xfrm>
            <a:off x="276225" y="1576389"/>
            <a:ext cx="11077575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▪"/>
            </a:pP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 </a:t>
            </a:r>
            <a:r>
              <a:rPr lang="en-US" b="0" i="0">
                <a:solidFill>
                  <a:srgbClr val="DC14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statement we can run a block of code once when the condition no longer is true: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3"/>
          <p:cNvSpPr txBox="1"/>
          <p:nvPr/>
        </p:nvSpPr>
        <p:spPr>
          <a:xfrm>
            <a:off x="1364974" y="3076711"/>
            <a:ext cx="4214191" cy="308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1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i &lt; 6: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print(i)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 += 1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print("i is no longer less than 6")</a:t>
            </a:r>
            <a:endParaRPr/>
          </a:p>
        </p:txBody>
      </p:sp>
      <p:sp>
        <p:nvSpPr>
          <p:cNvPr id="284" name="Google Shape;284;p33"/>
          <p:cNvSpPr txBox="1"/>
          <p:nvPr/>
        </p:nvSpPr>
        <p:spPr>
          <a:xfrm>
            <a:off x="6467061" y="3309227"/>
            <a:ext cx="5261113" cy="270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in range(0, 10,2):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print(i, end=" ")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else: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print("\n No Break")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CA90-807B-19D2-D2DC-8F265CF7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 continue pass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FC7E6-0EA0-C8C3-4F39-5788DEB62729}"/>
              </a:ext>
            </a:extLst>
          </p:cNvPr>
          <p:cNvSpPr txBox="1"/>
          <p:nvPr/>
        </p:nvSpPr>
        <p:spPr>
          <a:xfrm>
            <a:off x="1646903" y="3769616"/>
            <a:ext cx="8898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US" sz="160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forces the loop to start at the next iteration, whereas </a:t>
            </a:r>
            <a:r>
              <a:rPr lang="en-US" sz="1600" b="1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US" sz="160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means, “there is no code to execute</a:t>
            </a:r>
            <a:endParaRPr lang="en-I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DC2937-4D55-E60F-A7B9-A82BDBF45966}"/>
              </a:ext>
            </a:extLst>
          </p:cNvPr>
          <p:cNvSpPr txBox="1"/>
          <p:nvPr/>
        </p:nvSpPr>
        <p:spPr>
          <a:xfrm>
            <a:off x="1646903" y="2780607"/>
            <a:ext cx="115460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statement terminates the entire loop iteration, whereas the </a:t>
            </a:r>
            <a:r>
              <a:rPr lang="en-US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statement skips the current iteration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90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>
            <a:spLocks noGrp="1"/>
          </p:cNvSpPr>
          <p:nvPr>
            <p:ph type="title"/>
          </p:nvPr>
        </p:nvSpPr>
        <p:spPr>
          <a:xfrm>
            <a:off x="705678" y="179994"/>
            <a:ext cx="10515600" cy="77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Loops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3FEBD-26E0-7E0C-611F-E23193F24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690" y="798999"/>
            <a:ext cx="11077575" cy="360585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nested loop is a loop inside the body of the outer loop.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inner or outer loop can be any type, such as a while loop or for loop. </a:t>
            </a:r>
          </a:p>
          <a:p>
            <a:pPr marL="1308100" lvl="2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outer for loop can contain a while loop and vice versa.</a:t>
            </a:r>
          </a:p>
          <a:p>
            <a:pPr algn="just"/>
            <a:r>
              <a:rPr lang="en-US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each iteration of the outer loop, inner loop execute all its iteration. </a:t>
            </a:r>
          </a:p>
          <a:p>
            <a:pPr algn="just"/>
            <a:r>
              <a:rPr lang="en-US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each iteration of </a:t>
            </a:r>
            <a:r>
              <a:rPr lang="en-US" sz="2200" b="1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outer loop, </a:t>
            </a:r>
            <a:r>
              <a:rPr lang="en-US" sz="22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inner loop re-start and completes its execution</a:t>
            </a:r>
            <a:r>
              <a:rPr lang="en-US" sz="2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before the outer loop can continue to its next iteration</a:t>
            </a:r>
            <a:r>
              <a:rPr lang="en-US" sz="2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77C21-0BA0-96B8-F64C-2F08F0387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742" y="4404852"/>
            <a:ext cx="3900660" cy="20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1400" y="352154"/>
            <a:ext cx="3571461" cy="1424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8712" y="2189337"/>
            <a:ext cx="9258507" cy="387104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5/4/2023</a:t>
            </a:r>
            <a:endParaRPr/>
          </a:p>
        </p:txBody>
      </p: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>
            <a:spLocks noGrp="1"/>
          </p:cNvSpPr>
          <p:nvPr>
            <p:ph type="title"/>
          </p:nvPr>
        </p:nvSpPr>
        <p:spPr>
          <a:xfrm>
            <a:off x="390939" y="316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line if else statements/ ternary operator</a:t>
            </a:r>
            <a:endParaRPr sz="4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4" name="Google Shape;30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4858" y="4247131"/>
            <a:ext cx="4028661" cy="1569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4858" y="1446139"/>
            <a:ext cx="4028661" cy="2256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DE699-62AF-AB4B-3B91-578CEC48C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197" y="5032085"/>
            <a:ext cx="4670803" cy="738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51ED2F-C3F8-B3CC-D496-EF89CF6EFC81}"/>
              </a:ext>
            </a:extLst>
          </p:cNvPr>
          <p:cNvSpPr txBox="1"/>
          <p:nvPr/>
        </p:nvSpPr>
        <p:spPr>
          <a:xfrm>
            <a:off x="285456" y="1760256"/>
            <a:ext cx="60960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Python ternary operator (or </a:t>
            </a:r>
            <a:r>
              <a:rPr lang="en-US" sz="2400" b="0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conditional operator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tests if a condition is true or false and, depending on the outcome, returns the corresponding value — all in just one line of code.</a:t>
            </a:r>
            <a:endParaRPr lang="en-IN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838200" y="1928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4400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match-case</a:t>
            </a:r>
            <a:endParaRPr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396508" y="1285583"/>
            <a:ext cx="11238901" cy="537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 Python </a:t>
            </a:r>
            <a:r>
              <a:rPr 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match-case</a:t>
            </a:r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statement takes an expression and compares its value to successive patterns given as one or more case blocks. </a:t>
            </a:r>
          </a:p>
          <a:p>
            <a:pPr marL="3429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 basic usage of </a:t>
            </a:r>
            <a:r>
              <a:rPr 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match-case</a:t>
            </a:r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is to compare a variable against one or more values.</a:t>
            </a:r>
          </a:p>
          <a:p>
            <a:pPr marL="3429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200" b="0" i="0" dirty="0">
                <a:solidFill>
                  <a:schemeClr val="tx1"/>
                </a:solidFill>
                <a:effectLst/>
                <a:highlight>
                  <a:srgbClr val="FAFB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encountered in languages like Rust, Scala, and Swift,</a:t>
            </a:r>
            <a:endParaRPr lang="en-US" sz="2200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endParaRPr sz="22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9E5801-9980-E8E9-8C0D-D40650F3B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08" y="3713758"/>
            <a:ext cx="8030696" cy="23911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29EC85-DEBB-F95A-5EE5-F193A7A0AEA6}"/>
              </a:ext>
            </a:extLst>
          </p:cNvPr>
          <p:cNvSpPr txBox="1"/>
          <p:nvPr/>
        </p:nvSpPr>
        <p:spPr>
          <a:xfrm>
            <a:off x="8593768" y="4312018"/>
            <a:ext cx="32934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highlight>
                  <a:srgbClr val="FAFBFC"/>
                </a:highlight>
                <a:latin typeface="__Source_Sans_Pro_fa6df0"/>
              </a:rPr>
              <a:t>Wildcard _: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AFB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wildcard _ is a catch-all when none of the patterns match. </a:t>
            </a:r>
          </a:p>
          <a:p>
            <a:pPr algn="just"/>
            <a:endParaRPr lang="en-US" b="1" dirty="0">
              <a:solidFill>
                <a:schemeClr val="tx1"/>
              </a:solidFill>
              <a:highlight>
                <a:srgbClr val="FAFBFC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AFBFC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no exceptions are raised in such cases.</a:t>
            </a:r>
          </a:p>
        </p:txBody>
      </p:sp>
    </p:spTree>
    <p:extLst>
      <p:ext uri="{BB962C8B-B14F-4D97-AF65-F5344CB8AC3E}">
        <p14:creationId xmlns:p14="http://schemas.microsoft.com/office/powerpoint/2010/main" val="597189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1785</Words>
  <Application>Microsoft Office PowerPoint</Application>
  <PresentationFormat>Widescreen</PresentationFormat>
  <Paragraphs>227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__Source_Sans_Pro_fa6df0</vt:lpstr>
      <vt:lpstr>Arial</vt:lpstr>
      <vt:lpstr>Calibri</vt:lpstr>
      <vt:lpstr>Noto Sans Symbols</vt:lpstr>
      <vt:lpstr>Times New Roman</vt:lpstr>
      <vt:lpstr>Verdana</vt:lpstr>
      <vt:lpstr>Office Theme</vt:lpstr>
      <vt:lpstr>PowerPoint Presentation</vt:lpstr>
      <vt:lpstr>Introduction to Branching and Looping</vt:lpstr>
      <vt:lpstr>Branching Statements</vt:lpstr>
      <vt:lpstr>Branching: if statement</vt:lpstr>
      <vt:lpstr>Example on if statement</vt:lpstr>
      <vt:lpstr>if...else... statement</vt:lpstr>
      <vt:lpstr>Programs on if...else...</vt:lpstr>
      <vt:lpstr>if…elif…else statement (multy-way control)</vt:lpstr>
      <vt:lpstr>Program using if…elif…else statement </vt:lpstr>
      <vt:lpstr>range() </vt:lpstr>
      <vt:lpstr>Loops (Iterative Statements)</vt:lpstr>
      <vt:lpstr>for loop</vt:lpstr>
      <vt:lpstr>Example for loop with range()</vt:lpstr>
      <vt:lpstr>for loop with string</vt:lpstr>
      <vt:lpstr>Example for loop</vt:lpstr>
      <vt:lpstr>Example for loop</vt:lpstr>
      <vt:lpstr>while loop</vt:lpstr>
      <vt:lpstr>PowerPoint Presentation</vt:lpstr>
      <vt:lpstr>break , continue statements</vt:lpstr>
      <vt:lpstr>Example with break , continue statements</vt:lpstr>
      <vt:lpstr>else statement</vt:lpstr>
      <vt:lpstr>break continue pass</vt:lpstr>
      <vt:lpstr>Nested Loops</vt:lpstr>
      <vt:lpstr>PowerPoint Presentation</vt:lpstr>
      <vt:lpstr>Single line if else statements/ ternary operator</vt:lpstr>
      <vt:lpstr>match-case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Branching and Looping</dc:title>
  <dc:creator>HP</dc:creator>
  <cp:lastModifiedBy>Ganapathi Raju</cp:lastModifiedBy>
  <cp:revision>94</cp:revision>
  <dcterms:modified xsi:type="dcterms:W3CDTF">2025-08-20T10:26:13Z</dcterms:modified>
</cp:coreProperties>
</file>