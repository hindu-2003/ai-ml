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55"/>
  </p:notesMasterIdLst>
  <p:sldIdLst>
    <p:sldId id="256" r:id="rId2"/>
    <p:sldId id="259" r:id="rId3"/>
    <p:sldId id="260" r:id="rId4"/>
    <p:sldId id="262" r:id="rId5"/>
    <p:sldId id="263" r:id="rId6"/>
    <p:sldId id="264" r:id="rId7"/>
    <p:sldId id="310" r:id="rId8"/>
    <p:sldId id="311" r:id="rId9"/>
    <p:sldId id="312" r:id="rId10"/>
    <p:sldId id="364" r:id="rId11"/>
    <p:sldId id="366" r:id="rId12"/>
    <p:sldId id="313" r:id="rId13"/>
    <p:sldId id="314" r:id="rId14"/>
    <p:sldId id="315" r:id="rId15"/>
    <p:sldId id="316" r:id="rId16"/>
    <p:sldId id="317" r:id="rId17"/>
    <p:sldId id="318" r:id="rId18"/>
    <p:sldId id="319" r:id="rId19"/>
    <p:sldId id="360" r:id="rId20"/>
    <p:sldId id="321" r:id="rId21"/>
    <p:sldId id="322" r:id="rId22"/>
    <p:sldId id="323" r:id="rId23"/>
    <p:sldId id="324" r:id="rId24"/>
    <p:sldId id="325" r:id="rId25"/>
    <p:sldId id="326" r:id="rId26"/>
    <p:sldId id="327" r:id="rId27"/>
    <p:sldId id="328" r:id="rId28"/>
    <p:sldId id="365" r:id="rId29"/>
    <p:sldId id="331" r:id="rId30"/>
    <p:sldId id="332" r:id="rId31"/>
    <p:sldId id="329" r:id="rId32"/>
    <p:sldId id="333" r:id="rId33"/>
    <p:sldId id="334" r:id="rId34"/>
    <p:sldId id="335" r:id="rId35"/>
    <p:sldId id="336" r:id="rId36"/>
    <p:sldId id="337" r:id="rId37"/>
    <p:sldId id="338" r:id="rId38"/>
    <p:sldId id="339" r:id="rId39"/>
    <p:sldId id="362" r:id="rId40"/>
    <p:sldId id="341" r:id="rId41"/>
    <p:sldId id="342" r:id="rId42"/>
    <p:sldId id="343" r:id="rId43"/>
    <p:sldId id="344" r:id="rId44"/>
    <p:sldId id="345" r:id="rId45"/>
    <p:sldId id="346" r:id="rId46"/>
    <p:sldId id="347" r:id="rId47"/>
    <p:sldId id="348" r:id="rId48"/>
    <p:sldId id="349" r:id="rId49"/>
    <p:sldId id="350" r:id="rId50"/>
    <p:sldId id="363" r:id="rId51"/>
    <p:sldId id="352" r:id="rId52"/>
    <p:sldId id="353" r:id="rId53"/>
    <p:sldId id="354" r:id="rId54"/>
  </p:sldIdLst>
  <p:sldSz cx="12192000" cy="6858000"/>
  <p:notesSz cx="6858000" cy="9144000"/>
  <p:embeddedFontLst>
    <p:embeddedFont>
      <p:font typeface="Cambria" panose="02040503050406030204" pitchFamily="18" charset="0"/>
      <p:regular r:id="rId56"/>
      <p:bold r:id="rId57"/>
      <p:italic r:id="rId58"/>
      <p:boldItalic r:id="rId59"/>
    </p:embeddedFont>
    <p:embeddedFont>
      <p:font typeface="Helvetica Neue" panose="020B0604020202020204"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12B80DA-ABEC-42FC-8F4B-578451FFA5AD}">
  <a:tblStyle styleId="{012B80DA-ABEC-42FC-8F4B-578451FFA5AD}" styleName="Table_0">
    <a:wholeTbl>
      <a:tcTxStyle b="off" i="off">
        <a:font>
          <a:latin typeface="Google Sans"/>
          <a:ea typeface="Google Sans"/>
          <a:cs typeface="Google San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7F2"/>
          </a:solidFill>
        </a:fill>
      </a:tcStyle>
    </a:wholeTbl>
    <a:band1H>
      <a:tcTxStyle/>
      <a:tcStyle>
        <a:tcBdr/>
        <a:fill>
          <a:solidFill>
            <a:srgbClr val="CACDE4"/>
          </a:solidFill>
        </a:fill>
      </a:tcStyle>
    </a:band1H>
    <a:band2H>
      <a:tcTxStyle/>
      <a:tcStyle>
        <a:tcBdr/>
      </a:tcStyle>
    </a:band2H>
    <a:band1V>
      <a:tcTxStyle/>
      <a:tcStyle>
        <a:tcBdr/>
        <a:fill>
          <a:solidFill>
            <a:srgbClr val="CACDE4"/>
          </a:solidFill>
        </a:fill>
      </a:tcStyle>
    </a:band1V>
    <a:band2V>
      <a:tcTxStyle/>
      <a:tcStyle>
        <a:tcBdr/>
      </a:tcStyle>
    </a:band2V>
    <a:lastCol>
      <a:tcTxStyle b="on" i="off">
        <a:font>
          <a:latin typeface="Google Sans"/>
          <a:ea typeface="Google Sans"/>
          <a:cs typeface="Google Sans"/>
        </a:font>
        <a:schemeClr val="lt1"/>
      </a:tcTxStyle>
      <a:tcStyle>
        <a:tcBdr/>
        <a:fill>
          <a:solidFill>
            <a:schemeClr val="accent1"/>
          </a:solidFill>
        </a:fill>
      </a:tcStyle>
    </a:lastCol>
    <a:firstCol>
      <a:tcTxStyle b="on" i="off">
        <a:font>
          <a:latin typeface="Google Sans"/>
          <a:ea typeface="Google Sans"/>
          <a:cs typeface="Google Sans"/>
        </a:font>
        <a:schemeClr val="lt1"/>
      </a:tcTxStyle>
      <a:tcStyle>
        <a:tcBdr/>
        <a:fill>
          <a:solidFill>
            <a:schemeClr val="accent1"/>
          </a:solidFill>
        </a:fill>
      </a:tcStyle>
    </a:firstCol>
    <a:lastRow>
      <a:tcTxStyle b="on" i="off">
        <a:font>
          <a:latin typeface="Google Sans"/>
          <a:ea typeface="Google Sans"/>
          <a:cs typeface="Google San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Google Sans"/>
          <a:ea typeface="Google Sans"/>
          <a:cs typeface="Google San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0"/>
  </p:normalViewPr>
  <p:slideViewPr>
    <p:cSldViewPr snapToGrid="0">
      <p:cViewPr varScale="1">
        <p:scale>
          <a:sx n="78" d="100"/>
          <a:sy n="78" d="100"/>
        </p:scale>
        <p:origin x="816"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9" name="Google Shape;509;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how to obtain data from more than one table.</a:t>
            </a:r>
            <a:endParaRPr/>
          </a:p>
          <a:p>
            <a:pPr marL="0" lvl="0" indent="0" algn="l" rtl="0">
              <a:spcBef>
                <a:spcPts val="0"/>
              </a:spcBef>
              <a:spcAft>
                <a:spcPts val="0"/>
              </a:spcAft>
              <a:buNone/>
            </a:pPr>
            <a:endParaRPr/>
          </a:p>
        </p:txBody>
      </p:sp>
      <p:sp>
        <p:nvSpPr>
          <p:cNvPr id="510" name="Google Shape;510;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9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5" name="Google Shape;825;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7394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8" name="Google Shape;528;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4" name="Google Shape;534;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2" name="Google Shape;552;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5" name="Google Shape;565;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3" name="Google Shape;573;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63475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6" name="Google Shape;586;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how to obtain data from more than one table.</a:t>
            </a:r>
            <a:endParaRPr/>
          </a:p>
          <a:p>
            <a:pPr marL="0" lvl="0" indent="0" algn="l" rtl="0">
              <a:spcBef>
                <a:spcPts val="0"/>
              </a:spcBef>
              <a:spcAft>
                <a:spcPts val="0"/>
              </a:spcAft>
              <a:buNone/>
            </a:pPr>
            <a:endParaRPr/>
          </a:p>
        </p:txBody>
      </p:sp>
      <p:sp>
        <p:nvSpPr>
          <p:cNvPr id="587" name="Google Shape;587;p6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3" name="Google Shape;593;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0" name="Google Shape;600;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7" name="Google Shape;607;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0" name="Google Shape;620;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7" name="Google Shape;627;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4" name="Google Shape;634;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39896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5" name="Google Shape;655;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1" name="Google Shape;661;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1" name="Google Shape;641;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8" name="Google Shape;668;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how to obtain data from more than one table.</a:t>
            </a:r>
            <a:endParaRPr/>
          </a:p>
          <a:p>
            <a:pPr marL="0" lvl="0" indent="0" algn="l" rtl="0">
              <a:spcBef>
                <a:spcPts val="0"/>
              </a:spcBef>
              <a:spcAft>
                <a:spcPts val="0"/>
              </a:spcAft>
              <a:buNone/>
            </a:pPr>
            <a:endParaRPr/>
          </a:p>
        </p:txBody>
      </p:sp>
      <p:sp>
        <p:nvSpPr>
          <p:cNvPr id="669" name="Google Shape;669;p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5" name="Google Shape;675;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2" name="Google Shape;682;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9" name="Google Shape;689;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6" name="Google Shape;696;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3" name="Google Shape;703;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p8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0" name="Google Shape;710;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4786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how to obtain data from more than one table.</a:t>
            </a:r>
            <a:endParaRPr/>
          </a:p>
          <a:p>
            <a:pPr marL="0" lvl="0" indent="0" algn="l" rtl="0">
              <a:spcBef>
                <a:spcPts val="0"/>
              </a:spcBef>
              <a:spcAft>
                <a:spcPts val="0"/>
              </a:spcAft>
              <a:buNone/>
            </a:pPr>
            <a:endParaRPr/>
          </a:p>
        </p:txBody>
      </p:sp>
      <p:sp>
        <p:nvSpPr>
          <p:cNvPr id="724" name="Google Shape;724;p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p8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0" name="Google Shape;730;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1" name="Google Shape;741;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3" name="Google Shape;753;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0" name="Google Shape;760;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9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0" name="Google Shape;770;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p9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2" name="Google Shape;782;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p9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9" name="Google Shape;789;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9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9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6" name="Google Shape;806;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03068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p9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9" name="Google Shape;819;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9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5" name="Google Shape;825;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9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1" name="Google Shape;831;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nly Dependency">
  <p:cSld name="Only Dependency">
    <p:spTree>
      <p:nvGrpSpPr>
        <p:cNvPr id="1" name="Shape 17"/>
        <p:cNvGrpSpPr/>
        <p:nvPr/>
      </p:nvGrpSpPr>
      <p:grpSpPr>
        <a:xfrm>
          <a:off x="0" y="0"/>
          <a:ext cx="0" cy="0"/>
          <a:chOff x="0" y="0"/>
          <a:chExt cx="0" cy="0"/>
        </a:xfrm>
      </p:grpSpPr>
      <p:sp>
        <p:nvSpPr>
          <p:cNvPr id="18" name="Google Shape;18;p2"/>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txBox="1">
            <a:spLocks noGrp="1"/>
          </p:cNvSpPr>
          <p:nvPr>
            <p:ph type="body" idx="1"/>
          </p:nvPr>
        </p:nvSpPr>
        <p:spPr>
          <a:xfrm>
            <a:off x="276224" y="1218921"/>
            <a:ext cx="11520000" cy="4968000"/>
          </a:xfrm>
          <a:prstGeom prst="rect">
            <a:avLst/>
          </a:prstGeom>
          <a:noFill/>
          <a:ln>
            <a:noFill/>
          </a:ln>
        </p:spPr>
        <p:txBody>
          <a:bodyPr spcFirstLastPara="1" wrap="square" lIns="91425" tIns="45700" rIns="91425" bIns="45700" anchor="t" anchorCtr="0">
            <a:normAutofit/>
          </a:bodyPr>
          <a:lstStyle>
            <a:lvl1pPr marL="457200" lvl="0" indent="-228600" algn="just">
              <a:lnSpc>
                <a:spcPct val="150000"/>
              </a:lnSpc>
              <a:spcBef>
                <a:spcPts val="1200"/>
              </a:spcBef>
              <a:spcAft>
                <a:spcPts val="0"/>
              </a:spcAft>
              <a:buClr>
                <a:schemeClr val="dk1"/>
              </a:buClr>
              <a:buSzPts val="2000"/>
              <a:buNone/>
              <a:defRPr b="1">
                <a:solidFill>
                  <a:schemeClr val="dk1"/>
                </a:solidFill>
              </a:defRPr>
            </a:lvl1pPr>
            <a:lvl2pPr marL="914400" lvl="1" indent="-228600" algn="l">
              <a:lnSpc>
                <a:spcPct val="90000"/>
              </a:lnSpc>
              <a:spcBef>
                <a:spcPts val="600"/>
              </a:spcBef>
              <a:spcAft>
                <a:spcPts val="0"/>
              </a:spcAft>
              <a:buClr>
                <a:schemeClr val="accent6"/>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heory WITHOUT Sub-Points">
  <p:cSld name="Theory WITHOUT Sub-Points">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276224" y="1215010"/>
            <a:ext cx="11520000" cy="4968000"/>
          </a:xfrm>
          <a:prstGeom prst="rect">
            <a:avLst/>
          </a:prstGeom>
          <a:noFill/>
          <a:ln>
            <a:noFill/>
          </a:ln>
        </p:spPr>
        <p:txBody>
          <a:bodyPr spcFirstLastPara="1" wrap="square" lIns="91425" tIns="45700" rIns="91425" bIns="45700" anchor="t" anchorCtr="0">
            <a:normAutofit/>
          </a:bodyPr>
          <a:lstStyle>
            <a:lvl1pPr marL="457200" lvl="0" indent="-355600" algn="l">
              <a:lnSpc>
                <a:spcPct val="150000"/>
              </a:lnSpc>
              <a:spcBef>
                <a:spcPts val="1200"/>
              </a:spcBef>
              <a:spcAft>
                <a:spcPts val="0"/>
              </a:spcAft>
              <a:buClr>
                <a:schemeClr val="dk1"/>
              </a:buClr>
              <a:buSzPts val="2000"/>
              <a:buFont typeface="Noto Sans Symbols"/>
              <a:buChar char="▪"/>
              <a:defRPr>
                <a:solidFill>
                  <a:schemeClr val="dk1"/>
                </a:solidFill>
              </a:defRPr>
            </a:lvl1pPr>
            <a:lvl2pPr marL="914400" lvl="1" indent="-342900" algn="l">
              <a:lnSpc>
                <a:spcPct val="90000"/>
              </a:lnSpc>
              <a:spcBef>
                <a:spcPts val="600"/>
              </a:spcBef>
              <a:spcAft>
                <a:spcPts val="0"/>
              </a:spcAft>
              <a:buClr>
                <a:schemeClr val="accent6"/>
              </a:buClr>
              <a:buSzPts val="1800"/>
              <a:buFont typeface="Noto Sans Symbols"/>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 Double Line" type="secHead">
  <p:cSld name="SECTION_HEADER">
    <p:spTree>
      <p:nvGrpSpPr>
        <p:cNvPr id="1" name="Shape 34"/>
        <p:cNvGrpSpPr/>
        <p:nvPr/>
      </p:nvGrpSpPr>
      <p:grpSpPr>
        <a:xfrm>
          <a:off x="0" y="0"/>
          <a:ext cx="0" cy="0"/>
          <a:chOff x="0" y="0"/>
          <a:chExt cx="0" cy="0"/>
        </a:xfrm>
      </p:grpSpPr>
      <p:pic>
        <p:nvPicPr>
          <p:cNvPr id="35" name="Google Shape;35;p6"/>
          <p:cNvPicPr preferRelativeResize="0"/>
          <p:nvPr/>
        </p:nvPicPr>
        <p:blipFill rotWithShape="1">
          <a:blip r:embed="rId2">
            <a:alphaModFix/>
          </a:blip>
          <a:srcRect l="5667" t="13448" r="5666" b="12021"/>
          <a:stretch/>
        </p:blipFill>
        <p:spPr>
          <a:xfrm>
            <a:off x="0" y="0"/>
            <a:ext cx="12192000" cy="6858000"/>
          </a:xfrm>
          <a:prstGeom prst="rect">
            <a:avLst/>
          </a:prstGeom>
          <a:noFill/>
          <a:ln>
            <a:noFill/>
          </a:ln>
        </p:spPr>
      </p:pic>
      <p:sp>
        <p:nvSpPr>
          <p:cNvPr id="36" name="Google Shape;36;p6"/>
          <p:cNvSpPr>
            <a:spLocks noGrp="1"/>
          </p:cNvSpPr>
          <p:nvPr>
            <p:ph type="title"/>
          </p:nvPr>
        </p:nvSpPr>
        <p:spPr>
          <a:xfrm>
            <a:off x="3704493" y="1370135"/>
            <a:ext cx="4783015" cy="685800"/>
          </a:xfrm>
          <a:prstGeom prst="roundRect">
            <a:avLst>
              <a:gd name="adj" fmla="val 16667"/>
            </a:avLst>
          </a:prstGeom>
          <a:solidFill>
            <a:srgbClr val="013CB2"/>
          </a:solid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2400"/>
              <a:buFont typeface="Arial"/>
              <a:buNone/>
              <a:defRPr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
          <p:cNvSpPr txBox="1">
            <a:spLocks noGrp="1"/>
          </p:cNvSpPr>
          <p:nvPr>
            <p:ph type="body" idx="1"/>
          </p:nvPr>
        </p:nvSpPr>
        <p:spPr>
          <a:xfrm>
            <a:off x="2564423" y="2480164"/>
            <a:ext cx="7063155" cy="2110153"/>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200"/>
              </a:spcBef>
              <a:spcAft>
                <a:spcPts val="0"/>
              </a:spcAft>
              <a:buClr>
                <a:schemeClr val="dk1"/>
              </a:buClr>
              <a:buSzPts val="5400"/>
              <a:buNone/>
              <a:defRPr sz="5400">
                <a:solidFill>
                  <a:schemeClr val="dk1"/>
                </a:solidFill>
              </a:defRPr>
            </a:lvl1pPr>
            <a:lvl2pPr marL="914400" lvl="1" indent="-228600" algn="l">
              <a:lnSpc>
                <a:spcPct val="90000"/>
              </a:lnSpc>
              <a:spcBef>
                <a:spcPts val="6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 Single line">
  <p:cSld name="Section Header - Single line">
    <p:spTree>
      <p:nvGrpSpPr>
        <p:cNvPr id="1" name="Shape 38"/>
        <p:cNvGrpSpPr/>
        <p:nvPr/>
      </p:nvGrpSpPr>
      <p:grpSpPr>
        <a:xfrm>
          <a:off x="0" y="0"/>
          <a:ext cx="0" cy="0"/>
          <a:chOff x="0" y="0"/>
          <a:chExt cx="0" cy="0"/>
        </a:xfrm>
      </p:grpSpPr>
      <p:pic>
        <p:nvPicPr>
          <p:cNvPr id="39" name="Google Shape;39;p7"/>
          <p:cNvPicPr preferRelativeResize="0"/>
          <p:nvPr/>
        </p:nvPicPr>
        <p:blipFill rotWithShape="1">
          <a:blip r:embed="rId2">
            <a:alphaModFix/>
          </a:blip>
          <a:srcRect l="7263" t="12489" r="5773"/>
          <a:stretch/>
        </p:blipFill>
        <p:spPr>
          <a:xfrm>
            <a:off x="0" y="1"/>
            <a:ext cx="12192001" cy="6857999"/>
          </a:xfrm>
          <a:prstGeom prst="rect">
            <a:avLst/>
          </a:prstGeom>
          <a:noFill/>
          <a:ln>
            <a:noFill/>
          </a:ln>
        </p:spPr>
      </p:pic>
      <p:sp>
        <p:nvSpPr>
          <p:cNvPr id="40" name="Google Shape;40;p7"/>
          <p:cNvSpPr>
            <a:spLocks noGrp="1"/>
          </p:cNvSpPr>
          <p:nvPr>
            <p:ph type="title"/>
          </p:nvPr>
        </p:nvSpPr>
        <p:spPr>
          <a:xfrm>
            <a:off x="2810609" y="2535115"/>
            <a:ext cx="6570783" cy="1787770"/>
          </a:xfrm>
          <a:prstGeom prst="roundRect">
            <a:avLst>
              <a:gd name="adj" fmla="val 16667"/>
            </a:avLst>
          </a:prstGeom>
          <a:solidFill>
            <a:srgbClr val="013CB2"/>
          </a:solid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2400"/>
              <a:buFont typeface="Arial"/>
              <a:buNone/>
              <a:defRPr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heory with Sub-Points">
  <p:cSld name="2_Theory with Sub-Points">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8"/>
          <p:cNvSpPr/>
          <p:nvPr/>
        </p:nvSpPr>
        <p:spPr>
          <a:xfrm>
            <a:off x="425450" y="5772150"/>
            <a:ext cx="11766550" cy="698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 name="Google Shape;44;p8"/>
          <p:cNvSpPr txBox="1">
            <a:spLocks noGrp="1"/>
          </p:cNvSpPr>
          <p:nvPr>
            <p:ph type="body" idx="1"/>
          </p:nvPr>
        </p:nvSpPr>
        <p:spPr>
          <a:xfrm>
            <a:off x="1294900" y="1159461"/>
            <a:ext cx="9602201" cy="5401238"/>
          </a:xfrm>
          <a:prstGeom prst="rect">
            <a:avLst/>
          </a:prstGeom>
          <a:solidFill>
            <a:srgbClr val="345A7D"/>
          </a:solid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2000"/>
              <a:buFont typeface="Noto Sans Symbols"/>
              <a:buNone/>
              <a:defRPr/>
            </a:lvl1pPr>
            <a:lvl2pPr marL="914400" lvl="1" indent="-342900" algn="l">
              <a:lnSpc>
                <a:spcPct val="90000"/>
              </a:lnSpc>
              <a:spcBef>
                <a:spcPts val="600"/>
              </a:spcBef>
              <a:spcAft>
                <a:spcPts val="0"/>
              </a:spcAft>
              <a:buClr>
                <a:schemeClr val="accent6"/>
              </a:buClr>
              <a:buSzPts val="1800"/>
              <a:buFont typeface="Noto Sans Symbols"/>
              <a:buChar char="▪"/>
              <a:defRPr>
                <a:solidFill>
                  <a:schemeClr val="accent6"/>
                </a:solidFill>
              </a:defRPr>
            </a:lvl2pPr>
            <a:lvl3pPr marL="1371600" lvl="2" indent="-342900" algn="l">
              <a:lnSpc>
                <a:spcPct val="90000"/>
              </a:lnSpc>
              <a:spcBef>
                <a:spcPts val="500"/>
              </a:spcBef>
              <a:spcAft>
                <a:spcPts val="0"/>
              </a:spcAft>
              <a:buClr>
                <a:schemeClr val="dk1"/>
              </a:buClr>
              <a:buSzPts val="1800"/>
              <a:buChar char="▪"/>
              <a:defRPr>
                <a:solidFill>
                  <a:schemeClr val="dk1"/>
                </a:solidFill>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eory with Sub-Points">
  <p:cSld name="Theory with Sub-Points">
    <p:spTree>
      <p:nvGrpSpPr>
        <p:cNvPr id="1" name="Shape 45"/>
        <p:cNvGrpSpPr/>
        <p:nvPr/>
      </p:nvGrpSpPr>
      <p:grpSpPr>
        <a:xfrm>
          <a:off x="0" y="0"/>
          <a:ext cx="0" cy="0"/>
          <a:chOff x="0" y="0"/>
          <a:chExt cx="0" cy="0"/>
        </a:xfrm>
      </p:grpSpPr>
      <p:sp>
        <p:nvSpPr>
          <p:cNvPr id="46" name="Google Shape;46;p9"/>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9"/>
          <p:cNvSpPr txBox="1">
            <a:spLocks noGrp="1"/>
          </p:cNvSpPr>
          <p:nvPr>
            <p:ph type="body" idx="1"/>
          </p:nvPr>
        </p:nvSpPr>
        <p:spPr>
          <a:xfrm>
            <a:off x="276224" y="1209535"/>
            <a:ext cx="11520000" cy="4968000"/>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200"/>
              </a:spcBef>
              <a:spcAft>
                <a:spcPts val="0"/>
              </a:spcAft>
              <a:buClr>
                <a:schemeClr val="dk1"/>
              </a:buClr>
              <a:buSzPts val="2000"/>
              <a:buFont typeface="Noto Sans Symbols"/>
              <a:buChar char="▪"/>
              <a:defRPr/>
            </a:lvl1pPr>
            <a:lvl2pPr marL="914400" lvl="1" indent="-342900" algn="l">
              <a:lnSpc>
                <a:spcPct val="90000"/>
              </a:lnSpc>
              <a:spcBef>
                <a:spcPts val="600"/>
              </a:spcBef>
              <a:spcAft>
                <a:spcPts val="0"/>
              </a:spcAft>
              <a:buClr>
                <a:schemeClr val="accent6"/>
              </a:buClr>
              <a:buSzPts val="1800"/>
              <a:buFont typeface="Noto Sans Symbols"/>
              <a:buChar char="▪"/>
              <a:defRPr>
                <a:solidFill>
                  <a:schemeClr val="accent6"/>
                </a:solidFill>
              </a:defRPr>
            </a:lvl2pPr>
            <a:lvl3pPr marL="1371600" lvl="2" indent="-342900" algn="l">
              <a:lnSpc>
                <a:spcPct val="90000"/>
              </a:lnSpc>
              <a:spcBef>
                <a:spcPts val="500"/>
              </a:spcBef>
              <a:spcAft>
                <a:spcPts val="0"/>
              </a:spcAft>
              <a:buClr>
                <a:schemeClr val="dk1"/>
              </a:buClr>
              <a:buSzPts val="1800"/>
              <a:buChar char="▪"/>
              <a:defRPr>
                <a:solidFill>
                  <a:schemeClr val="dk1"/>
                </a:solidFill>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ependency &amp; Question">
  <p:cSld name="Dependency &amp; Question">
    <p:spTree>
      <p:nvGrpSpPr>
        <p:cNvPr id="1" name="Shape 48"/>
        <p:cNvGrpSpPr/>
        <p:nvPr/>
      </p:nvGrpSpPr>
      <p:grpSpPr>
        <a:xfrm>
          <a:off x="0" y="0"/>
          <a:ext cx="0" cy="0"/>
          <a:chOff x="0" y="0"/>
          <a:chExt cx="0" cy="0"/>
        </a:xfrm>
      </p:grpSpPr>
      <p:sp>
        <p:nvSpPr>
          <p:cNvPr id="49" name="Google Shape;49;p10"/>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10"/>
          <p:cNvSpPr txBox="1">
            <a:spLocks noGrp="1"/>
          </p:cNvSpPr>
          <p:nvPr>
            <p:ph type="body" idx="1"/>
          </p:nvPr>
        </p:nvSpPr>
        <p:spPr>
          <a:xfrm>
            <a:off x="275493" y="1206593"/>
            <a:ext cx="5198207" cy="4968000"/>
          </a:xfrm>
          <a:prstGeom prst="rect">
            <a:avLst/>
          </a:prstGeom>
          <a:noFill/>
          <a:ln>
            <a:noFill/>
          </a:ln>
        </p:spPr>
        <p:txBody>
          <a:bodyPr spcFirstLastPara="1" wrap="square" lIns="91425" tIns="45700" rIns="91425" bIns="45700" anchor="t" anchorCtr="0">
            <a:normAutofit/>
          </a:bodyPr>
          <a:lstStyle>
            <a:lvl1pPr marL="457200" lvl="0" indent="-228600" algn="just">
              <a:lnSpc>
                <a:spcPct val="150000"/>
              </a:lnSpc>
              <a:spcBef>
                <a:spcPts val="1200"/>
              </a:spcBef>
              <a:spcAft>
                <a:spcPts val="0"/>
              </a:spcAft>
              <a:buClr>
                <a:schemeClr val="dk1"/>
              </a:buClr>
              <a:buSzPts val="1800"/>
              <a:buNone/>
              <a:defRPr sz="1800" b="0">
                <a:solidFill>
                  <a:schemeClr val="dk1"/>
                </a:solidFill>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0"/>
          <p:cNvSpPr txBox="1">
            <a:spLocks noGrp="1"/>
          </p:cNvSpPr>
          <p:nvPr>
            <p:ph type="body" idx="2"/>
          </p:nvPr>
        </p:nvSpPr>
        <p:spPr>
          <a:xfrm>
            <a:off x="5721350" y="1206593"/>
            <a:ext cx="6194425" cy="4968000"/>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200"/>
              </a:spcBef>
              <a:spcAft>
                <a:spcPts val="0"/>
              </a:spcAft>
              <a:buClr>
                <a:schemeClr val="dk1"/>
              </a:buClr>
              <a:buSzPts val="2000"/>
              <a:buNone/>
              <a:defRPr/>
            </a:lvl1pPr>
            <a:lvl2pPr marL="914400" lvl="1" indent="-342900" algn="l">
              <a:lnSpc>
                <a:spcPct val="150000"/>
              </a:lnSpc>
              <a:spcBef>
                <a:spcPts val="600"/>
              </a:spcBef>
              <a:spcAft>
                <a:spcPts val="0"/>
              </a:spcAft>
              <a:buClr>
                <a:schemeClr val="accent6"/>
              </a:buClr>
              <a:buSzPts val="1800"/>
              <a:buFont typeface="Arial"/>
              <a:buAutoNum type="arabicPeriod"/>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estion &amp; Regular Options">
  <p:cSld name="Question &amp; Regular Options">
    <p:spTree>
      <p:nvGrpSpPr>
        <p:cNvPr id="1" name="Shape 52"/>
        <p:cNvGrpSpPr/>
        <p:nvPr/>
      </p:nvGrpSpPr>
      <p:grpSpPr>
        <a:xfrm>
          <a:off x="0" y="0"/>
          <a:ext cx="0" cy="0"/>
          <a:chOff x="0" y="0"/>
          <a:chExt cx="0" cy="0"/>
        </a:xfrm>
      </p:grpSpPr>
      <p:sp>
        <p:nvSpPr>
          <p:cNvPr id="53" name="Google Shape;53;p11"/>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1"/>
          <p:cNvSpPr txBox="1">
            <a:spLocks noGrp="1"/>
          </p:cNvSpPr>
          <p:nvPr>
            <p:ph type="body" idx="1"/>
          </p:nvPr>
        </p:nvSpPr>
        <p:spPr>
          <a:xfrm>
            <a:off x="275492" y="1146362"/>
            <a:ext cx="11520000" cy="132556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Clr>
                <a:schemeClr val="accent1"/>
              </a:buClr>
              <a:buSzPts val="2000"/>
              <a:buNone/>
              <a:defRPr sz="2000" b="1">
                <a:solidFill>
                  <a:schemeClr val="accent1"/>
                </a:solidFill>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1"/>
          <p:cNvSpPr txBox="1">
            <a:spLocks noGrp="1"/>
          </p:cNvSpPr>
          <p:nvPr>
            <p:ph type="body" idx="2"/>
          </p:nvPr>
        </p:nvSpPr>
        <p:spPr>
          <a:xfrm>
            <a:off x="276224" y="2693921"/>
            <a:ext cx="11520000" cy="34833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200"/>
              </a:spcBef>
              <a:spcAft>
                <a:spcPts val="0"/>
              </a:spcAft>
              <a:buClr>
                <a:schemeClr val="dk1"/>
              </a:buClr>
              <a:buSzPts val="1800"/>
              <a:buFont typeface="Arial"/>
              <a:buAutoNum type="arabicPeriod"/>
              <a:defRPr sz="1800" b="0">
                <a:solidFill>
                  <a:schemeClr val="dk1"/>
                </a:solidFill>
              </a:defRPr>
            </a:lvl1pPr>
            <a:lvl2pPr marL="914400" lvl="1" indent="-228600" algn="l">
              <a:lnSpc>
                <a:spcPct val="90000"/>
              </a:lnSpc>
              <a:spcBef>
                <a:spcPts val="600"/>
              </a:spcBef>
              <a:spcAft>
                <a:spcPts val="0"/>
              </a:spcAft>
              <a:buClr>
                <a:schemeClr val="accent6"/>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GRE One-Blank">
  <p:cSld name="GRE One-Blank">
    <p:spTree>
      <p:nvGrpSpPr>
        <p:cNvPr id="1" name="Shape 56"/>
        <p:cNvGrpSpPr/>
        <p:nvPr/>
      </p:nvGrpSpPr>
      <p:grpSpPr>
        <a:xfrm>
          <a:off x="0" y="0"/>
          <a:ext cx="0" cy="0"/>
          <a:chOff x="0" y="0"/>
          <a:chExt cx="0" cy="0"/>
        </a:xfrm>
      </p:grpSpPr>
      <p:sp>
        <p:nvSpPr>
          <p:cNvPr id="57" name="Google Shape;57;p12"/>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2"/>
          <p:cNvSpPr txBox="1">
            <a:spLocks noGrp="1"/>
          </p:cNvSpPr>
          <p:nvPr>
            <p:ph type="body" idx="1"/>
          </p:nvPr>
        </p:nvSpPr>
        <p:spPr>
          <a:xfrm>
            <a:off x="275492" y="1217540"/>
            <a:ext cx="11520000" cy="1325562"/>
          </a:xfrm>
          <a:prstGeom prst="rect">
            <a:avLst/>
          </a:prstGeom>
          <a:noFill/>
          <a:ln>
            <a:noFill/>
          </a:ln>
        </p:spPr>
        <p:txBody>
          <a:bodyPr spcFirstLastPara="1" wrap="square" lIns="91425" tIns="45700" rIns="91425" bIns="45700" anchor="ctr" anchorCtr="0">
            <a:normAutofit/>
          </a:bodyPr>
          <a:lstStyle>
            <a:lvl1pPr marL="457200" lvl="0" indent="-228600" algn="just">
              <a:lnSpc>
                <a:spcPct val="90000"/>
              </a:lnSpc>
              <a:spcBef>
                <a:spcPts val="1200"/>
              </a:spcBef>
              <a:spcAft>
                <a:spcPts val="0"/>
              </a:spcAft>
              <a:buClr>
                <a:schemeClr val="dk1"/>
              </a:buClr>
              <a:buSzPts val="2000"/>
              <a:buNone/>
              <a:defRPr sz="2000" b="0">
                <a:solidFill>
                  <a:schemeClr val="dk1"/>
                </a:solidFill>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GRE Two-Blank">
  <p:cSld name="GRE Two-Blank">
    <p:spTree>
      <p:nvGrpSpPr>
        <p:cNvPr id="1" name="Shape 59"/>
        <p:cNvGrpSpPr/>
        <p:nvPr/>
      </p:nvGrpSpPr>
      <p:grpSpPr>
        <a:xfrm>
          <a:off x="0" y="0"/>
          <a:ext cx="0" cy="0"/>
          <a:chOff x="0" y="0"/>
          <a:chExt cx="0" cy="0"/>
        </a:xfrm>
      </p:grpSpPr>
      <p:sp>
        <p:nvSpPr>
          <p:cNvPr id="60" name="Google Shape;60;p13"/>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3"/>
          <p:cNvSpPr txBox="1">
            <a:spLocks noGrp="1"/>
          </p:cNvSpPr>
          <p:nvPr>
            <p:ph type="body" idx="1"/>
          </p:nvPr>
        </p:nvSpPr>
        <p:spPr>
          <a:xfrm>
            <a:off x="275492" y="1168263"/>
            <a:ext cx="11520000" cy="1718040"/>
          </a:xfrm>
          <a:prstGeom prst="rect">
            <a:avLst/>
          </a:prstGeom>
          <a:noFill/>
          <a:ln>
            <a:noFill/>
          </a:ln>
        </p:spPr>
        <p:txBody>
          <a:bodyPr spcFirstLastPara="1" wrap="square" lIns="91425" tIns="45700" rIns="91425" bIns="45700" anchor="ctr" anchorCtr="0">
            <a:normAutofit/>
          </a:bodyPr>
          <a:lstStyle>
            <a:lvl1pPr marL="457200" lvl="0" indent="-228600" algn="just">
              <a:lnSpc>
                <a:spcPct val="90000"/>
              </a:lnSpc>
              <a:spcBef>
                <a:spcPts val="1200"/>
              </a:spcBef>
              <a:spcAft>
                <a:spcPts val="0"/>
              </a:spcAft>
              <a:buClr>
                <a:schemeClr val="dk1"/>
              </a:buClr>
              <a:buSzPts val="2000"/>
              <a:buNone/>
              <a:defRPr sz="2000" b="0">
                <a:solidFill>
                  <a:schemeClr val="dk1"/>
                </a:solidFill>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GRE Three-Blank">
  <p:cSld name="GRE Three-Blank">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4"/>
          <p:cNvSpPr txBox="1">
            <a:spLocks noGrp="1"/>
          </p:cNvSpPr>
          <p:nvPr>
            <p:ph type="body" idx="1"/>
          </p:nvPr>
        </p:nvSpPr>
        <p:spPr>
          <a:xfrm>
            <a:off x="275492" y="1179212"/>
            <a:ext cx="11520000" cy="2122486"/>
          </a:xfrm>
          <a:prstGeom prst="rect">
            <a:avLst/>
          </a:prstGeom>
          <a:noFill/>
          <a:ln>
            <a:noFill/>
          </a:ln>
        </p:spPr>
        <p:txBody>
          <a:bodyPr spcFirstLastPara="1" wrap="square" lIns="91425" tIns="45700" rIns="91425" bIns="45700" anchor="ctr" anchorCtr="0">
            <a:normAutofit/>
          </a:bodyPr>
          <a:lstStyle>
            <a:lvl1pPr marL="457200" lvl="0" indent="-228600" algn="just">
              <a:lnSpc>
                <a:spcPct val="90000"/>
              </a:lnSpc>
              <a:spcBef>
                <a:spcPts val="1200"/>
              </a:spcBef>
              <a:spcAft>
                <a:spcPts val="0"/>
              </a:spcAft>
              <a:buClr>
                <a:schemeClr val="dk1"/>
              </a:buClr>
              <a:buSzPts val="2000"/>
              <a:buNone/>
              <a:defRPr sz="2000" b="0">
                <a:solidFill>
                  <a:schemeClr val="dk1"/>
                </a:solidFill>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RE Sentence Equivalence">
  <p:cSld name="GRE Sentence Equivalence">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txBox="1">
            <a:spLocks noGrp="1"/>
          </p:cNvSpPr>
          <p:nvPr>
            <p:ph type="body" idx="1"/>
          </p:nvPr>
        </p:nvSpPr>
        <p:spPr>
          <a:xfrm>
            <a:off x="275492" y="1190168"/>
            <a:ext cx="11520000" cy="1325562"/>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200"/>
              </a:spcBef>
              <a:spcAft>
                <a:spcPts val="0"/>
              </a:spcAft>
              <a:buClr>
                <a:schemeClr val="dk1"/>
              </a:buClr>
              <a:buSzPts val="2000"/>
              <a:buNone/>
              <a:defRPr sz="2000" b="0">
                <a:solidFill>
                  <a:schemeClr val="dk1"/>
                </a:solidFill>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5"/>
          <p:cNvSpPr txBox="1">
            <a:spLocks noGrp="1"/>
          </p:cNvSpPr>
          <p:nvPr>
            <p:ph type="body" idx="2"/>
          </p:nvPr>
        </p:nvSpPr>
        <p:spPr>
          <a:xfrm>
            <a:off x="302867" y="2684545"/>
            <a:ext cx="3428999" cy="33176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200"/>
              </a:spcBef>
              <a:spcAft>
                <a:spcPts val="0"/>
              </a:spcAft>
              <a:buClr>
                <a:srgbClr val="013CB2"/>
              </a:buClr>
              <a:buSzPts val="1800"/>
              <a:buFont typeface="Arial"/>
              <a:buAutoNum type="arabicPeriod"/>
              <a:defRPr sz="1800" b="0">
                <a:solidFill>
                  <a:srgbClr val="013CB2"/>
                </a:solidFill>
              </a:defRPr>
            </a:lvl1pPr>
            <a:lvl2pPr marL="914400" lvl="1" indent="-228600" algn="l">
              <a:lnSpc>
                <a:spcPct val="90000"/>
              </a:lnSpc>
              <a:spcBef>
                <a:spcPts val="600"/>
              </a:spcBef>
              <a:spcAft>
                <a:spcPts val="0"/>
              </a:spcAft>
              <a:buClr>
                <a:schemeClr val="accent6"/>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ant Comparison">
  <p:cSld name="Quant Comparison">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6"/>
          <p:cNvSpPr txBox="1">
            <a:spLocks noGrp="1"/>
          </p:cNvSpPr>
          <p:nvPr>
            <p:ph type="body" idx="1"/>
          </p:nvPr>
        </p:nvSpPr>
        <p:spPr>
          <a:xfrm>
            <a:off x="275492" y="1168264"/>
            <a:ext cx="11520000" cy="939371"/>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200"/>
              </a:spcBef>
              <a:spcAft>
                <a:spcPts val="0"/>
              </a:spcAft>
              <a:buClr>
                <a:srgbClr val="013CB2"/>
              </a:buClr>
              <a:buSzPts val="2000"/>
              <a:buNone/>
              <a:defRPr sz="2000" b="1">
                <a:solidFill>
                  <a:srgbClr val="013CB2"/>
                </a:solidFill>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16"/>
          <p:cNvSpPr txBox="1">
            <a:spLocks noGrp="1"/>
          </p:cNvSpPr>
          <p:nvPr>
            <p:ph type="body" idx="2"/>
          </p:nvPr>
        </p:nvSpPr>
        <p:spPr>
          <a:xfrm>
            <a:off x="1286733" y="2569852"/>
            <a:ext cx="4604112" cy="1624349"/>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200"/>
              </a:spcBef>
              <a:spcAft>
                <a:spcPts val="0"/>
              </a:spcAft>
              <a:buClr>
                <a:schemeClr val="dk1"/>
              </a:buClr>
              <a:buSzPts val="1800"/>
              <a:buFont typeface="Arial"/>
              <a:buNone/>
              <a:defRPr sz="1800" b="0">
                <a:solidFill>
                  <a:schemeClr val="dk1"/>
                </a:solidFill>
              </a:defRPr>
            </a:lvl1pPr>
            <a:lvl2pPr marL="914400" lvl="1" indent="-228600" algn="l">
              <a:lnSpc>
                <a:spcPct val="90000"/>
              </a:lnSpc>
              <a:spcBef>
                <a:spcPts val="600"/>
              </a:spcBef>
              <a:spcAft>
                <a:spcPts val="0"/>
              </a:spcAft>
              <a:buClr>
                <a:schemeClr val="accent6"/>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73" name="Google Shape;73;p16"/>
          <p:cNvCxnSpPr/>
          <p:nvPr/>
        </p:nvCxnSpPr>
        <p:spPr>
          <a:xfrm>
            <a:off x="6035492" y="2267706"/>
            <a:ext cx="0" cy="1926495"/>
          </a:xfrm>
          <a:prstGeom prst="straightConnector1">
            <a:avLst/>
          </a:prstGeom>
          <a:noFill/>
          <a:ln w="28575" cap="flat" cmpd="sng">
            <a:solidFill>
              <a:srgbClr val="AEABAB"/>
            </a:solidFill>
            <a:prstDash val="solid"/>
            <a:miter lim="800000"/>
            <a:headEnd type="none" w="sm" len="sm"/>
            <a:tailEnd type="none" w="sm" len="sm"/>
          </a:ln>
        </p:spPr>
      </p:cxnSp>
      <p:sp>
        <p:nvSpPr>
          <p:cNvPr id="74" name="Google Shape;74;p16"/>
          <p:cNvSpPr txBox="1"/>
          <p:nvPr/>
        </p:nvSpPr>
        <p:spPr>
          <a:xfrm>
            <a:off x="2123405" y="2182988"/>
            <a:ext cx="293076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u="sng">
                <a:solidFill>
                  <a:schemeClr val="dk1"/>
                </a:solidFill>
                <a:latin typeface="Arial"/>
                <a:ea typeface="Arial"/>
                <a:cs typeface="Arial"/>
                <a:sym typeface="Arial"/>
              </a:rPr>
              <a:t>Quantity A</a:t>
            </a:r>
            <a:endParaRPr sz="1800" b="1" u="sng">
              <a:solidFill>
                <a:schemeClr val="dk1"/>
              </a:solidFill>
              <a:latin typeface="Arial"/>
              <a:ea typeface="Arial"/>
              <a:cs typeface="Arial"/>
              <a:sym typeface="Arial"/>
            </a:endParaRPr>
          </a:p>
        </p:txBody>
      </p:sp>
      <p:sp>
        <p:nvSpPr>
          <p:cNvPr id="75" name="Google Shape;75;p16"/>
          <p:cNvSpPr txBox="1">
            <a:spLocks noGrp="1"/>
          </p:cNvSpPr>
          <p:nvPr>
            <p:ph type="body" idx="3"/>
          </p:nvPr>
        </p:nvSpPr>
        <p:spPr>
          <a:xfrm>
            <a:off x="6180140" y="2569852"/>
            <a:ext cx="4725414" cy="1624349"/>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200"/>
              </a:spcBef>
              <a:spcAft>
                <a:spcPts val="0"/>
              </a:spcAft>
              <a:buClr>
                <a:schemeClr val="dk1"/>
              </a:buClr>
              <a:buSzPts val="1800"/>
              <a:buFont typeface="Arial"/>
              <a:buNone/>
              <a:defRPr sz="1800" b="0">
                <a:solidFill>
                  <a:schemeClr val="dk1"/>
                </a:solidFill>
              </a:defRPr>
            </a:lvl1pPr>
            <a:lvl2pPr marL="914400" lvl="1" indent="-228600" algn="l">
              <a:lnSpc>
                <a:spcPct val="90000"/>
              </a:lnSpc>
              <a:spcBef>
                <a:spcPts val="600"/>
              </a:spcBef>
              <a:spcAft>
                <a:spcPts val="0"/>
              </a:spcAft>
              <a:buClr>
                <a:schemeClr val="accent6"/>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6"/>
          <p:cNvSpPr txBox="1"/>
          <p:nvPr/>
        </p:nvSpPr>
        <p:spPr>
          <a:xfrm>
            <a:off x="7137970" y="2182988"/>
            <a:ext cx="293076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u="sng">
                <a:solidFill>
                  <a:schemeClr val="dk1"/>
                </a:solidFill>
                <a:latin typeface="Arial"/>
                <a:ea typeface="Arial"/>
                <a:cs typeface="Arial"/>
                <a:sym typeface="Arial"/>
              </a:rPr>
              <a:t>Quantity B</a:t>
            </a:r>
            <a:endParaRPr sz="1800" b="1" u="sng">
              <a:solidFill>
                <a:schemeClr val="dk1"/>
              </a:solidFill>
              <a:latin typeface="Arial"/>
              <a:ea typeface="Arial"/>
              <a:cs typeface="Arial"/>
              <a:sym typeface="Arial"/>
            </a:endParaRPr>
          </a:p>
        </p:txBody>
      </p:sp>
      <p:sp>
        <p:nvSpPr>
          <p:cNvPr id="77" name="Google Shape;77;p16"/>
          <p:cNvSpPr txBox="1"/>
          <p:nvPr/>
        </p:nvSpPr>
        <p:spPr>
          <a:xfrm>
            <a:off x="275492" y="4300799"/>
            <a:ext cx="6793519" cy="1869273"/>
          </a:xfrm>
          <a:prstGeom prst="rect">
            <a:avLst/>
          </a:prstGeom>
          <a:solidFill>
            <a:schemeClr val="accent5"/>
          </a:solidFill>
          <a:ln>
            <a:noFill/>
          </a:ln>
        </p:spPr>
        <p:txBody>
          <a:bodyPr spcFirstLastPara="1" wrap="square" lIns="91425" tIns="45700" rIns="91425" bIns="45700" anchor="t" anchorCtr="0">
            <a:normAutofit fontScale="92500" lnSpcReduction="20000"/>
          </a:bodyPr>
          <a:lstStyle/>
          <a:p>
            <a:pPr marL="0" marR="0" lvl="0" indent="0" algn="ctr" rtl="0">
              <a:lnSpc>
                <a:spcPct val="150000"/>
              </a:lnSpc>
              <a:spcBef>
                <a:spcPts val="0"/>
              </a:spcBef>
              <a:spcAft>
                <a:spcPts val="0"/>
              </a:spcAft>
              <a:buClr>
                <a:srgbClr val="000000"/>
              </a:buClr>
              <a:buSzPct val="100000"/>
              <a:buFont typeface="Arial"/>
              <a:buNone/>
            </a:pPr>
            <a:r>
              <a:rPr lang="en-US" sz="1800" b="1">
                <a:solidFill>
                  <a:srgbClr val="000000"/>
                </a:solidFill>
                <a:latin typeface="Arial"/>
                <a:ea typeface="Arial"/>
                <a:cs typeface="Arial"/>
                <a:sym typeface="Arial"/>
              </a:rPr>
              <a:t>Options</a:t>
            </a:r>
            <a:endParaRPr/>
          </a:p>
          <a:p>
            <a:pPr marL="342900" marR="0" lvl="0" indent="-342900" algn="l" rtl="0">
              <a:lnSpc>
                <a:spcPct val="150000"/>
              </a:lnSpc>
              <a:spcBef>
                <a:spcPts val="0"/>
              </a:spcBef>
              <a:spcAft>
                <a:spcPts val="0"/>
              </a:spcAft>
              <a:buClr>
                <a:srgbClr val="000000"/>
              </a:buClr>
              <a:buSzPct val="100000"/>
              <a:buFont typeface="Arial"/>
              <a:buAutoNum type="arabicPeriod"/>
            </a:pPr>
            <a:r>
              <a:rPr lang="en-US" sz="1800">
                <a:solidFill>
                  <a:srgbClr val="000000"/>
                </a:solidFill>
                <a:latin typeface="Arial"/>
                <a:ea typeface="Arial"/>
                <a:cs typeface="Arial"/>
                <a:sym typeface="Arial"/>
              </a:rPr>
              <a:t>Quantity A is greater.</a:t>
            </a:r>
            <a:endParaRPr/>
          </a:p>
          <a:p>
            <a:pPr marL="342900" marR="0" lvl="0" indent="-342900" algn="l" rtl="0">
              <a:lnSpc>
                <a:spcPct val="150000"/>
              </a:lnSpc>
              <a:spcBef>
                <a:spcPts val="0"/>
              </a:spcBef>
              <a:spcAft>
                <a:spcPts val="0"/>
              </a:spcAft>
              <a:buClr>
                <a:srgbClr val="000000"/>
              </a:buClr>
              <a:buSzPct val="100000"/>
              <a:buFont typeface="Arial"/>
              <a:buAutoNum type="arabicPeriod"/>
            </a:pPr>
            <a:r>
              <a:rPr lang="en-US" sz="1800">
                <a:solidFill>
                  <a:srgbClr val="000000"/>
                </a:solidFill>
                <a:latin typeface="Arial"/>
                <a:ea typeface="Arial"/>
                <a:cs typeface="Arial"/>
                <a:sym typeface="Arial"/>
              </a:rPr>
              <a:t>Quantity B is greater.</a:t>
            </a:r>
            <a:endParaRPr/>
          </a:p>
          <a:p>
            <a:pPr marL="342900" marR="0" lvl="0" indent="-342900" algn="l" rtl="0">
              <a:lnSpc>
                <a:spcPct val="150000"/>
              </a:lnSpc>
              <a:spcBef>
                <a:spcPts val="0"/>
              </a:spcBef>
              <a:spcAft>
                <a:spcPts val="0"/>
              </a:spcAft>
              <a:buClr>
                <a:srgbClr val="000000"/>
              </a:buClr>
              <a:buSzPct val="100000"/>
              <a:buFont typeface="Arial"/>
              <a:buAutoNum type="arabicPeriod"/>
            </a:pPr>
            <a:r>
              <a:rPr lang="en-US" sz="1800">
                <a:solidFill>
                  <a:srgbClr val="000000"/>
                </a:solidFill>
                <a:latin typeface="Arial"/>
                <a:ea typeface="Arial"/>
                <a:cs typeface="Arial"/>
                <a:sym typeface="Arial"/>
              </a:rPr>
              <a:t>The two quantities are equal.</a:t>
            </a:r>
            <a:endParaRPr/>
          </a:p>
          <a:p>
            <a:pPr marL="342900" marR="0" lvl="0" indent="-342900" algn="l" rtl="0">
              <a:lnSpc>
                <a:spcPct val="150000"/>
              </a:lnSpc>
              <a:spcBef>
                <a:spcPts val="0"/>
              </a:spcBef>
              <a:spcAft>
                <a:spcPts val="0"/>
              </a:spcAft>
              <a:buClr>
                <a:srgbClr val="000000"/>
              </a:buClr>
              <a:buSzPct val="100000"/>
              <a:buFont typeface="Arial"/>
              <a:buAutoNum type="arabicPeriod"/>
            </a:pPr>
            <a:r>
              <a:rPr lang="en-US" sz="1800">
                <a:solidFill>
                  <a:srgbClr val="000000"/>
                </a:solidFill>
                <a:latin typeface="Arial"/>
                <a:ea typeface="Arial"/>
                <a:cs typeface="Arial"/>
                <a:sym typeface="Arial"/>
              </a:rPr>
              <a:t>The relationship cannot be determined from the information given</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estion with Solution">
  <p:cSld name="Question with Solution">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
          <p:cNvSpPr txBox="1">
            <a:spLocks noGrp="1"/>
          </p:cNvSpPr>
          <p:nvPr>
            <p:ph type="body" idx="1"/>
          </p:nvPr>
        </p:nvSpPr>
        <p:spPr>
          <a:xfrm>
            <a:off x="275492" y="1140892"/>
            <a:ext cx="11520000" cy="1180698"/>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Clr>
                <a:srgbClr val="013CB2"/>
              </a:buClr>
              <a:buSzPts val="2000"/>
              <a:buNone/>
              <a:defRPr sz="2000" b="1">
                <a:solidFill>
                  <a:srgbClr val="013CB2"/>
                </a:solidFill>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7"/>
          <p:cNvSpPr txBox="1">
            <a:spLocks noGrp="1"/>
          </p:cNvSpPr>
          <p:nvPr>
            <p:ph type="body" idx="2"/>
          </p:nvPr>
        </p:nvSpPr>
        <p:spPr>
          <a:xfrm>
            <a:off x="276226" y="2425767"/>
            <a:ext cx="6792790" cy="371768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200"/>
              </a:spcBef>
              <a:spcAft>
                <a:spcPts val="0"/>
              </a:spcAft>
              <a:buClr>
                <a:schemeClr val="dk1"/>
              </a:buClr>
              <a:buSzPts val="1800"/>
              <a:buFont typeface="Arial"/>
              <a:buAutoNum type="arabicPeriod"/>
              <a:defRPr sz="1800" b="0">
                <a:solidFill>
                  <a:schemeClr val="dk1"/>
                </a:solidFill>
              </a:defRPr>
            </a:lvl1pPr>
            <a:lvl2pPr marL="914400" lvl="1" indent="-228600" algn="l">
              <a:lnSpc>
                <a:spcPct val="90000"/>
              </a:lnSpc>
              <a:spcBef>
                <a:spcPts val="600"/>
              </a:spcBef>
              <a:spcAft>
                <a:spcPts val="0"/>
              </a:spcAft>
              <a:buClr>
                <a:schemeClr val="accent6"/>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17"/>
          <p:cNvSpPr>
            <a:spLocks noGrp="1"/>
          </p:cNvSpPr>
          <p:nvPr>
            <p:ph type="body" idx="3"/>
          </p:nvPr>
        </p:nvSpPr>
        <p:spPr>
          <a:xfrm>
            <a:off x="7186246" y="2425767"/>
            <a:ext cx="4609246" cy="3717687"/>
          </a:xfrm>
          <a:prstGeom prst="roundRect">
            <a:avLst>
              <a:gd name="adj" fmla="val 138"/>
            </a:avLst>
          </a:prstGeom>
          <a:solidFill>
            <a:srgbClr val="ECF2FE"/>
          </a:solidFill>
          <a:ln>
            <a:noFill/>
          </a:ln>
        </p:spPr>
        <p:txBody>
          <a:bodyPr spcFirstLastPara="1" wrap="square" lIns="91425" tIns="45700" rIns="91425" bIns="45700" anchor="t" anchorCtr="0">
            <a:normAutofit/>
          </a:bodyPr>
          <a:lstStyle>
            <a:lvl1pPr marL="457200" lvl="0" indent="-228600" algn="ctr">
              <a:lnSpc>
                <a:spcPct val="90000"/>
              </a:lnSpc>
              <a:spcBef>
                <a:spcPts val="1200"/>
              </a:spcBef>
              <a:spcAft>
                <a:spcPts val="0"/>
              </a:spcAft>
              <a:buClr>
                <a:srgbClr val="013CB2"/>
              </a:buClr>
              <a:buSzPts val="1800"/>
              <a:buFont typeface="Arial"/>
              <a:buNone/>
              <a:defRPr sz="1800" b="1">
                <a:solidFill>
                  <a:srgbClr val="013CB2"/>
                </a:solidFill>
              </a:defRPr>
            </a:lvl1pPr>
            <a:lvl2pPr marL="914400" lvl="1" indent="-228600" algn="ctr">
              <a:lnSpc>
                <a:spcPct val="90000"/>
              </a:lnSpc>
              <a:spcBef>
                <a:spcPts val="600"/>
              </a:spcBef>
              <a:spcAft>
                <a:spcPts val="0"/>
              </a:spcAft>
              <a:buClr>
                <a:srgbClr val="013CB2"/>
              </a:buClr>
              <a:buSzPts val="1800"/>
              <a:buNone/>
              <a:defRPr sz="1800">
                <a:solidFill>
                  <a:srgbClr val="013CB2"/>
                </a:solidFill>
              </a:defRPr>
            </a:lvl2pPr>
            <a:lvl3pPr marL="1371600" lvl="2" indent="-228600" algn="ctr">
              <a:lnSpc>
                <a:spcPct val="90000"/>
              </a:lnSpc>
              <a:spcBef>
                <a:spcPts val="500"/>
              </a:spcBef>
              <a:spcAft>
                <a:spcPts val="0"/>
              </a:spcAft>
              <a:buClr>
                <a:schemeClr val="dk1"/>
              </a:buClr>
              <a:buSzPts val="1800"/>
              <a:buNone/>
              <a:defRPr/>
            </a:lvl3pPr>
            <a:lvl4pPr marL="1828800" lvl="3" indent="-228600" algn="ctr">
              <a:lnSpc>
                <a:spcPct val="90000"/>
              </a:lnSpc>
              <a:spcBef>
                <a:spcPts val="500"/>
              </a:spcBef>
              <a:spcAft>
                <a:spcPts val="0"/>
              </a:spcAft>
              <a:buClr>
                <a:schemeClr val="dk1"/>
              </a:buClr>
              <a:buSzPts val="1800"/>
              <a:buNone/>
              <a:defRPr/>
            </a:lvl4pPr>
            <a:lvl5pPr marL="2286000" lvl="4" indent="-228600" algn="ctr">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estion with Explanation">
  <p:cSld name="Question with Explanation">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8"/>
          <p:cNvSpPr txBox="1">
            <a:spLocks noGrp="1"/>
          </p:cNvSpPr>
          <p:nvPr>
            <p:ph type="body" idx="1"/>
          </p:nvPr>
        </p:nvSpPr>
        <p:spPr>
          <a:xfrm>
            <a:off x="276226" y="1177222"/>
            <a:ext cx="6792790" cy="5002447"/>
          </a:xfrm>
          <a:prstGeom prst="rect">
            <a:avLst/>
          </a:prstGeom>
          <a:noFill/>
          <a:ln>
            <a:noFill/>
          </a:ln>
        </p:spPr>
        <p:txBody>
          <a:bodyPr spcFirstLastPara="1" wrap="square" lIns="91425" tIns="45700" rIns="91425" bIns="45700" anchor="t" anchorCtr="0">
            <a:normAutofit/>
          </a:bodyPr>
          <a:lstStyle>
            <a:lvl1pPr marL="457200" lvl="0" indent="-228600" algn="just">
              <a:lnSpc>
                <a:spcPct val="150000"/>
              </a:lnSpc>
              <a:spcBef>
                <a:spcPts val="1200"/>
              </a:spcBef>
              <a:spcAft>
                <a:spcPts val="0"/>
              </a:spcAft>
              <a:buClr>
                <a:schemeClr val="dk1"/>
              </a:buClr>
              <a:buSzPts val="1800"/>
              <a:buFont typeface="Arial"/>
              <a:buNone/>
              <a:defRPr sz="1800" b="0">
                <a:solidFill>
                  <a:schemeClr val="dk1"/>
                </a:solidFill>
              </a:defRPr>
            </a:lvl1pPr>
            <a:lvl2pPr marL="914400" lvl="1" indent="-228600" algn="l">
              <a:lnSpc>
                <a:spcPct val="90000"/>
              </a:lnSpc>
              <a:spcBef>
                <a:spcPts val="600"/>
              </a:spcBef>
              <a:spcAft>
                <a:spcPts val="0"/>
              </a:spcAft>
              <a:buClr>
                <a:schemeClr val="accent6"/>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18"/>
          <p:cNvSpPr>
            <a:spLocks noGrp="1"/>
          </p:cNvSpPr>
          <p:nvPr>
            <p:ph type="body" idx="2"/>
          </p:nvPr>
        </p:nvSpPr>
        <p:spPr>
          <a:xfrm>
            <a:off x="7192223" y="1177223"/>
            <a:ext cx="4609246" cy="5002447"/>
          </a:xfrm>
          <a:prstGeom prst="roundRect">
            <a:avLst>
              <a:gd name="adj" fmla="val 138"/>
            </a:avLst>
          </a:prstGeom>
          <a:solidFill>
            <a:srgbClr val="ECF2FE"/>
          </a:solidFill>
          <a:ln>
            <a:noFill/>
          </a:ln>
        </p:spPr>
        <p:txBody>
          <a:bodyPr spcFirstLastPara="1" wrap="square" lIns="91425" tIns="45700" rIns="91425" bIns="45700" anchor="t" anchorCtr="0">
            <a:normAutofit/>
          </a:bodyPr>
          <a:lstStyle>
            <a:lvl1pPr marL="457200" lvl="0" indent="-228600" algn="ctr">
              <a:lnSpc>
                <a:spcPct val="90000"/>
              </a:lnSpc>
              <a:spcBef>
                <a:spcPts val="1200"/>
              </a:spcBef>
              <a:spcAft>
                <a:spcPts val="0"/>
              </a:spcAft>
              <a:buClr>
                <a:srgbClr val="345A7D"/>
              </a:buClr>
              <a:buSzPts val="1800"/>
              <a:buFont typeface="Arial"/>
              <a:buNone/>
              <a:defRPr sz="1800" b="1">
                <a:solidFill>
                  <a:srgbClr val="345A7D"/>
                </a:solidFill>
              </a:defRPr>
            </a:lvl1pPr>
            <a:lvl2pPr marL="914400" lvl="1" indent="-228600" algn="ctr">
              <a:lnSpc>
                <a:spcPct val="90000"/>
              </a:lnSpc>
              <a:spcBef>
                <a:spcPts val="600"/>
              </a:spcBef>
              <a:spcAft>
                <a:spcPts val="0"/>
              </a:spcAft>
              <a:buClr>
                <a:srgbClr val="345A7D"/>
              </a:buClr>
              <a:buSzPts val="1800"/>
              <a:buNone/>
              <a:defRPr sz="1800">
                <a:solidFill>
                  <a:srgbClr val="345A7D"/>
                </a:solidFill>
              </a:defRPr>
            </a:lvl2pPr>
            <a:lvl3pPr marL="1371600" lvl="2" indent="-228600" algn="ctr">
              <a:lnSpc>
                <a:spcPct val="90000"/>
              </a:lnSpc>
              <a:spcBef>
                <a:spcPts val="500"/>
              </a:spcBef>
              <a:spcAft>
                <a:spcPts val="0"/>
              </a:spcAft>
              <a:buClr>
                <a:schemeClr val="dk1"/>
              </a:buClr>
              <a:buSzPts val="1800"/>
              <a:buNone/>
              <a:defRPr/>
            </a:lvl3pPr>
            <a:lvl4pPr marL="1828800" lvl="3" indent="-228600" algn="ctr">
              <a:lnSpc>
                <a:spcPct val="90000"/>
              </a:lnSpc>
              <a:spcBef>
                <a:spcPts val="500"/>
              </a:spcBef>
              <a:spcAft>
                <a:spcPts val="0"/>
              </a:spcAft>
              <a:buClr>
                <a:schemeClr val="dk1"/>
              </a:buClr>
              <a:buSzPts val="1800"/>
              <a:buNone/>
              <a:defRPr/>
            </a:lvl4pPr>
            <a:lvl5pPr marL="2286000" lvl="4" indent="-228600" algn="ctr">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87"/>
        <p:cNvGrpSpPr/>
        <p:nvPr/>
      </p:nvGrpSpPr>
      <p:grpSpPr>
        <a:xfrm>
          <a:off x="0" y="0"/>
          <a:ext cx="0" cy="0"/>
          <a:chOff x="0" y="0"/>
          <a:chExt cx="0" cy="0"/>
        </a:xfrm>
      </p:grpSpPr>
      <p:sp>
        <p:nvSpPr>
          <p:cNvPr id="88" name="Google Shape;88;p19"/>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9"/>
          <p:cNvSpPr txBox="1">
            <a:spLocks noGrp="1"/>
          </p:cNvSpPr>
          <p:nvPr>
            <p:ph type="body" idx="1"/>
          </p:nvPr>
        </p:nvSpPr>
        <p:spPr>
          <a:xfrm>
            <a:off x="275491" y="1191086"/>
            <a:ext cx="5498123" cy="743236"/>
          </a:xfrm>
          <a:prstGeom prst="rect">
            <a:avLst/>
          </a:prstGeom>
          <a:noFill/>
          <a:ln w="9525" cap="flat" cmpd="sng">
            <a:solidFill>
              <a:schemeClr val="lt2"/>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Clr>
                <a:schemeClr val="dk1"/>
              </a:buClr>
              <a:buSzPts val="3200"/>
              <a:buFont typeface="Arial"/>
              <a:buNone/>
              <a:defRPr sz="3200" b="1"/>
            </a:lvl1pPr>
            <a:lvl2pPr marL="914400" lvl="1" indent="-228600" algn="l">
              <a:lnSpc>
                <a:spcPct val="90000"/>
              </a:lnSpc>
              <a:spcBef>
                <a:spcPts val="600"/>
              </a:spcBef>
              <a:spcAft>
                <a:spcPts val="0"/>
              </a:spcAft>
              <a:buClr>
                <a:schemeClr val="accent6"/>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0" name="Google Shape;90;p19"/>
          <p:cNvSpPr txBox="1">
            <a:spLocks noGrp="1"/>
          </p:cNvSpPr>
          <p:nvPr>
            <p:ph type="body" idx="2"/>
          </p:nvPr>
        </p:nvSpPr>
        <p:spPr>
          <a:xfrm>
            <a:off x="6125949" y="1198656"/>
            <a:ext cx="5790559" cy="743236"/>
          </a:xfrm>
          <a:prstGeom prst="rect">
            <a:avLst/>
          </a:prstGeom>
          <a:noFill/>
          <a:ln w="9525" cap="flat" cmpd="sng">
            <a:solidFill>
              <a:schemeClr val="lt2"/>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Clr>
                <a:schemeClr val="dk1"/>
              </a:buClr>
              <a:buSzPts val="3200"/>
              <a:buFont typeface="Arial"/>
              <a:buNone/>
              <a:defRPr sz="3200" b="1"/>
            </a:lvl1pPr>
            <a:lvl2pPr marL="914400" lvl="1" indent="-228600" algn="l">
              <a:lnSpc>
                <a:spcPct val="90000"/>
              </a:lnSpc>
              <a:spcBef>
                <a:spcPts val="600"/>
              </a:spcBef>
              <a:spcAft>
                <a:spcPts val="0"/>
              </a:spcAft>
              <a:buClr>
                <a:schemeClr val="accent6"/>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cxnSp>
        <p:nvCxnSpPr>
          <p:cNvPr id="91" name="Google Shape;91;p19"/>
          <p:cNvCxnSpPr/>
          <p:nvPr/>
        </p:nvCxnSpPr>
        <p:spPr>
          <a:xfrm>
            <a:off x="5936618" y="1724311"/>
            <a:ext cx="0" cy="4359966"/>
          </a:xfrm>
          <a:prstGeom prst="straightConnector1">
            <a:avLst/>
          </a:prstGeom>
          <a:noFill/>
          <a:ln w="28575" cap="flat" cmpd="sng">
            <a:solidFill>
              <a:srgbClr val="AEABAB"/>
            </a:solidFill>
            <a:prstDash val="solid"/>
            <a:miter lim="800000"/>
            <a:headEnd type="none" w="sm" len="sm"/>
            <a:tailEnd type="none" w="sm" len="sm"/>
          </a:ln>
        </p:spPr>
      </p:cxnSp>
      <p:sp>
        <p:nvSpPr>
          <p:cNvPr id="92" name="Google Shape;92;p19"/>
          <p:cNvSpPr txBox="1">
            <a:spLocks noGrp="1"/>
          </p:cNvSpPr>
          <p:nvPr>
            <p:ph type="body" idx="3"/>
          </p:nvPr>
        </p:nvSpPr>
        <p:spPr>
          <a:xfrm>
            <a:off x="6126163" y="2044700"/>
            <a:ext cx="5789612" cy="41497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1800"/>
              <a:buNone/>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19"/>
          <p:cNvSpPr txBox="1">
            <a:spLocks noGrp="1"/>
          </p:cNvSpPr>
          <p:nvPr>
            <p:ph type="body" idx="4"/>
          </p:nvPr>
        </p:nvSpPr>
        <p:spPr>
          <a:xfrm>
            <a:off x="275491" y="2044700"/>
            <a:ext cx="5498247" cy="41497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1800"/>
              <a:buNone/>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Graph)">
  <p:cSld name="Two Content (Graph)">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20"/>
          <p:cNvSpPr txBox="1">
            <a:spLocks noGrp="1"/>
          </p:cNvSpPr>
          <p:nvPr>
            <p:ph type="body" idx="1"/>
          </p:nvPr>
        </p:nvSpPr>
        <p:spPr>
          <a:xfrm>
            <a:off x="6172199" y="1215550"/>
            <a:ext cx="5674457" cy="49614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2000"/>
              <a:buNone/>
              <a:defRPr/>
            </a:lvl1pPr>
            <a:lvl2pPr marL="914400" lvl="1" indent="-342900" algn="l">
              <a:lnSpc>
                <a:spcPct val="90000"/>
              </a:lnSpc>
              <a:spcBef>
                <a:spcPts val="600"/>
              </a:spcBef>
              <a:spcAft>
                <a:spcPts val="0"/>
              </a:spcAft>
              <a:buClr>
                <a:schemeClr val="accent6"/>
              </a:buClr>
              <a:buSzPts val="1800"/>
              <a:buFont typeface="Noto Sans Symbols"/>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20"/>
          <p:cNvSpPr txBox="1">
            <a:spLocks noGrp="1"/>
          </p:cNvSpPr>
          <p:nvPr>
            <p:ph type="body" idx="2"/>
          </p:nvPr>
        </p:nvSpPr>
        <p:spPr>
          <a:xfrm>
            <a:off x="275493" y="1215550"/>
            <a:ext cx="5674458" cy="49614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2000"/>
              <a:buNone/>
              <a:defRPr b="1">
                <a:solidFill>
                  <a:schemeClr val="dk1"/>
                </a:solidFill>
              </a:defRPr>
            </a:lvl1pPr>
            <a:lvl2pPr marL="914400" lvl="1" indent="-342900" algn="l">
              <a:lnSpc>
                <a:spcPct val="90000"/>
              </a:lnSpc>
              <a:spcBef>
                <a:spcPts val="600"/>
              </a:spcBef>
              <a:spcAft>
                <a:spcPts val="0"/>
              </a:spcAft>
              <a:buClr>
                <a:schemeClr val="accent6"/>
              </a:buClr>
              <a:buSzPts val="1800"/>
              <a:buFont typeface="Noto Sans Symbols"/>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98" name="Google Shape;98;p20"/>
          <p:cNvCxnSpPr/>
          <p:nvPr/>
        </p:nvCxnSpPr>
        <p:spPr>
          <a:xfrm>
            <a:off x="6071420" y="1677415"/>
            <a:ext cx="0" cy="4359966"/>
          </a:xfrm>
          <a:prstGeom prst="straightConnector1">
            <a:avLst/>
          </a:prstGeom>
          <a:noFill/>
          <a:ln w="28575" cap="flat" cmpd="sng">
            <a:solidFill>
              <a:srgbClr val="AEABAB"/>
            </a:solidFill>
            <a:prstDash val="solid"/>
            <a:miter lim="800000"/>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ultiple Graphs">
  <p:cSld name="Multiple Graphs">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21"/>
          <p:cNvSpPr txBox="1">
            <a:spLocks noGrp="1"/>
          </p:cNvSpPr>
          <p:nvPr>
            <p:ph type="body" idx="1"/>
          </p:nvPr>
        </p:nvSpPr>
        <p:spPr>
          <a:xfrm>
            <a:off x="6172200" y="1565031"/>
            <a:ext cx="5181600" cy="222628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2000"/>
              <a:buNone/>
              <a:defRPr/>
            </a:lvl1pPr>
            <a:lvl2pPr marL="914400" lvl="1" indent="-342900" algn="l">
              <a:lnSpc>
                <a:spcPct val="90000"/>
              </a:lnSpc>
              <a:spcBef>
                <a:spcPts val="600"/>
              </a:spcBef>
              <a:spcAft>
                <a:spcPts val="0"/>
              </a:spcAft>
              <a:buClr>
                <a:schemeClr val="accent6"/>
              </a:buClr>
              <a:buSzPts val="1800"/>
              <a:buFont typeface="Noto Sans Symbols"/>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21"/>
          <p:cNvSpPr txBox="1">
            <a:spLocks noGrp="1"/>
          </p:cNvSpPr>
          <p:nvPr>
            <p:ph type="body" idx="2"/>
          </p:nvPr>
        </p:nvSpPr>
        <p:spPr>
          <a:xfrm>
            <a:off x="275493" y="1565031"/>
            <a:ext cx="5674458" cy="46119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2000"/>
              <a:buNone/>
              <a:defRPr b="1">
                <a:solidFill>
                  <a:schemeClr val="dk1"/>
                </a:solidFill>
              </a:defRPr>
            </a:lvl1pPr>
            <a:lvl2pPr marL="914400" lvl="1" indent="-342900" algn="l">
              <a:lnSpc>
                <a:spcPct val="90000"/>
              </a:lnSpc>
              <a:spcBef>
                <a:spcPts val="600"/>
              </a:spcBef>
              <a:spcAft>
                <a:spcPts val="0"/>
              </a:spcAft>
              <a:buClr>
                <a:schemeClr val="accent6"/>
              </a:buClr>
              <a:buSzPts val="1800"/>
              <a:buFont typeface="Arial"/>
              <a:buAutoNum type="arabicPeriod"/>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21"/>
          <p:cNvSpPr txBox="1">
            <a:spLocks noGrp="1"/>
          </p:cNvSpPr>
          <p:nvPr>
            <p:ph type="body" idx="3"/>
          </p:nvPr>
        </p:nvSpPr>
        <p:spPr>
          <a:xfrm>
            <a:off x="6172200" y="3950677"/>
            <a:ext cx="5181600" cy="222628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2000"/>
              <a:buNone/>
              <a:defRPr/>
            </a:lvl1pPr>
            <a:lvl2pPr marL="914400" lvl="1" indent="-342900" algn="l">
              <a:lnSpc>
                <a:spcPct val="90000"/>
              </a:lnSpc>
              <a:spcBef>
                <a:spcPts val="600"/>
              </a:spcBef>
              <a:spcAft>
                <a:spcPts val="0"/>
              </a:spcAft>
              <a:buClr>
                <a:schemeClr val="accent6"/>
              </a:buClr>
              <a:buSzPts val="1800"/>
              <a:buFont typeface="Noto Sans Symbols"/>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amp; Picture on Right">
  <p:cSld name="Content &amp; Picture on Right">
    <p:spTree>
      <p:nvGrpSpPr>
        <p:cNvPr id="1" name="Shape 104"/>
        <p:cNvGrpSpPr/>
        <p:nvPr/>
      </p:nvGrpSpPr>
      <p:grpSpPr>
        <a:xfrm>
          <a:off x="0" y="0"/>
          <a:ext cx="0" cy="0"/>
          <a:chOff x="0" y="0"/>
          <a:chExt cx="0" cy="0"/>
        </a:xfrm>
      </p:grpSpPr>
      <p:sp>
        <p:nvSpPr>
          <p:cNvPr id="105" name="Google Shape;105;p22"/>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22"/>
          <p:cNvSpPr>
            <a:spLocks noGrp="1"/>
          </p:cNvSpPr>
          <p:nvPr>
            <p:ph type="pic" idx="2"/>
          </p:nvPr>
        </p:nvSpPr>
        <p:spPr>
          <a:xfrm>
            <a:off x="6053979" y="1216025"/>
            <a:ext cx="5760001" cy="4960938"/>
          </a:xfrm>
          <a:prstGeom prst="rect">
            <a:avLst/>
          </a:prstGeom>
          <a:noFill/>
          <a:ln>
            <a:noFill/>
          </a:ln>
        </p:spPr>
      </p:sp>
      <p:sp>
        <p:nvSpPr>
          <p:cNvPr id="107" name="Google Shape;107;p22"/>
          <p:cNvSpPr txBox="1">
            <a:spLocks noGrp="1"/>
          </p:cNvSpPr>
          <p:nvPr>
            <p:ph type="body" idx="1"/>
          </p:nvPr>
        </p:nvSpPr>
        <p:spPr>
          <a:xfrm>
            <a:off x="275492" y="1216025"/>
            <a:ext cx="5760001" cy="49609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1800"/>
              <a:buNone/>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Content &amp; Video on Right">
  <p:cSld name="1_Content &amp; Video on Right">
    <p:spTree>
      <p:nvGrpSpPr>
        <p:cNvPr id="1" name="Shape 108"/>
        <p:cNvGrpSpPr/>
        <p:nvPr/>
      </p:nvGrpSpPr>
      <p:grpSpPr>
        <a:xfrm>
          <a:off x="0" y="0"/>
          <a:ext cx="0" cy="0"/>
          <a:chOff x="0" y="0"/>
          <a:chExt cx="0" cy="0"/>
        </a:xfrm>
      </p:grpSpPr>
      <p:sp>
        <p:nvSpPr>
          <p:cNvPr id="109" name="Google Shape;109;p23"/>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23"/>
          <p:cNvSpPr>
            <a:spLocks noGrp="1"/>
          </p:cNvSpPr>
          <p:nvPr>
            <p:ph type="pic" idx="2"/>
          </p:nvPr>
        </p:nvSpPr>
        <p:spPr>
          <a:xfrm>
            <a:off x="6053979" y="1216025"/>
            <a:ext cx="5760001" cy="4960938"/>
          </a:xfrm>
          <a:prstGeom prst="rect">
            <a:avLst/>
          </a:prstGeom>
          <a:noFill/>
          <a:ln>
            <a:noFill/>
          </a:ln>
        </p:spPr>
      </p:sp>
      <p:sp>
        <p:nvSpPr>
          <p:cNvPr id="111" name="Google Shape;111;p23"/>
          <p:cNvSpPr txBox="1">
            <a:spLocks noGrp="1"/>
          </p:cNvSpPr>
          <p:nvPr>
            <p:ph type="body" idx="1"/>
          </p:nvPr>
        </p:nvSpPr>
        <p:spPr>
          <a:xfrm>
            <a:off x="275492" y="1216025"/>
            <a:ext cx="5760001" cy="4960938"/>
          </a:xfrm>
          <a:prstGeom prst="rect">
            <a:avLst/>
          </a:prstGeom>
          <a:solidFill>
            <a:srgbClr val="5C6065"/>
          </a:solid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lt1"/>
              </a:buClr>
              <a:buSzPts val="2400"/>
              <a:buNone/>
              <a:defRPr sz="2400">
                <a:solidFill>
                  <a:schemeClr val="lt1"/>
                </a:solidFill>
              </a:defRPr>
            </a:lvl1pPr>
            <a:lvl2pPr marL="914400" lvl="1" indent="-355600" algn="l">
              <a:lnSpc>
                <a:spcPct val="90000"/>
              </a:lnSpc>
              <a:spcBef>
                <a:spcPts val="600"/>
              </a:spcBef>
              <a:spcAft>
                <a:spcPts val="0"/>
              </a:spcAft>
              <a:buClr>
                <a:schemeClr val="lt1"/>
              </a:buClr>
              <a:buSzPts val="2000"/>
              <a:buChar char="▪"/>
              <a:defRPr sz="2000">
                <a:solidFill>
                  <a:schemeClr val="lt1"/>
                </a:solidFill>
              </a:defRPr>
            </a:lvl2pPr>
            <a:lvl3pPr marL="1371600" lvl="2" indent="-355600" algn="l">
              <a:lnSpc>
                <a:spcPct val="90000"/>
              </a:lnSpc>
              <a:spcBef>
                <a:spcPts val="500"/>
              </a:spcBef>
              <a:spcAft>
                <a:spcPts val="0"/>
              </a:spcAft>
              <a:buClr>
                <a:schemeClr val="lt1"/>
              </a:buClr>
              <a:buSzPts val="2000"/>
              <a:buChar char="▪"/>
              <a:defRPr sz="2000">
                <a:solidFill>
                  <a:schemeClr val="lt1"/>
                </a:solidFill>
              </a:defRPr>
            </a:lvl3pPr>
            <a:lvl4pPr marL="1828800" lvl="3" indent="-355600" algn="l">
              <a:lnSpc>
                <a:spcPct val="90000"/>
              </a:lnSpc>
              <a:spcBef>
                <a:spcPts val="500"/>
              </a:spcBef>
              <a:spcAft>
                <a:spcPts val="0"/>
              </a:spcAft>
              <a:buClr>
                <a:schemeClr val="lt1"/>
              </a:buClr>
              <a:buSzPts val="2000"/>
              <a:buChar char="▪"/>
              <a:defRPr sz="2000">
                <a:solidFill>
                  <a:schemeClr val="lt1"/>
                </a:solidFill>
              </a:defRPr>
            </a:lvl4pPr>
            <a:lvl5pPr marL="2286000" lvl="4" indent="-355600" algn="l">
              <a:lnSpc>
                <a:spcPct val="90000"/>
              </a:lnSpc>
              <a:spcBef>
                <a:spcPts val="500"/>
              </a:spcBef>
              <a:spcAft>
                <a:spcPts val="0"/>
              </a:spcAft>
              <a:buClr>
                <a:schemeClr val="lt1"/>
              </a:buClr>
              <a:buSzPts val="2000"/>
              <a:buChar char="▪"/>
              <a:defRPr sz="20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amp; Picture on Left">
  <p:cSld name="Content &amp; Picture on Left">
    <p:spTree>
      <p:nvGrpSpPr>
        <p:cNvPr id="1" name="Shape 112"/>
        <p:cNvGrpSpPr/>
        <p:nvPr/>
      </p:nvGrpSpPr>
      <p:grpSpPr>
        <a:xfrm>
          <a:off x="0" y="0"/>
          <a:ext cx="0" cy="0"/>
          <a:chOff x="0" y="0"/>
          <a:chExt cx="0" cy="0"/>
        </a:xfrm>
      </p:grpSpPr>
      <p:sp>
        <p:nvSpPr>
          <p:cNvPr id="113" name="Google Shape;113;p24"/>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24"/>
          <p:cNvSpPr>
            <a:spLocks noGrp="1"/>
          </p:cNvSpPr>
          <p:nvPr>
            <p:ph type="pic" idx="2"/>
          </p:nvPr>
        </p:nvSpPr>
        <p:spPr>
          <a:xfrm>
            <a:off x="275492" y="1216025"/>
            <a:ext cx="5760000" cy="4960938"/>
          </a:xfrm>
          <a:prstGeom prst="rect">
            <a:avLst/>
          </a:prstGeom>
          <a:noFill/>
          <a:ln>
            <a:noFill/>
          </a:ln>
        </p:spPr>
      </p:sp>
      <p:sp>
        <p:nvSpPr>
          <p:cNvPr id="115" name="Google Shape;115;p24"/>
          <p:cNvSpPr txBox="1">
            <a:spLocks noGrp="1"/>
          </p:cNvSpPr>
          <p:nvPr>
            <p:ph type="body" idx="1"/>
          </p:nvPr>
        </p:nvSpPr>
        <p:spPr>
          <a:xfrm>
            <a:off x="6035492" y="1216025"/>
            <a:ext cx="5880283" cy="49609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1800"/>
              <a:buNone/>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Content &amp; Video on Left">
  <p:cSld name="1_Content &amp; Video on Left">
    <p:spTree>
      <p:nvGrpSpPr>
        <p:cNvPr id="1" name="Shape 116"/>
        <p:cNvGrpSpPr/>
        <p:nvPr/>
      </p:nvGrpSpPr>
      <p:grpSpPr>
        <a:xfrm>
          <a:off x="0" y="0"/>
          <a:ext cx="0" cy="0"/>
          <a:chOff x="0" y="0"/>
          <a:chExt cx="0" cy="0"/>
        </a:xfrm>
      </p:grpSpPr>
      <p:sp>
        <p:nvSpPr>
          <p:cNvPr id="117" name="Google Shape;117;p25"/>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25"/>
          <p:cNvSpPr>
            <a:spLocks noGrp="1"/>
          </p:cNvSpPr>
          <p:nvPr>
            <p:ph type="pic" idx="2"/>
          </p:nvPr>
        </p:nvSpPr>
        <p:spPr>
          <a:xfrm>
            <a:off x="275492" y="1216025"/>
            <a:ext cx="5760000" cy="4960938"/>
          </a:xfrm>
          <a:prstGeom prst="rect">
            <a:avLst/>
          </a:prstGeom>
          <a:noFill/>
          <a:ln>
            <a:noFill/>
          </a:ln>
        </p:spPr>
      </p:sp>
      <p:sp>
        <p:nvSpPr>
          <p:cNvPr id="119" name="Google Shape;119;p25"/>
          <p:cNvSpPr txBox="1">
            <a:spLocks noGrp="1"/>
          </p:cNvSpPr>
          <p:nvPr>
            <p:ph type="body" idx="1"/>
          </p:nvPr>
        </p:nvSpPr>
        <p:spPr>
          <a:xfrm>
            <a:off x="6035492" y="1216025"/>
            <a:ext cx="5880283" cy="4960938"/>
          </a:xfrm>
          <a:prstGeom prst="rect">
            <a:avLst/>
          </a:prstGeom>
          <a:solidFill>
            <a:srgbClr val="5C6065"/>
          </a:solid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lt1"/>
              </a:buClr>
              <a:buSzPts val="2400"/>
              <a:buNone/>
              <a:defRPr sz="2400">
                <a:solidFill>
                  <a:schemeClr val="lt1"/>
                </a:solidFill>
              </a:defRPr>
            </a:lvl1pPr>
            <a:lvl2pPr marL="914400" lvl="1" indent="-355600" algn="l">
              <a:lnSpc>
                <a:spcPct val="90000"/>
              </a:lnSpc>
              <a:spcBef>
                <a:spcPts val="600"/>
              </a:spcBef>
              <a:spcAft>
                <a:spcPts val="0"/>
              </a:spcAft>
              <a:buClr>
                <a:schemeClr val="lt1"/>
              </a:buClr>
              <a:buSzPts val="2000"/>
              <a:buChar char="▪"/>
              <a:defRPr sz="2000">
                <a:solidFill>
                  <a:schemeClr val="lt1"/>
                </a:solidFill>
              </a:defRPr>
            </a:lvl2pPr>
            <a:lvl3pPr marL="1371600" lvl="2" indent="-355600" algn="l">
              <a:lnSpc>
                <a:spcPct val="90000"/>
              </a:lnSpc>
              <a:spcBef>
                <a:spcPts val="500"/>
              </a:spcBef>
              <a:spcAft>
                <a:spcPts val="0"/>
              </a:spcAft>
              <a:buClr>
                <a:schemeClr val="lt1"/>
              </a:buClr>
              <a:buSzPts val="2000"/>
              <a:buChar char="▪"/>
              <a:defRPr sz="2000">
                <a:solidFill>
                  <a:schemeClr val="lt1"/>
                </a:solidFill>
              </a:defRPr>
            </a:lvl3pPr>
            <a:lvl4pPr marL="1828800" lvl="3" indent="-355600" algn="l">
              <a:lnSpc>
                <a:spcPct val="90000"/>
              </a:lnSpc>
              <a:spcBef>
                <a:spcPts val="500"/>
              </a:spcBef>
              <a:spcAft>
                <a:spcPts val="0"/>
              </a:spcAft>
              <a:buClr>
                <a:schemeClr val="lt1"/>
              </a:buClr>
              <a:buSzPts val="2000"/>
              <a:buChar char="▪"/>
              <a:defRPr sz="2000">
                <a:solidFill>
                  <a:schemeClr val="lt1"/>
                </a:solidFill>
              </a:defRPr>
            </a:lvl4pPr>
            <a:lvl5pPr marL="2286000" lvl="4" indent="-355600" algn="l">
              <a:lnSpc>
                <a:spcPct val="90000"/>
              </a:lnSpc>
              <a:spcBef>
                <a:spcPts val="500"/>
              </a:spcBef>
              <a:spcAft>
                <a:spcPts val="0"/>
              </a:spcAft>
              <a:buClr>
                <a:schemeClr val="lt1"/>
              </a:buClr>
              <a:buSzPts val="2000"/>
              <a:buChar char="▪"/>
              <a:defRPr sz="20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line Image on Right">
  <p:cSld name="Online Image on Right">
    <p:spTree>
      <p:nvGrpSpPr>
        <p:cNvPr id="1" name="Shape 120"/>
        <p:cNvGrpSpPr/>
        <p:nvPr/>
      </p:nvGrpSpPr>
      <p:grpSpPr>
        <a:xfrm>
          <a:off x="0" y="0"/>
          <a:ext cx="0" cy="0"/>
          <a:chOff x="0" y="0"/>
          <a:chExt cx="0" cy="0"/>
        </a:xfrm>
      </p:grpSpPr>
      <p:sp>
        <p:nvSpPr>
          <p:cNvPr id="121" name="Google Shape;121;p26"/>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26"/>
          <p:cNvSpPr txBox="1">
            <a:spLocks noGrp="1"/>
          </p:cNvSpPr>
          <p:nvPr>
            <p:ph type="body" idx="1"/>
          </p:nvPr>
        </p:nvSpPr>
        <p:spPr>
          <a:xfrm>
            <a:off x="275492" y="1216025"/>
            <a:ext cx="5760001" cy="49609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1800"/>
              <a:buNone/>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3" name="Google Shape;123;p26"/>
          <p:cNvSpPr>
            <a:spLocks noGrp="1"/>
          </p:cNvSpPr>
          <p:nvPr>
            <p:ph type="clipArt" idx="2"/>
          </p:nvPr>
        </p:nvSpPr>
        <p:spPr>
          <a:xfrm>
            <a:off x="6035493" y="1216025"/>
            <a:ext cx="5760001" cy="4960938"/>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Online Image on Left">
  <p:cSld name="Online Image on Left">
    <p:spTree>
      <p:nvGrpSpPr>
        <p:cNvPr id="1" name="Shape 124"/>
        <p:cNvGrpSpPr/>
        <p:nvPr/>
      </p:nvGrpSpPr>
      <p:grpSpPr>
        <a:xfrm>
          <a:off x="0" y="0"/>
          <a:ext cx="0" cy="0"/>
          <a:chOff x="0" y="0"/>
          <a:chExt cx="0" cy="0"/>
        </a:xfrm>
      </p:grpSpPr>
      <p:sp>
        <p:nvSpPr>
          <p:cNvPr id="125" name="Google Shape;125;p27"/>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7"/>
          <p:cNvSpPr txBox="1">
            <a:spLocks noGrp="1"/>
          </p:cNvSpPr>
          <p:nvPr>
            <p:ph type="body" idx="1"/>
          </p:nvPr>
        </p:nvSpPr>
        <p:spPr>
          <a:xfrm>
            <a:off x="6035492" y="1216025"/>
            <a:ext cx="5880283" cy="49609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1800"/>
              <a:buNone/>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7" name="Google Shape;127;p27"/>
          <p:cNvSpPr>
            <a:spLocks noGrp="1"/>
          </p:cNvSpPr>
          <p:nvPr>
            <p:ph type="clipArt" idx="2"/>
          </p:nvPr>
        </p:nvSpPr>
        <p:spPr>
          <a:xfrm>
            <a:off x="275492" y="1216025"/>
            <a:ext cx="5760000" cy="4960938"/>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28"/>
        <p:cNvGrpSpPr/>
        <p:nvPr/>
      </p:nvGrpSpPr>
      <p:grpSpPr>
        <a:xfrm>
          <a:off x="0" y="0"/>
          <a:ext cx="0" cy="0"/>
          <a:chOff x="0" y="0"/>
          <a:chExt cx="0" cy="0"/>
        </a:xfrm>
      </p:grpSpPr>
      <p:pic>
        <p:nvPicPr>
          <p:cNvPr id="129" name="Google Shape;129;p28"/>
          <p:cNvPicPr preferRelativeResize="0"/>
          <p:nvPr/>
        </p:nvPicPr>
        <p:blipFill rotWithShape="1">
          <a:blip r:embed="rId2">
            <a:alphaModFix/>
          </a:blip>
          <a:srcRect/>
          <a:stretch/>
        </p:blipFill>
        <p:spPr>
          <a:xfrm>
            <a:off x="20" y="10"/>
            <a:ext cx="12191980" cy="6857990"/>
          </a:xfrm>
          <a:prstGeom prst="rect">
            <a:avLst/>
          </a:prstGeom>
          <a:noFill/>
          <a:ln>
            <a:noFill/>
          </a:ln>
        </p:spPr>
      </p:pic>
      <p:sp>
        <p:nvSpPr>
          <p:cNvPr id="130" name="Google Shape;130;p28"/>
          <p:cNvSpPr/>
          <p:nvPr/>
        </p:nvSpPr>
        <p:spPr>
          <a:xfrm>
            <a:off x="2107647" y="1674305"/>
            <a:ext cx="7976705" cy="144655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800" b="1">
                <a:solidFill>
                  <a:schemeClr val="dk1"/>
                </a:solidFill>
                <a:latin typeface="Arial"/>
                <a:ea typeface="Arial"/>
                <a:cs typeface="Arial"/>
                <a:sym typeface="Arial"/>
              </a:rPr>
              <a:t>THANK YOU!</a:t>
            </a:r>
            <a:endParaRPr/>
          </a:p>
        </p:txBody>
      </p:sp>
      <p:sp>
        <p:nvSpPr>
          <p:cNvPr id="131" name="Google Shape;131;p28"/>
          <p:cNvSpPr txBox="1">
            <a:spLocks noGrp="1"/>
          </p:cNvSpPr>
          <p:nvPr>
            <p:ph type="body" idx="1"/>
          </p:nvPr>
        </p:nvSpPr>
        <p:spPr>
          <a:xfrm>
            <a:off x="5275385" y="3709988"/>
            <a:ext cx="2766646" cy="117316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rgbClr val="FFF14E"/>
              </a:buClr>
              <a:buSzPts val="2400"/>
              <a:buNone/>
              <a:defRPr sz="2400" b="1">
                <a:solidFill>
                  <a:srgbClr val="FFF14E"/>
                </a:solidFill>
              </a:defRPr>
            </a:lvl1pPr>
            <a:lvl2pPr marL="914400" lvl="1" indent="-228600" algn="l">
              <a:lnSpc>
                <a:spcPct val="90000"/>
              </a:lnSpc>
              <a:spcBef>
                <a:spcPts val="600"/>
              </a:spcBef>
              <a:spcAft>
                <a:spcPts val="0"/>
              </a:spcAft>
              <a:buClr>
                <a:schemeClr val="lt1"/>
              </a:buClr>
              <a:buSzPts val="1800"/>
              <a:buNone/>
              <a:defRPr sz="1800">
                <a:solidFill>
                  <a:schemeClr val="lt1"/>
                </a:solidFill>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336000" y="1207746"/>
            <a:ext cx="11520000" cy="496807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1800"/>
              <a:buNone/>
              <a:defRPr/>
            </a:lvl1pPr>
            <a:lvl2pPr marL="914400" lvl="1" indent="-342900" algn="l">
              <a:lnSpc>
                <a:spcPct val="90000"/>
              </a:lnSpc>
              <a:spcBef>
                <a:spcPts val="600"/>
              </a:spcBef>
              <a:spcAft>
                <a:spcPts val="0"/>
              </a:spcAft>
              <a:buClr>
                <a:schemeClr val="accent6"/>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5"/>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5"/>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3" name="Google Shape;33;p5"/>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Arial"/>
                <a:ea typeface="Arial"/>
                <a:cs typeface="Arial"/>
                <a:sym typeface="Arial"/>
              </a:defRPr>
            </a:lvl1pPr>
            <a:lvl2pPr marL="0" marR="0" lvl="1" indent="0" algn="l" rtl="0">
              <a:spcBef>
                <a:spcPts val="0"/>
              </a:spcBef>
              <a:buNone/>
              <a:defRPr sz="1800" b="0" i="0" u="none" strike="noStrike" cap="none">
                <a:solidFill>
                  <a:schemeClr val="dk1"/>
                </a:solidFill>
                <a:latin typeface="Arial"/>
                <a:ea typeface="Arial"/>
                <a:cs typeface="Arial"/>
                <a:sym typeface="Arial"/>
              </a:defRPr>
            </a:lvl2pPr>
            <a:lvl3pPr marL="0" marR="0" lvl="2" indent="0" algn="l" rtl="0">
              <a:spcBef>
                <a:spcPts val="0"/>
              </a:spcBef>
              <a:buNone/>
              <a:defRPr sz="1800" b="0" i="0" u="none" strike="noStrike" cap="none">
                <a:solidFill>
                  <a:schemeClr val="dk1"/>
                </a:solidFill>
                <a:latin typeface="Arial"/>
                <a:ea typeface="Arial"/>
                <a:cs typeface="Arial"/>
                <a:sym typeface="Arial"/>
              </a:defRPr>
            </a:lvl3pPr>
            <a:lvl4pPr marL="0" marR="0" lvl="3" indent="0" algn="l" rtl="0">
              <a:spcBef>
                <a:spcPts val="0"/>
              </a:spcBef>
              <a:buNone/>
              <a:defRPr sz="1800" b="0" i="0" u="none" strike="noStrike" cap="none">
                <a:solidFill>
                  <a:schemeClr val="dk1"/>
                </a:solidFill>
                <a:latin typeface="Arial"/>
                <a:ea typeface="Arial"/>
                <a:cs typeface="Arial"/>
                <a:sym typeface="Arial"/>
              </a:defRPr>
            </a:lvl4pPr>
            <a:lvl5pPr marL="0" marR="0" lvl="4" indent="0" algn="l" rtl="0">
              <a:spcBef>
                <a:spcPts val="0"/>
              </a:spcBef>
              <a:buNone/>
              <a:defRPr sz="1800" b="0" i="0" u="none" strike="noStrike" cap="none">
                <a:solidFill>
                  <a:schemeClr val="dk1"/>
                </a:solidFill>
                <a:latin typeface="Arial"/>
                <a:ea typeface="Arial"/>
                <a:cs typeface="Arial"/>
                <a:sym typeface="Arial"/>
              </a:defRPr>
            </a:lvl5pPr>
            <a:lvl6pPr marL="0" marR="0" lvl="5" indent="0" algn="l" rtl="0">
              <a:spcBef>
                <a:spcPts val="0"/>
              </a:spcBef>
              <a:buNone/>
              <a:defRPr sz="1800" b="0" i="0" u="none" strike="noStrike" cap="none">
                <a:solidFill>
                  <a:schemeClr val="dk1"/>
                </a:solidFill>
                <a:latin typeface="Arial"/>
                <a:ea typeface="Arial"/>
                <a:cs typeface="Arial"/>
                <a:sym typeface="Arial"/>
              </a:defRPr>
            </a:lvl6pPr>
            <a:lvl7pPr marL="0" marR="0" lvl="6" indent="0" algn="l" rtl="0">
              <a:spcBef>
                <a:spcPts val="0"/>
              </a:spcBef>
              <a:buNone/>
              <a:defRPr sz="1800" b="0" i="0" u="none" strike="noStrike" cap="none">
                <a:solidFill>
                  <a:schemeClr val="dk1"/>
                </a:solidFill>
                <a:latin typeface="Arial"/>
                <a:ea typeface="Arial"/>
                <a:cs typeface="Arial"/>
                <a:sym typeface="Arial"/>
              </a:defRPr>
            </a:lvl7pPr>
            <a:lvl8pPr marL="0" marR="0" lvl="7" indent="0" algn="l" rtl="0">
              <a:spcBef>
                <a:spcPts val="0"/>
              </a:spcBef>
              <a:buNone/>
              <a:defRPr sz="1800" b="0" i="0" u="none" strike="noStrike" cap="none">
                <a:solidFill>
                  <a:schemeClr val="dk1"/>
                </a:solidFill>
                <a:latin typeface="Arial"/>
                <a:ea typeface="Arial"/>
                <a:cs typeface="Arial"/>
                <a:sym typeface="Arial"/>
              </a:defRPr>
            </a:lvl8pPr>
            <a:lvl9pPr marL="0" marR="0" lvl="8" indent="0" algn="l" rtl="0">
              <a:spcBef>
                <a:spcPts val="0"/>
              </a:spcBef>
              <a:buNone/>
              <a:defRPr sz="1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36507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jp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descr="A close up of a logo&#10;&#10;Description automatically generated"/>
          <p:cNvPicPr preferRelativeResize="0"/>
          <p:nvPr/>
        </p:nvPicPr>
        <p:blipFill rotWithShape="1">
          <a:blip r:embed="rId28">
            <a:alphaModFix/>
          </a:blip>
          <a:srcRect l="51542" t="91811"/>
          <a:stretch/>
        </p:blipFill>
        <p:spPr>
          <a:xfrm>
            <a:off x="8305800" y="6489700"/>
            <a:ext cx="3874498" cy="368300"/>
          </a:xfrm>
          <a:prstGeom prst="rect">
            <a:avLst/>
          </a:prstGeom>
          <a:noFill/>
          <a:ln>
            <a:noFill/>
          </a:ln>
        </p:spPr>
      </p:pic>
      <p:pic>
        <p:nvPicPr>
          <p:cNvPr id="11" name="Google Shape;11;p1" descr="A close up of a logo&#10;&#10;Description automatically generated"/>
          <p:cNvPicPr preferRelativeResize="0"/>
          <p:nvPr/>
        </p:nvPicPr>
        <p:blipFill rotWithShape="1">
          <a:blip r:embed="rId28">
            <a:alphaModFix/>
          </a:blip>
          <a:srcRect t="19457" b="60855"/>
          <a:stretch/>
        </p:blipFill>
        <p:spPr>
          <a:xfrm>
            <a:off x="11702" y="7130"/>
            <a:ext cx="12191980" cy="1350092"/>
          </a:xfrm>
          <a:prstGeom prst="rect">
            <a:avLst/>
          </a:prstGeom>
          <a:noFill/>
          <a:ln>
            <a:noFill/>
          </a:ln>
        </p:spPr>
      </p:pic>
      <p:sp>
        <p:nvSpPr>
          <p:cNvPr id="12" name="Google Shape;12;p1"/>
          <p:cNvSpPr/>
          <p:nvPr/>
        </p:nvSpPr>
        <p:spPr>
          <a:xfrm>
            <a:off x="0" y="0"/>
            <a:ext cx="12192000" cy="685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 name="Google Shape;13;p1"/>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1"/>
          <p:cNvSpPr txBox="1">
            <a:spLocks noGrp="1"/>
          </p:cNvSpPr>
          <p:nvPr>
            <p:ph type="body" idx="1"/>
          </p:nvPr>
        </p:nvSpPr>
        <p:spPr>
          <a:xfrm>
            <a:off x="336000" y="1207746"/>
            <a:ext cx="11520000" cy="496807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200"/>
              </a:spcBef>
              <a:spcAft>
                <a:spcPts val="0"/>
              </a:spcAft>
              <a:buClr>
                <a:schemeClr val="dk1"/>
              </a:buClr>
              <a:buSzPts val="2000"/>
              <a:buFont typeface="Noto Sans Symbols"/>
              <a:buNone/>
              <a:defRPr sz="2000" b="1" i="0" u="none" strike="noStrike" cap="none">
                <a:solidFill>
                  <a:schemeClr val="dk1"/>
                </a:solidFill>
                <a:latin typeface="Arial"/>
                <a:ea typeface="Arial"/>
                <a:cs typeface="Arial"/>
                <a:sym typeface="Arial"/>
              </a:defRPr>
            </a:lvl1pPr>
            <a:lvl2pPr marL="914400" marR="0" lvl="1" indent="-342900" algn="l" rtl="0">
              <a:lnSpc>
                <a:spcPct val="90000"/>
              </a:lnSpc>
              <a:spcBef>
                <a:spcPts val="600"/>
              </a:spcBef>
              <a:spcAft>
                <a:spcPts val="0"/>
              </a:spcAft>
              <a:buClr>
                <a:schemeClr val="accent6"/>
              </a:buClr>
              <a:buSzPts val="1800"/>
              <a:buFont typeface="Noto Sans Symbols"/>
              <a:buChar char="▪"/>
              <a:defRPr sz="1800" b="0" i="0" u="none" strike="noStrike" cap="none">
                <a:solidFill>
                  <a:schemeClr val="accent6"/>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 name="Google Shape;15;p1"/>
          <p:cNvSpPr/>
          <p:nvPr/>
        </p:nvSpPr>
        <p:spPr>
          <a:xfrm>
            <a:off x="0" y="982207"/>
            <a:ext cx="8397619" cy="54000"/>
          </a:xfrm>
          <a:prstGeom prst="rect">
            <a:avLst/>
          </a:prstGeom>
          <a:solidFill>
            <a:srgbClr val="FFF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 name="Google Shape;16;p1"/>
          <p:cNvSpPr/>
          <p:nvPr/>
        </p:nvSpPr>
        <p:spPr>
          <a:xfrm>
            <a:off x="3782679" y="6176963"/>
            <a:ext cx="8397619" cy="18000"/>
          </a:xfrm>
          <a:prstGeom prst="rect">
            <a:avLst/>
          </a:prstGeom>
          <a:solidFill>
            <a:srgbClr val="BDD2F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6"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26.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26.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2.png"/><Relationship Id="rId7"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4.png"/><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2.png"/><Relationship Id="rId7"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7.png"/><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0.png"/><Relationship Id="rId7"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32.png"/><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8" name="Google Shape;138;p29"/>
          <p:cNvSpPr txBox="1">
            <a:spLocks noGrp="1"/>
          </p:cNvSpPr>
          <p:nvPr>
            <p:ph type="body" idx="1"/>
          </p:nvPr>
        </p:nvSpPr>
        <p:spPr>
          <a:xfrm>
            <a:off x="1935554" y="3145415"/>
            <a:ext cx="7700058" cy="957261"/>
          </a:xfrm>
          <a:prstGeom prst="rect">
            <a:avLst/>
          </a:prstGeom>
          <a:noFill/>
          <a:ln>
            <a:noFill/>
          </a:ln>
        </p:spPr>
        <p:txBody>
          <a:bodyPr spcFirstLastPara="1" wrap="square" lIns="91425" tIns="45700" rIns="91425" bIns="45700" anchor="t" anchorCtr="0">
            <a:normAutofit fontScale="92500"/>
          </a:bodyPr>
          <a:lstStyle/>
          <a:p>
            <a:pPr marL="0" lvl="0" indent="0" algn="ctr" rtl="0">
              <a:lnSpc>
                <a:spcPct val="100000"/>
              </a:lnSpc>
              <a:spcBef>
                <a:spcPts val="0"/>
              </a:spcBef>
              <a:spcAft>
                <a:spcPts val="0"/>
              </a:spcAft>
              <a:buClr>
                <a:srgbClr val="013CB2"/>
              </a:buClr>
              <a:buSzPts val="5100"/>
              <a:buNone/>
            </a:pPr>
            <a:r>
              <a:rPr lang="en-US" sz="5100" b="0" dirty="0">
                <a:solidFill>
                  <a:srgbClr val="013CB2"/>
                </a:solidFill>
                <a:latin typeface="Cambria"/>
                <a:ea typeface="Cambria"/>
                <a:cs typeface="Cambria"/>
                <a:sym typeface="Cambria"/>
              </a:rPr>
              <a:t>Database access using SQLite</a:t>
            </a:r>
          </a:p>
        </p:txBody>
      </p:sp>
      <p:pic>
        <p:nvPicPr>
          <p:cNvPr id="2" name="Google Shape;133;p27">
            <a:extLst>
              <a:ext uri="{FF2B5EF4-FFF2-40B4-BE49-F238E27FC236}">
                <a16:creationId xmlns:a16="http://schemas.microsoft.com/office/drawing/2014/main" id="{CC77A008-DCC3-FF7E-CBD9-DE6F6265E92F}"/>
              </a:ext>
            </a:extLst>
          </p:cNvPr>
          <p:cNvPicPr preferRelativeResize="0"/>
          <p:nvPr/>
        </p:nvPicPr>
        <p:blipFill rotWithShape="1">
          <a:blip r:embed="rId3">
            <a:alphaModFix/>
          </a:blip>
          <a:srcRect/>
          <a:stretch/>
        </p:blipFill>
        <p:spPr>
          <a:xfrm>
            <a:off x="6316394" y="6389978"/>
            <a:ext cx="5875606" cy="468022"/>
          </a:xfrm>
          <a:prstGeom prst="rect">
            <a:avLst/>
          </a:prstGeom>
          <a:noFill/>
          <a:ln>
            <a:noFill/>
          </a:ln>
        </p:spPr>
      </p:pic>
      <p:pic>
        <p:nvPicPr>
          <p:cNvPr id="3" name="Google Shape;223;p39">
            <a:extLst>
              <a:ext uri="{FF2B5EF4-FFF2-40B4-BE49-F238E27FC236}">
                <a16:creationId xmlns:a16="http://schemas.microsoft.com/office/drawing/2014/main" id="{F8FF30B3-1D78-D003-44A3-568338F576A7}"/>
              </a:ext>
            </a:extLst>
          </p:cNvPr>
          <p:cNvPicPr preferRelativeResize="0"/>
          <p:nvPr/>
        </p:nvPicPr>
        <p:blipFill rotWithShape="1">
          <a:blip r:embed="rId4">
            <a:alphaModFix/>
          </a:blip>
          <a:srcRect/>
          <a:stretch/>
        </p:blipFill>
        <p:spPr>
          <a:xfrm>
            <a:off x="10070830" y="-6626"/>
            <a:ext cx="1969360" cy="832212"/>
          </a:xfrm>
          <a:prstGeom prst="rect">
            <a:avLst/>
          </a:prstGeom>
          <a:noFill/>
          <a:ln>
            <a:noFill/>
          </a:ln>
        </p:spPr>
      </p:pic>
      <p:pic>
        <p:nvPicPr>
          <p:cNvPr id="1028" name="Picture 4" descr="Databases Services Online | Fiverr">
            <a:extLst>
              <a:ext uri="{FF2B5EF4-FFF2-40B4-BE49-F238E27FC236}">
                <a16:creationId xmlns:a16="http://schemas.microsoft.com/office/drawing/2014/main" id="{3E08E46B-AC4E-0A4D-61FF-C59A2370DA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54058" y="2668932"/>
            <a:ext cx="1520135" cy="152013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300CB32-5B03-719B-6461-A79DB6050421}"/>
              </a:ext>
            </a:extLst>
          </p:cNvPr>
          <p:cNvPicPr>
            <a:picLocks noChangeAspect="1"/>
          </p:cNvPicPr>
          <p:nvPr/>
        </p:nvPicPr>
        <p:blipFill>
          <a:blip r:embed="rId6"/>
          <a:stretch>
            <a:fillRect/>
          </a:stretch>
        </p:blipFill>
        <p:spPr>
          <a:xfrm>
            <a:off x="10042738" y="-9451"/>
            <a:ext cx="2149262" cy="7507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32"/>
          <p:cNvSpPr txBox="1">
            <a:spLocks noGrp="1"/>
          </p:cNvSpPr>
          <p:nvPr>
            <p:ph type="title"/>
          </p:nvPr>
        </p:nvSpPr>
        <p:spPr>
          <a:xfrm>
            <a:off x="838200" y="64846"/>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55A11"/>
              </a:buClr>
              <a:buSzPts val="4400"/>
              <a:buFont typeface="Cambria"/>
              <a:buNone/>
            </a:pPr>
            <a:r>
              <a:rPr lang="en-US" b="1">
                <a:solidFill>
                  <a:srgbClr val="C55A11"/>
                </a:solidFill>
                <a:latin typeface="Cambria"/>
                <a:ea typeface="Cambria"/>
                <a:cs typeface="Cambria"/>
                <a:sym typeface="Cambria"/>
              </a:rPr>
              <a:t>Data</a:t>
            </a:r>
            <a:endParaRPr/>
          </a:p>
        </p:txBody>
      </p:sp>
      <p:sp>
        <p:nvSpPr>
          <p:cNvPr id="157" name="Google Shape;157;p32"/>
          <p:cNvSpPr txBox="1">
            <a:spLocks noGrp="1"/>
          </p:cNvSpPr>
          <p:nvPr>
            <p:ph type="body" idx="1"/>
          </p:nvPr>
        </p:nvSpPr>
        <p:spPr>
          <a:xfrm>
            <a:off x="838200" y="1126020"/>
            <a:ext cx="10942983" cy="5230329"/>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rgbClr val="001E59"/>
              </a:buClr>
              <a:buSzPts val="2000"/>
              <a:buNone/>
            </a:pPr>
            <a:r>
              <a:rPr lang="en-US" sz="1800" b="0" dirty="0">
                <a:solidFill>
                  <a:srgbClr val="001E59"/>
                </a:solidFill>
                <a:latin typeface="Times New Roman" panose="02020603050405020304" pitchFamily="18" charset="0"/>
                <a:ea typeface="Cambria"/>
                <a:cs typeface="Times New Roman" panose="02020603050405020304" pitchFamily="18" charset="0"/>
                <a:sym typeface="Cambria"/>
              </a:rPr>
              <a:t>Quantities 1,2,3,…100,…1000…</a:t>
            </a:r>
            <a:endParaRPr sz="1800" b="0" dirty="0">
              <a:latin typeface="Times New Roman" panose="02020603050405020304" pitchFamily="18" charset="0"/>
              <a:cs typeface="Times New Roman" panose="02020603050405020304" pitchFamily="18" charset="0"/>
            </a:endParaRPr>
          </a:p>
          <a:p>
            <a:pPr marL="0" lvl="0" indent="0" algn="l" rtl="0">
              <a:lnSpc>
                <a:spcPct val="150000"/>
              </a:lnSpc>
              <a:spcBef>
                <a:spcPts val="1800"/>
              </a:spcBef>
              <a:spcAft>
                <a:spcPts val="0"/>
              </a:spcAft>
              <a:buClr>
                <a:srgbClr val="001E59"/>
              </a:buClr>
              <a:buSzPts val="2000"/>
              <a:buNone/>
            </a:pPr>
            <a:r>
              <a:rPr lang="en-US" sz="1800" b="0" dirty="0">
                <a:solidFill>
                  <a:srgbClr val="001E59"/>
                </a:solidFill>
                <a:latin typeface="Times New Roman" panose="02020603050405020304" pitchFamily="18" charset="0"/>
                <a:ea typeface="Cambria"/>
                <a:cs typeface="Times New Roman" panose="02020603050405020304" pitchFamily="18" charset="0"/>
                <a:sym typeface="Cambria"/>
              </a:rPr>
              <a:t>Characters A, B, C…Z, a, b, c,…z</a:t>
            </a:r>
            <a:endParaRPr sz="1800" b="0" dirty="0">
              <a:latin typeface="Times New Roman" panose="02020603050405020304" pitchFamily="18" charset="0"/>
              <a:cs typeface="Times New Roman" panose="02020603050405020304" pitchFamily="18" charset="0"/>
            </a:endParaRPr>
          </a:p>
          <a:p>
            <a:pPr marL="0" lvl="0" indent="0" algn="l" rtl="0">
              <a:lnSpc>
                <a:spcPct val="150000"/>
              </a:lnSpc>
              <a:spcBef>
                <a:spcPts val="1800"/>
              </a:spcBef>
              <a:spcAft>
                <a:spcPts val="0"/>
              </a:spcAft>
              <a:buClr>
                <a:srgbClr val="001E59"/>
              </a:buClr>
              <a:buSzPts val="2000"/>
              <a:buNone/>
            </a:pPr>
            <a:r>
              <a:rPr lang="en-US" sz="1800" b="0" dirty="0">
                <a:solidFill>
                  <a:srgbClr val="001E59"/>
                </a:solidFill>
                <a:latin typeface="Times New Roman" panose="02020603050405020304" pitchFamily="18" charset="0"/>
                <a:ea typeface="Cambria"/>
                <a:cs typeface="Times New Roman" panose="02020603050405020304" pitchFamily="18" charset="0"/>
                <a:sym typeface="Cambria"/>
              </a:rPr>
              <a:t>Symbols ! @ # $ % &amp; * ()…</a:t>
            </a:r>
            <a:endParaRPr sz="1800" b="0" dirty="0">
              <a:latin typeface="Times New Roman" panose="02020603050405020304" pitchFamily="18" charset="0"/>
              <a:cs typeface="Times New Roman" panose="02020603050405020304" pitchFamily="18" charset="0"/>
            </a:endParaRPr>
          </a:p>
          <a:p>
            <a:pPr marL="0" lvl="0" indent="0" algn="l" rtl="0">
              <a:lnSpc>
                <a:spcPct val="150000"/>
              </a:lnSpc>
              <a:spcBef>
                <a:spcPts val="1800"/>
              </a:spcBef>
              <a:spcAft>
                <a:spcPts val="0"/>
              </a:spcAft>
              <a:buClr>
                <a:srgbClr val="001E59"/>
              </a:buClr>
              <a:buSzPts val="2000"/>
              <a:buNone/>
            </a:pPr>
            <a:r>
              <a:rPr lang="en-US" sz="1800" b="0" dirty="0">
                <a:solidFill>
                  <a:srgbClr val="001E59"/>
                </a:solidFill>
                <a:latin typeface="Times New Roman" panose="02020603050405020304" pitchFamily="18" charset="0"/>
                <a:ea typeface="Cambria"/>
                <a:cs typeface="Times New Roman" panose="02020603050405020304" pitchFamily="18" charset="0"/>
                <a:sym typeface="Cambria"/>
              </a:rPr>
              <a:t>Quantities , Characters, Symbols are stored in digital format.</a:t>
            </a:r>
            <a:endParaRPr sz="1800" b="0" dirty="0">
              <a:latin typeface="Times New Roman" panose="02020603050405020304" pitchFamily="18" charset="0"/>
              <a:cs typeface="Times New Roman" panose="02020603050405020304" pitchFamily="18" charset="0"/>
            </a:endParaRPr>
          </a:p>
          <a:p>
            <a:pPr marL="0" lvl="0" indent="0" algn="l" rtl="0">
              <a:lnSpc>
                <a:spcPct val="150000"/>
              </a:lnSpc>
              <a:spcBef>
                <a:spcPts val="1800"/>
              </a:spcBef>
              <a:spcAft>
                <a:spcPts val="0"/>
              </a:spcAft>
              <a:buClr>
                <a:srgbClr val="001E59"/>
              </a:buClr>
              <a:buSzPts val="2000"/>
              <a:buNone/>
            </a:pPr>
            <a:r>
              <a:rPr lang="en-US" sz="1800" b="0" dirty="0">
                <a:solidFill>
                  <a:srgbClr val="001E59"/>
                </a:solidFill>
                <a:latin typeface="Times New Roman" panose="02020603050405020304" pitchFamily="18" charset="0"/>
                <a:ea typeface="Cambria"/>
                <a:cs typeface="Times New Roman" panose="02020603050405020304" pitchFamily="18" charset="0"/>
                <a:sym typeface="Cambria"/>
              </a:rPr>
              <a:t>Data </a:t>
            </a:r>
            <a:r>
              <a:rPr lang="en-US" sz="1800" b="0" dirty="0">
                <a:solidFill>
                  <a:srgbClr val="001E59"/>
                </a:solidFill>
                <a:latin typeface="Times New Roman" panose="02020603050405020304" pitchFamily="18" charset="0"/>
                <a:ea typeface="Cambria"/>
                <a:cs typeface="Times New Roman" panose="02020603050405020304" pitchFamily="18" charset="0"/>
                <a:sym typeface="Wingdings" panose="05000000000000000000" pitchFamily="2" charset="2"/>
              </a:rPr>
              <a:t></a:t>
            </a:r>
            <a:r>
              <a:rPr lang="en-US" sz="1800" b="0" dirty="0">
                <a:solidFill>
                  <a:srgbClr val="001E59"/>
                </a:solidFill>
                <a:latin typeface="Times New Roman" panose="02020603050405020304" pitchFamily="18" charset="0"/>
                <a:ea typeface="Cambria"/>
                <a:cs typeface="Times New Roman" panose="02020603050405020304" pitchFamily="18" charset="0"/>
                <a:sym typeface="Cambria"/>
              </a:rPr>
              <a:t> plural                 Datum </a:t>
            </a:r>
            <a:r>
              <a:rPr lang="en-US" sz="1800" b="0" dirty="0">
                <a:solidFill>
                  <a:srgbClr val="001E59"/>
                </a:solidFill>
                <a:latin typeface="Times New Roman" panose="02020603050405020304" pitchFamily="18" charset="0"/>
                <a:ea typeface="Cambria"/>
                <a:cs typeface="Times New Roman" panose="02020603050405020304" pitchFamily="18" charset="0"/>
                <a:sym typeface="Wingdings" panose="05000000000000000000" pitchFamily="2" charset="2"/>
              </a:rPr>
              <a:t></a:t>
            </a:r>
            <a:r>
              <a:rPr lang="en-US" sz="1800" b="0" dirty="0">
                <a:solidFill>
                  <a:srgbClr val="001E59"/>
                </a:solidFill>
                <a:latin typeface="Times New Roman" panose="02020603050405020304" pitchFamily="18" charset="0"/>
                <a:ea typeface="Cambria"/>
                <a:cs typeface="Times New Roman" panose="02020603050405020304" pitchFamily="18" charset="0"/>
                <a:sym typeface="Cambria"/>
              </a:rPr>
              <a:t> singular</a:t>
            </a:r>
            <a:endParaRPr sz="1800" b="0" dirty="0">
              <a:latin typeface="Times New Roman" panose="02020603050405020304" pitchFamily="18" charset="0"/>
              <a:cs typeface="Times New Roman" panose="02020603050405020304" pitchFamily="18" charset="0"/>
            </a:endParaRPr>
          </a:p>
          <a:p>
            <a:pPr marL="0" lvl="0" indent="0" algn="l" rtl="0">
              <a:lnSpc>
                <a:spcPct val="150000"/>
              </a:lnSpc>
              <a:spcBef>
                <a:spcPts val="1800"/>
              </a:spcBef>
              <a:spcAft>
                <a:spcPts val="0"/>
              </a:spcAft>
              <a:buClr>
                <a:srgbClr val="001E59"/>
              </a:buClr>
              <a:buSzPts val="2000"/>
              <a:buNone/>
            </a:pPr>
            <a:r>
              <a:rPr lang="en-US" sz="1800" b="0" dirty="0">
                <a:solidFill>
                  <a:srgbClr val="001E59"/>
                </a:solidFill>
                <a:latin typeface="Times New Roman" panose="02020603050405020304" pitchFamily="18" charset="0"/>
                <a:ea typeface="Cambria"/>
                <a:cs typeface="Times New Roman" panose="02020603050405020304" pitchFamily="18" charset="0"/>
                <a:sym typeface="Cambria"/>
              </a:rPr>
              <a:t>Data is Every Where</a:t>
            </a:r>
            <a:endParaRPr sz="1800" b="0" dirty="0">
              <a:latin typeface="Times New Roman" panose="02020603050405020304" pitchFamily="18" charset="0"/>
              <a:cs typeface="Times New Roman" panose="02020603050405020304" pitchFamily="18" charset="0"/>
            </a:endParaRPr>
          </a:p>
          <a:p>
            <a:pPr marL="0" lvl="0" indent="0" algn="l" rtl="0">
              <a:lnSpc>
                <a:spcPct val="150000"/>
              </a:lnSpc>
              <a:spcBef>
                <a:spcPts val="1800"/>
              </a:spcBef>
              <a:spcAft>
                <a:spcPts val="0"/>
              </a:spcAft>
              <a:buClr>
                <a:srgbClr val="001E59"/>
              </a:buClr>
              <a:buSzPts val="2000"/>
              <a:buNone/>
            </a:pPr>
            <a:r>
              <a:rPr lang="en-US" sz="1800" b="0" dirty="0">
                <a:solidFill>
                  <a:srgbClr val="001E59"/>
                </a:solidFill>
                <a:latin typeface="Times New Roman" panose="02020603050405020304" pitchFamily="18" charset="0"/>
                <a:ea typeface="Cambria"/>
                <a:cs typeface="Times New Roman" panose="02020603050405020304" pitchFamily="18" charset="0"/>
                <a:sym typeface="Cambria"/>
              </a:rPr>
              <a:t>Machines, Robots, Sensors, Our self are products of data.  </a:t>
            </a:r>
            <a:endParaRPr sz="1800" b="0" dirty="0">
              <a:latin typeface="Times New Roman" panose="02020603050405020304" pitchFamily="18" charset="0"/>
              <a:cs typeface="Times New Roman" panose="02020603050405020304" pitchFamily="18" charset="0"/>
            </a:endParaRPr>
          </a:p>
          <a:p>
            <a:pPr marL="0" lvl="0" indent="0" algn="l" rtl="0">
              <a:lnSpc>
                <a:spcPct val="150000"/>
              </a:lnSpc>
              <a:spcBef>
                <a:spcPts val="1800"/>
              </a:spcBef>
              <a:spcAft>
                <a:spcPts val="0"/>
              </a:spcAft>
              <a:buClr>
                <a:srgbClr val="001E59"/>
              </a:buClr>
              <a:buSzPts val="2000"/>
              <a:buNone/>
            </a:pPr>
            <a:r>
              <a:rPr lang="en-US" sz="1800" b="0" dirty="0">
                <a:solidFill>
                  <a:srgbClr val="001E59"/>
                </a:solidFill>
                <a:latin typeface="Times New Roman" panose="02020603050405020304" pitchFamily="18" charset="0"/>
                <a:ea typeface="Cambria"/>
                <a:cs typeface="Times New Roman" panose="02020603050405020304" pitchFamily="18" charset="0"/>
                <a:sym typeface="Cambria"/>
              </a:rPr>
              <a:t>All roads lead to DATA.</a:t>
            </a:r>
            <a:endParaRPr sz="1800" b="0" dirty="0">
              <a:latin typeface="Times New Roman" panose="02020603050405020304" pitchFamily="18" charset="0"/>
              <a:cs typeface="Times New Roman" panose="02020603050405020304" pitchFamily="18" charset="0"/>
            </a:endParaRPr>
          </a:p>
          <a:p>
            <a:pPr marL="0" lvl="0" indent="0" algn="l" rtl="0">
              <a:lnSpc>
                <a:spcPct val="150000"/>
              </a:lnSpc>
              <a:spcBef>
                <a:spcPts val="1800"/>
              </a:spcBef>
              <a:spcAft>
                <a:spcPts val="0"/>
              </a:spcAft>
              <a:buClr>
                <a:schemeClr val="dk1"/>
              </a:buClr>
              <a:buSzPts val="1600"/>
              <a:buNone/>
            </a:pPr>
            <a:endParaRPr sz="1600" dirty="0">
              <a:solidFill>
                <a:srgbClr val="0070C0"/>
              </a:solidFill>
              <a:latin typeface="Cambria"/>
              <a:ea typeface="Cambria"/>
              <a:cs typeface="Cambria"/>
              <a:sym typeface="Cambria"/>
            </a:endParaRPr>
          </a:p>
        </p:txBody>
      </p:sp>
      <p:pic>
        <p:nvPicPr>
          <p:cNvPr id="158" name="Google Shape;158;p32" descr="A picture containing text&#10;&#10;Description automatically generated"/>
          <p:cNvPicPr preferRelativeResize="0"/>
          <p:nvPr/>
        </p:nvPicPr>
        <p:blipFill rotWithShape="1">
          <a:blip r:embed="rId3">
            <a:alphaModFix/>
          </a:blip>
          <a:srcRect/>
          <a:stretch/>
        </p:blipFill>
        <p:spPr>
          <a:xfrm>
            <a:off x="8153400" y="1126021"/>
            <a:ext cx="2395745" cy="2395745"/>
          </a:xfrm>
          <a:prstGeom prst="rect">
            <a:avLst/>
          </a:prstGeom>
          <a:noFill/>
          <a:ln>
            <a:noFill/>
          </a:ln>
        </p:spPr>
      </p:pic>
      <p:pic>
        <p:nvPicPr>
          <p:cNvPr id="2" name="Google Shape;133;p27">
            <a:extLst>
              <a:ext uri="{FF2B5EF4-FFF2-40B4-BE49-F238E27FC236}">
                <a16:creationId xmlns:a16="http://schemas.microsoft.com/office/drawing/2014/main" id="{54668E96-AC59-FA77-8BEB-857126DA88D0}"/>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BBEEBEC4-95E5-0F30-2876-F040D5969560}"/>
              </a:ext>
            </a:extLst>
          </p:cNvPr>
          <p:cNvPicPr preferRelativeResize="0"/>
          <p:nvPr/>
        </p:nvPicPr>
        <p:blipFill rotWithShape="1">
          <a:blip r:embed="rId5">
            <a:alphaModFix/>
          </a:blip>
          <a:srcRect/>
          <a:stretch/>
        </p:blipFill>
        <p:spPr>
          <a:xfrm>
            <a:off x="10070830" y="-6301"/>
            <a:ext cx="1969360" cy="832212"/>
          </a:xfrm>
          <a:prstGeom prst="rect">
            <a:avLst/>
          </a:prstGeom>
          <a:noFill/>
          <a:ln>
            <a:noFill/>
          </a:ln>
        </p:spPr>
      </p:pic>
      <p:pic>
        <p:nvPicPr>
          <p:cNvPr id="4" name="Picture 3">
            <a:extLst>
              <a:ext uri="{FF2B5EF4-FFF2-40B4-BE49-F238E27FC236}">
                <a16:creationId xmlns:a16="http://schemas.microsoft.com/office/drawing/2014/main" id="{C64C6DE2-DB3A-BEA5-B199-2ADE81549064}"/>
              </a:ext>
            </a:extLst>
          </p:cNvPr>
          <p:cNvPicPr>
            <a:picLocks noChangeAspect="1"/>
          </p:cNvPicPr>
          <p:nvPr/>
        </p:nvPicPr>
        <p:blipFill>
          <a:blip r:embed="rId6"/>
          <a:stretch>
            <a:fillRect/>
          </a:stretch>
        </p:blipFill>
        <p:spPr>
          <a:xfrm>
            <a:off x="10042738" y="-9451"/>
            <a:ext cx="2149262" cy="7507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3"/>
          <p:cNvSpPr txBox="1">
            <a:spLocks noGrp="1"/>
          </p:cNvSpPr>
          <p:nvPr>
            <p:ph type="title"/>
          </p:nvPr>
        </p:nvSpPr>
        <p:spPr>
          <a:xfrm>
            <a:off x="866288" y="142461"/>
            <a:ext cx="9344512"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55A11"/>
              </a:buClr>
              <a:buSzPts val="4400"/>
              <a:buFont typeface="Cambria"/>
              <a:buNone/>
            </a:pPr>
            <a:r>
              <a:rPr lang="en-US" b="1">
                <a:solidFill>
                  <a:srgbClr val="C55A11"/>
                </a:solidFill>
                <a:latin typeface="Cambria"/>
                <a:ea typeface="Cambria"/>
                <a:cs typeface="Cambria"/>
                <a:sym typeface="Cambria"/>
              </a:rPr>
              <a:t>Numerous kinds of data</a:t>
            </a:r>
            <a:endParaRPr/>
          </a:p>
        </p:txBody>
      </p:sp>
      <p:sp>
        <p:nvSpPr>
          <p:cNvPr id="164" name="Google Shape;164;p33"/>
          <p:cNvSpPr txBox="1">
            <a:spLocks noGrp="1"/>
          </p:cNvSpPr>
          <p:nvPr>
            <p:ph type="body" idx="1"/>
          </p:nvPr>
        </p:nvSpPr>
        <p:spPr>
          <a:xfrm>
            <a:off x="866288" y="1295400"/>
            <a:ext cx="9344512" cy="52578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lnSpc>
                <a:spcPct val="150000"/>
              </a:lnSpc>
              <a:spcBef>
                <a:spcPts val="0"/>
              </a:spcBef>
              <a:spcAft>
                <a:spcPts val="0"/>
              </a:spcAft>
              <a:buClr>
                <a:srgbClr val="001E59"/>
              </a:buClr>
              <a:buSzPct val="100000"/>
              <a:buNone/>
            </a:pPr>
            <a:r>
              <a:rPr lang="en-US" sz="1900" b="1" dirty="0">
                <a:solidFill>
                  <a:srgbClr val="001E59"/>
                </a:solidFill>
                <a:latin typeface="Cambria"/>
                <a:ea typeface="Cambria"/>
                <a:cs typeface="Cambria"/>
                <a:sym typeface="Cambria"/>
              </a:rPr>
              <a:t>Text data</a:t>
            </a:r>
            <a:r>
              <a:rPr lang="en-US" sz="1900" dirty="0">
                <a:solidFill>
                  <a:srgbClr val="001E59"/>
                </a:solidFill>
                <a:latin typeface="Cambria"/>
                <a:ea typeface="Cambria"/>
                <a:cs typeface="Cambria"/>
                <a:sym typeface="Cambria"/>
              </a:rPr>
              <a:t> (.doc, .txt, .pdf…) </a:t>
            </a:r>
            <a:endParaRPr sz="1900" dirty="0"/>
          </a:p>
          <a:p>
            <a:pPr marL="0" lvl="0" indent="0" algn="l" rtl="0">
              <a:lnSpc>
                <a:spcPct val="150000"/>
              </a:lnSpc>
              <a:spcBef>
                <a:spcPts val="1800"/>
              </a:spcBef>
              <a:spcAft>
                <a:spcPts val="0"/>
              </a:spcAft>
              <a:buClr>
                <a:srgbClr val="001E59"/>
              </a:buClr>
              <a:buSzPct val="100000"/>
              <a:buNone/>
            </a:pPr>
            <a:r>
              <a:rPr lang="en-US" sz="1900" b="1" dirty="0">
                <a:solidFill>
                  <a:srgbClr val="001E59"/>
                </a:solidFill>
                <a:latin typeface="Cambria"/>
                <a:ea typeface="Cambria"/>
                <a:cs typeface="Cambria"/>
                <a:sym typeface="Cambria"/>
              </a:rPr>
              <a:t>Excel data </a:t>
            </a:r>
            <a:r>
              <a:rPr lang="en-US" sz="1900" dirty="0">
                <a:solidFill>
                  <a:srgbClr val="001E59"/>
                </a:solidFill>
                <a:latin typeface="Cambria"/>
                <a:ea typeface="Cambria"/>
                <a:cs typeface="Cambria"/>
                <a:sym typeface="Cambria"/>
              </a:rPr>
              <a:t>(.csv, .</a:t>
            </a:r>
            <a:r>
              <a:rPr lang="en-US" sz="1900" dirty="0" err="1">
                <a:solidFill>
                  <a:srgbClr val="001E59"/>
                </a:solidFill>
                <a:latin typeface="Cambria"/>
                <a:ea typeface="Cambria"/>
                <a:cs typeface="Cambria"/>
                <a:sym typeface="Cambria"/>
              </a:rPr>
              <a:t>tsv</a:t>
            </a:r>
            <a:r>
              <a:rPr lang="en-US" sz="1900" dirty="0">
                <a:solidFill>
                  <a:srgbClr val="001E59"/>
                </a:solidFill>
                <a:latin typeface="Cambria"/>
                <a:ea typeface="Cambria"/>
                <a:cs typeface="Cambria"/>
                <a:sym typeface="Cambria"/>
              </a:rPr>
              <a:t>)</a:t>
            </a:r>
            <a:endParaRPr sz="1900" dirty="0"/>
          </a:p>
          <a:p>
            <a:pPr marL="0" lvl="0" indent="0" algn="l" rtl="0">
              <a:lnSpc>
                <a:spcPct val="150000"/>
              </a:lnSpc>
              <a:spcBef>
                <a:spcPts val="1800"/>
              </a:spcBef>
              <a:spcAft>
                <a:spcPts val="0"/>
              </a:spcAft>
              <a:buClr>
                <a:srgbClr val="001E59"/>
              </a:buClr>
              <a:buSzPct val="100000"/>
              <a:buNone/>
            </a:pPr>
            <a:r>
              <a:rPr lang="en-US" sz="1900" b="1" dirty="0">
                <a:solidFill>
                  <a:srgbClr val="001E59"/>
                </a:solidFill>
                <a:latin typeface="Cambria"/>
                <a:ea typeface="Cambria"/>
                <a:cs typeface="Cambria"/>
                <a:sym typeface="Cambria"/>
              </a:rPr>
              <a:t>HTML  data</a:t>
            </a:r>
            <a:endParaRPr sz="1900" dirty="0"/>
          </a:p>
          <a:p>
            <a:pPr marL="0" lvl="0" indent="0" algn="l" rtl="0">
              <a:lnSpc>
                <a:spcPct val="150000"/>
              </a:lnSpc>
              <a:spcBef>
                <a:spcPts val="1800"/>
              </a:spcBef>
              <a:spcAft>
                <a:spcPts val="0"/>
              </a:spcAft>
              <a:buClr>
                <a:srgbClr val="001E59"/>
              </a:buClr>
              <a:buSzPct val="100000"/>
              <a:buNone/>
            </a:pPr>
            <a:r>
              <a:rPr lang="en-US" sz="1900" b="1" dirty="0">
                <a:solidFill>
                  <a:srgbClr val="001E59"/>
                </a:solidFill>
                <a:latin typeface="Cambria"/>
                <a:ea typeface="Cambria"/>
                <a:cs typeface="Cambria"/>
                <a:sym typeface="Cambria"/>
              </a:rPr>
              <a:t>XML data</a:t>
            </a:r>
            <a:endParaRPr sz="1900" dirty="0"/>
          </a:p>
          <a:p>
            <a:pPr marL="0" lvl="0" indent="0" algn="l" rtl="0">
              <a:lnSpc>
                <a:spcPct val="150000"/>
              </a:lnSpc>
              <a:spcBef>
                <a:spcPts val="1800"/>
              </a:spcBef>
              <a:spcAft>
                <a:spcPts val="0"/>
              </a:spcAft>
              <a:buClr>
                <a:srgbClr val="001E59"/>
              </a:buClr>
              <a:buSzPct val="100000"/>
              <a:buNone/>
            </a:pPr>
            <a:r>
              <a:rPr lang="en-US" sz="1900" b="1" dirty="0">
                <a:solidFill>
                  <a:srgbClr val="001E59"/>
                </a:solidFill>
                <a:latin typeface="Cambria"/>
                <a:ea typeface="Cambria"/>
                <a:cs typeface="Cambria"/>
                <a:sym typeface="Cambria"/>
              </a:rPr>
              <a:t>JSON data</a:t>
            </a:r>
            <a:endParaRPr sz="1900" dirty="0"/>
          </a:p>
          <a:p>
            <a:pPr marL="0" lvl="0" indent="0" algn="l" rtl="0">
              <a:lnSpc>
                <a:spcPct val="150000"/>
              </a:lnSpc>
              <a:spcBef>
                <a:spcPts val="1800"/>
              </a:spcBef>
              <a:spcAft>
                <a:spcPts val="0"/>
              </a:spcAft>
              <a:buClr>
                <a:srgbClr val="001E59"/>
              </a:buClr>
              <a:buSzPct val="100000"/>
              <a:buNone/>
            </a:pPr>
            <a:r>
              <a:rPr lang="en-US" sz="1900" b="1" dirty="0">
                <a:solidFill>
                  <a:srgbClr val="001E59"/>
                </a:solidFill>
                <a:latin typeface="Cambria"/>
                <a:ea typeface="Cambria"/>
                <a:cs typeface="Cambria"/>
                <a:sym typeface="Cambria"/>
              </a:rPr>
              <a:t>Relational Database </a:t>
            </a:r>
            <a:r>
              <a:rPr lang="en-US" sz="1900" dirty="0">
                <a:solidFill>
                  <a:srgbClr val="001E59"/>
                </a:solidFill>
                <a:latin typeface="Cambria"/>
                <a:ea typeface="Cambria"/>
                <a:cs typeface="Cambria"/>
                <a:sym typeface="Cambria"/>
              </a:rPr>
              <a:t>(Oracle, </a:t>
            </a:r>
            <a:r>
              <a:rPr lang="en-US" sz="1900" dirty="0" err="1">
                <a:solidFill>
                  <a:srgbClr val="001E59"/>
                </a:solidFill>
                <a:latin typeface="Cambria"/>
                <a:ea typeface="Cambria"/>
                <a:cs typeface="Cambria"/>
                <a:sym typeface="Cambria"/>
              </a:rPr>
              <a:t>MySql</a:t>
            </a:r>
            <a:r>
              <a:rPr lang="en-US" sz="1900" dirty="0">
                <a:solidFill>
                  <a:srgbClr val="001E59"/>
                </a:solidFill>
                <a:latin typeface="Cambria"/>
                <a:ea typeface="Cambria"/>
                <a:cs typeface="Cambria"/>
                <a:sym typeface="Cambria"/>
              </a:rPr>
              <a:t>, </a:t>
            </a:r>
            <a:r>
              <a:rPr lang="en-US" sz="1900" dirty="0" err="1">
                <a:solidFill>
                  <a:srgbClr val="001E59"/>
                </a:solidFill>
                <a:latin typeface="Cambria"/>
                <a:ea typeface="Cambria"/>
                <a:cs typeface="Cambria"/>
                <a:sym typeface="Cambria"/>
              </a:rPr>
              <a:t>Sqlite</a:t>
            </a:r>
            <a:r>
              <a:rPr lang="en-US" sz="1900" dirty="0">
                <a:solidFill>
                  <a:srgbClr val="001E59"/>
                </a:solidFill>
                <a:latin typeface="Cambria"/>
                <a:ea typeface="Cambria"/>
                <a:cs typeface="Cambria"/>
                <a:sym typeface="Cambria"/>
              </a:rPr>
              <a:t>…)</a:t>
            </a:r>
            <a:endParaRPr sz="1900" dirty="0"/>
          </a:p>
          <a:p>
            <a:pPr marL="0" lvl="0" indent="0" algn="l" rtl="0">
              <a:lnSpc>
                <a:spcPct val="150000"/>
              </a:lnSpc>
              <a:spcBef>
                <a:spcPts val="1800"/>
              </a:spcBef>
              <a:spcAft>
                <a:spcPts val="0"/>
              </a:spcAft>
              <a:buClr>
                <a:srgbClr val="001E59"/>
              </a:buClr>
              <a:buSzPct val="100000"/>
              <a:buNone/>
            </a:pPr>
            <a:r>
              <a:rPr lang="en-US" sz="1900" b="1" dirty="0">
                <a:solidFill>
                  <a:srgbClr val="001E59"/>
                </a:solidFill>
                <a:latin typeface="Cambria"/>
                <a:ea typeface="Cambria"/>
                <a:cs typeface="Cambria"/>
                <a:sym typeface="Cambria"/>
              </a:rPr>
              <a:t>Log files / Transactional data</a:t>
            </a:r>
            <a:endParaRPr sz="1900" dirty="0"/>
          </a:p>
          <a:p>
            <a:pPr marL="0" lvl="0" indent="0" algn="l" rtl="0">
              <a:lnSpc>
                <a:spcPct val="150000"/>
              </a:lnSpc>
              <a:spcBef>
                <a:spcPts val="1800"/>
              </a:spcBef>
              <a:spcAft>
                <a:spcPts val="0"/>
              </a:spcAft>
              <a:buClr>
                <a:srgbClr val="001E59"/>
              </a:buClr>
              <a:buSzPct val="100000"/>
              <a:buNone/>
            </a:pPr>
            <a:r>
              <a:rPr lang="en-US" sz="1900" b="1" dirty="0">
                <a:solidFill>
                  <a:srgbClr val="001E59"/>
                </a:solidFill>
                <a:latin typeface="Cambria"/>
                <a:ea typeface="Cambria"/>
                <a:cs typeface="Cambria"/>
                <a:sym typeface="Cambria"/>
              </a:rPr>
              <a:t>Sensors/Web servers</a:t>
            </a:r>
            <a:endParaRPr sz="1900" dirty="0"/>
          </a:p>
          <a:p>
            <a:pPr marL="0" lvl="0" indent="0" algn="l" rtl="0">
              <a:lnSpc>
                <a:spcPct val="150000"/>
              </a:lnSpc>
              <a:spcBef>
                <a:spcPts val="1800"/>
              </a:spcBef>
              <a:spcAft>
                <a:spcPts val="0"/>
              </a:spcAft>
              <a:buClr>
                <a:srgbClr val="001E59"/>
              </a:buClr>
              <a:buSzPct val="100000"/>
              <a:buNone/>
            </a:pPr>
            <a:r>
              <a:rPr lang="en-US" sz="1900" b="1" dirty="0">
                <a:solidFill>
                  <a:srgbClr val="001E59"/>
                </a:solidFill>
                <a:latin typeface="Cambria"/>
                <a:ea typeface="Cambria"/>
                <a:cs typeface="Cambria"/>
                <a:sym typeface="Cambria"/>
              </a:rPr>
              <a:t>Social Media data </a:t>
            </a:r>
            <a:r>
              <a:rPr lang="en-US" sz="1900" dirty="0">
                <a:solidFill>
                  <a:srgbClr val="001E59"/>
                </a:solidFill>
                <a:latin typeface="Cambria"/>
                <a:ea typeface="Cambria"/>
                <a:cs typeface="Cambria"/>
                <a:sym typeface="Cambria"/>
              </a:rPr>
              <a:t>(FB, Twitter, WhatsApp, YouTube…)</a:t>
            </a:r>
            <a:endParaRPr sz="1900" dirty="0"/>
          </a:p>
          <a:p>
            <a:pPr marL="0" lvl="0" indent="0" algn="l" rtl="0">
              <a:lnSpc>
                <a:spcPct val="150000"/>
              </a:lnSpc>
              <a:spcBef>
                <a:spcPts val="1800"/>
              </a:spcBef>
              <a:spcAft>
                <a:spcPts val="0"/>
              </a:spcAft>
              <a:buClr>
                <a:srgbClr val="001E59"/>
              </a:buClr>
              <a:buSzPct val="100000"/>
              <a:buNone/>
            </a:pPr>
            <a:r>
              <a:rPr lang="en-US" sz="1900" b="1" dirty="0">
                <a:solidFill>
                  <a:srgbClr val="001E59"/>
                </a:solidFill>
                <a:latin typeface="Cambria"/>
                <a:ea typeface="Cambria"/>
                <a:cs typeface="Cambria"/>
                <a:sym typeface="Cambria"/>
              </a:rPr>
              <a:t>Image / Audio / Video / Signal….</a:t>
            </a:r>
            <a:endParaRPr sz="1900" dirty="0"/>
          </a:p>
          <a:p>
            <a:pPr marL="0" lvl="0" indent="0" algn="l" rtl="0">
              <a:lnSpc>
                <a:spcPct val="90000"/>
              </a:lnSpc>
              <a:spcBef>
                <a:spcPts val="1800"/>
              </a:spcBef>
              <a:spcAft>
                <a:spcPts val="0"/>
              </a:spcAft>
              <a:buClr>
                <a:schemeClr val="dk1"/>
              </a:buClr>
              <a:buSzPct val="100000"/>
              <a:buNone/>
            </a:pPr>
            <a:endParaRPr sz="2000" dirty="0">
              <a:solidFill>
                <a:srgbClr val="001E59"/>
              </a:solidFill>
            </a:endParaRPr>
          </a:p>
          <a:p>
            <a:pPr marL="0" lvl="0" indent="0" algn="l" rtl="0">
              <a:lnSpc>
                <a:spcPct val="90000"/>
              </a:lnSpc>
              <a:spcBef>
                <a:spcPts val="1800"/>
              </a:spcBef>
              <a:spcAft>
                <a:spcPts val="0"/>
              </a:spcAft>
              <a:buClr>
                <a:schemeClr val="dk1"/>
              </a:buClr>
              <a:buSzPct val="100000"/>
              <a:buNone/>
            </a:pPr>
            <a:endParaRPr sz="2000" dirty="0">
              <a:solidFill>
                <a:srgbClr val="001E59"/>
              </a:solidFill>
            </a:endParaRPr>
          </a:p>
          <a:p>
            <a:pPr marL="0" lvl="0" indent="0" algn="l" rtl="0">
              <a:lnSpc>
                <a:spcPct val="90000"/>
              </a:lnSpc>
              <a:spcBef>
                <a:spcPts val="1800"/>
              </a:spcBef>
              <a:spcAft>
                <a:spcPts val="0"/>
              </a:spcAft>
              <a:buClr>
                <a:schemeClr val="dk1"/>
              </a:buClr>
              <a:buSzPct val="100000"/>
              <a:buNone/>
            </a:pPr>
            <a:endParaRPr sz="2000" dirty="0">
              <a:solidFill>
                <a:srgbClr val="001E59"/>
              </a:solidFill>
            </a:endParaRPr>
          </a:p>
          <a:p>
            <a:pPr marL="0" lvl="0" indent="0" algn="l" rtl="0">
              <a:lnSpc>
                <a:spcPct val="90000"/>
              </a:lnSpc>
              <a:spcBef>
                <a:spcPts val="1800"/>
              </a:spcBef>
              <a:spcAft>
                <a:spcPts val="0"/>
              </a:spcAft>
              <a:buClr>
                <a:schemeClr val="dk1"/>
              </a:buClr>
              <a:buSzPct val="100000"/>
              <a:buNone/>
            </a:pPr>
            <a:endParaRPr sz="2000" dirty="0">
              <a:solidFill>
                <a:srgbClr val="001E59"/>
              </a:solidFill>
            </a:endParaRPr>
          </a:p>
        </p:txBody>
      </p:sp>
      <p:pic>
        <p:nvPicPr>
          <p:cNvPr id="165" name="Google Shape;165;p33" descr="A picture containing text, map&#10;&#10;Description automatically generated"/>
          <p:cNvPicPr preferRelativeResize="0"/>
          <p:nvPr/>
        </p:nvPicPr>
        <p:blipFill rotWithShape="1">
          <a:blip r:embed="rId3">
            <a:alphaModFix/>
          </a:blip>
          <a:srcRect/>
          <a:stretch/>
        </p:blipFill>
        <p:spPr>
          <a:xfrm>
            <a:off x="6096000" y="1949136"/>
            <a:ext cx="5516217" cy="2758109"/>
          </a:xfrm>
          <a:prstGeom prst="rect">
            <a:avLst/>
          </a:prstGeom>
          <a:noFill/>
          <a:ln>
            <a:noFill/>
          </a:ln>
        </p:spPr>
      </p:pic>
      <p:pic>
        <p:nvPicPr>
          <p:cNvPr id="2" name="Google Shape;133;p27">
            <a:extLst>
              <a:ext uri="{FF2B5EF4-FFF2-40B4-BE49-F238E27FC236}">
                <a16:creationId xmlns:a16="http://schemas.microsoft.com/office/drawing/2014/main" id="{0D4273F2-E639-9182-0C0B-2CF633B716DA}"/>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EBEDC8C7-211B-CC8A-CC2D-7B047B9EDBD0}"/>
              </a:ext>
            </a:extLst>
          </p:cNvPr>
          <p:cNvPicPr preferRelativeResize="0"/>
          <p:nvPr/>
        </p:nvPicPr>
        <p:blipFill rotWithShape="1">
          <a:blip r:embed="rId5">
            <a:alphaModFix/>
          </a:blip>
          <a:srcRect/>
          <a:stretch/>
        </p:blipFill>
        <p:spPr>
          <a:xfrm>
            <a:off x="10070830" y="-6301"/>
            <a:ext cx="1969360" cy="832212"/>
          </a:xfrm>
          <a:prstGeom prst="rect">
            <a:avLst/>
          </a:prstGeom>
          <a:noFill/>
          <a:ln>
            <a:noFill/>
          </a:ln>
        </p:spPr>
      </p:pic>
      <p:pic>
        <p:nvPicPr>
          <p:cNvPr id="4" name="Picture 3">
            <a:extLst>
              <a:ext uri="{FF2B5EF4-FFF2-40B4-BE49-F238E27FC236}">
                <a16:creationId xmlns:a16="http://schemas.microsoft.com/office/drawing/2014/main" id="{09344526-F3B8-1731-B105-7F38EA303B53}"/>
              </a:ext>
            </a:extLst>
          </p:cNvPr>
          <p:cNvPicPr>
            <a:picLocks noChangeAspect="1"/>
          </p:cNvPicPr>
          <p:nvPr/>
        </p:nvPicPr>
        <p:blipFill>
          <a:blip r:embed="rId6"/>
          <a:stretch>
            <a:fillRect/>
          </a:stretch>
        </p:blipFill>
        <p:spPr>
          <a:xfrm>
            <a:off x="10042738" y="-9451"/>
            <a:ext cx="2149262" cy="7507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5"/>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Database</a:t>
            </a:r>
            <a:endParaRPr/>
          </a:p>
        </p:txBody>
      </p:sp>
      <p:sp>
        <p:nvSpPr>
          <p:cNvPr id="177" name="Google Shape;177;p35"/>
          <p:cNvSpPr txBox="1">
            <a:spLocks noGrp="1"/>
          </p:cNvSpPr>
          <p:nvPr>
            <p:ph type="body" idx="1"/>
          </p:nvPr>
        </p:nvSpPr>
        <p:spPr>
          <a:xfrm>
            <a:off x="396508" y="1791943"/>
            <a:ext cx="11520000" cy="3950095"/>
          </a:xfrm>
          <a:prstGeom prst="rect">
            <a:avLst/>
          </a:prstGeom>
          <a:noFill/>
          <a:ln>
            <a:noFill/>
          </a:ln>
        </p:spPr>
        <p:txBody>
          <a:bodyPr spcFirstLastPara="1" wrap="square" lIns="91425" tIns="45700" rIns="91425" bIns="45700" anchor="t" anchorCtr="0">
            <a:normAutofit/>
          </a:bodyPr>
          <a:lstStyle/>
          <a:p>
            <a:pPr marL="342900" lvl="0" indent="-342900" algn="l" rtl="0">
              <a:lnSpc>
                <a:spcPct val="200000"/>
              </a:lnSpc>
              <a:spcBef>
                <a:spcPts val="0"/>
              </a:spcBef>
              <a:spcAft>
                <a:spcPts val="0"/>
              </a:spcAft>
              <a:buClr>
                <a:schemeClr val="dk1"/>
              </a:buClr>
              <a:buSzPts val="2000"/>
              <a:buFont typeface="Noto Sans Symbols"/>
              <a:buChar char="▪"/>
            </a:pPr>
            <a:r>
              <a:rPr lang="en-US" sz="1900" b="0" dirty="0"/>
              <a:t>A </a:t>
            </a:r>
            <a:r>
              <a:rPr lang="en-US" sz="1900" dirty="0"/>
              <a:t>Database</a:t>
            </a:r>
            <a:r>
              <a:rPr lang="en-US" sz="1900" b="0" dirty="0"/>
              <a:t> is a shared collection of logically related data and description of these data, designed to meet the information needs of an organization</a:t>
            </a:r>
            <a:endParaRPr sz="1900" dirty="0"/>
          </a:p>
          <a:p>
            <a:pPr marL="342900" lvl="0" indent="-342900" algn="l" rtl="0">
              <a:lnSpc>
                <a:spcPct val="200000"/>
              </a:lnSpc>
              <a:spcBef>
                <a:spcPts val="1800"/>
              </a:spcBef>
              <a:spcAft>
                <a:spcPts val="0"/>
              </a:spcAft>
              <a:buClr>
                <a:schemeClr val="dk1"/>
              </a:buClr>
              <a:buSzPts val="2000"/>
              <a:buFont typeface="Noto Sans Symbols"/>
              <a:buChar char="▪"/>
            </a:pPr>
            <a:r>
              <a:rPr lang="en-US" sz="1900" b="0" dirty="0"/>
              <a:t>A </a:t>
            </a:r>
            <a:r>
              <a:rPr lang="en-US" sz="1900" dirty="0"/>
              <a:t>Database Management System </a:t>
            </a:r>
            <a:r>
              <a:rPr lang="en-US" sz="1900" b="0" dirty="0"/>
              <a:t>is a software system that enables users to define, create, maintain, and control access to the database. </a:t>
            </a:r>
          </a:p>
        </p:txBody>
      </p:sp>
      <p:pic>
        <p:nvPicPr>
          <p:cNvPr id="2" name="Google Shape;133;p27">
            <a:extLst>
              <a:ext uri="{FF2B5EF4-FFF2-40B4-BE49-F238E27FC236}">
                <a16:creationId xmlns:a16="http://schemas.microsoft.com/office/drawing/2014/main" id="{2CC70254-33D3-9A8F-A3E5-DC8AD6E29F13}"/>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472EB202-75EE-7EA1-7212-F14948136EB2}"/>
              </a:ext>
            </a:extLst>
          </p:cNvPr>
          <p:cNvPicPr preferRelativeResize="0"/>
          <p:nvPr/>
        </p:nvPicPr>
        <p:blipFill rotWithShape="1">
          <a:blip r:embed="rId4">
            <a:alphaModFix/>
          </a:blip>
          <a:srcRect/>
          <a:stretch/>
        </p:blipFill>
        <p:spPr>
          <a:xfrm>
            <a:off x="10070830" y="-6301"/>
            <a:ext cx="1969360" cy="832212"/>
          </a:xfrm>
          <a:prstGeom prst="rect">
            <a:avLst/>
          </a:prstGeom>
          <a:noFill/>
          <a:ln>
            <a:noFill/>
          </a:ln>
        </p:spPr>
      </p:pic>
      <p:pic>
        <p:nvPicPr>
          <p:cNvPr id="4" name="Picture 3">
            <a:extLst>
              <a:ext uri="{FF2B5EF4-FFF2-40B4-BE49-F238E27FC236}">
                <a16:creationId xmlns:a16="http://schemas.microsoft.com/office/drawing/2014/main" id="{561EF4D8-50A0-5EF0-4F25-F4C2BD83308C}"/>
              </a:ext>
            </a:extLst>
          </p:cNvPr>
          <p:cNvPicPr>
            <a:picLocks noChangeAspect="1"/>
          </p:cNvPicPr>
          <p:nvPr/>
        </p:nvPicPr>
        <p:blipFill>
          <a:blip r:embed="rId5"/>
          <a:stretch>
            <a:fillRect/>
          </a:stretch>
        </p:blipFill>
        <p:spPr>
          <a:xfrm>
            <a:off x="10042738" y="-9451"/>
            <a:ext cx="2149262" cy="7507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6"/>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Various Database systems</a:t>
            </a:r>
            <a:endParaRPr/>
          </a:p>
        </p:txBody>
      </p:sp>
      <p:sp>
        <p:nvSpPr>
          <p:cNvPr id="184" name="Google Shape;184;p36"/>
          <p:cNvSpPr txBox="1">
            <a:spLocks noGrp="1"/>
          </p:cNvSpPr>
          <p:nvPr>
            <p:ph type="body" idx="1"/>
          </p:nvPr>
        </p:nvSpPr>
        <p:spPr>
          <a:xfrm>
            <a:off x="276224" y="1215010"/>
            <a:ext cx="11520000" cy="49680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200"/>
              <a:buFont typeface="Noto Sans Symbols"/>
              <a:buChar char="▪"/>
            </a:pPr>
            <a:r>
              <a:rPr lang="en-US" sz="2200" b="0" dirty="0"/>
              <a:t>There are many different database systems which are used for a wide variety of purposes including: Oracle, MySQL, Microsoft SQL Server, PostgreSQL, and SQLite.</a:t>
            </a:r>
            <a:endParaRPr dirty="0"/>
          </a:p>
          <a:p>
            <a:pPr marL="342900" lvl="0" indent="-342900" algn="l" rtl="0">
              <a:lnSpc>
                <a:spcPct val="150000"/>
              </a:lnSpc>
              <a:spcBef>
                <a:spcPts val="1800"/>
              </a:spcBef>
              <a:spcAft>
                <a:spcPts val="0"/>
              </a:spcAft>
              <a:buClr>
                <a:schemeClr val="dk1"/>
              </a:buClr>
              <a:buSzPts val="2200"/>
              <a:buFont typeface="Noto Sans Symbols"/>
              <a:buChar char="▪"/>
            </a:pPr>
            <a:r>
              <a:rPr lang="en-US" sz="2200" b="0" dirty="0"/>
              <a:t>SQL is a programming language used by nearly all relational databases to </a:t>
            </a:r>
            <a:endParaRPr dirty="0"/>
          </a:p>
          <a:p>
            <a:pPr marL="0" lvl="0" indent="0" algn="l" rtl="0">
              <a:lnSpc>
                <a:spcPct val="150000"/>
              </a:lnSpc>
              <a:spcBef>
                <a:spcPts val="1800"/>
              </a:spcBef>
              <a:spcAft>
                <a:spcPts val="0"/>
              </a:spcAft>
              <a:buClr>
                <a:schemeClr val="dk1"/>
              </a:buClr>
              <a:buSzPts val="2200"/>
              <a:buNone/>
            </a:pPr>
            <a:r>
              <a:rPr lang="en-US" sz="2200" b="0" dirty="0"/>
              <a:t>               query, </a:t>
            </a:r>
            <a:endParaRPr dirty="0"/>
          </a:p>
          <a:p>
            <a:pPr marL="0" lvl="0" indent="0" algn="l" rtl="0">
              <a:lnSpc>
                <a:spcPct val="150000"/>
              </a:lnSpc>
              <a:spcBef>
                <a:spcPts val="1800"/>
              </a:spcBef>
              <a:spcAft>
                <a:spcPts val="0"/>
              </a:spcAft>
              <a:buClr>
                <a:schemeClr val="dk1"/>
              </a:buClr>
              <a:buSzPts val="2200"/>
              <a:buNone/>
            </a:pPr>
            <a:r>
              <a:rPr lang="en-US" sz="2200" b="0" dirty="0"/>
              <a:t>              manipulate, and </a:t>
            </a:r>
            <a:endParaRPr dirty="0"/>
          </a:p>
          <a:p>
            <a:pPr marL="0" lvl="0" indent="0" algn="l" rtl="0">
              <a:lnSpc>
                <a:spcPct val="150000"/>
              </a:lnSpc>
              <a:spcBef>
                <a:spcPts val="1800"/>
              </a:spcBef>
              <a:spcAft>
                <a:spcPts val="0"/>
              </a:spcAft>
              <a:buClr>
                <a:schemeClr val="dk1"/>
              </a:buClr>
              <a:buSzPts val="2200"/>
              <a:buNone/>
            </a:pPr>
            <a:r>
              <a:rPr lang="en-US" sz="2200" b="0" dirty="0"/>
              <a:t>              define data, and </a:t>
            </a:r>
            <a:endParaRPr dirty="0"/>
          </a:p>
          <a:p>
            <a:pPr marL="0" lvl="0" indent="0" algn="l" rtl="0">
              <a:lnSpc>
                <a:spcPct val="150000"/>
              </a:lnSpc>
              <a:spcBef>
                <a:spcPts val="1800"/>
              </a:spcBef>
              <a:spcAft>
                <a:spcPts val="0"/>
              </a:spcAft>
              <a:buClr>
                <a:schemeClr val="dk1"/>
              </a:buClr>
              <a:buSzPts val="2200"/>
              <a:buNone/>
            </a:pPr>
            <a:r>
              <a:rPr lang="en-US" sz="2200" b="0" dirty="0"/>
              <a:t>              to provide access control. </a:t>
            </a:r>
            <a:endParaRPr dirty="0"/>
          </a:p>
          <a:p>
            <a:pPr marL="342900" lvl="0" indent="-203200" algn="l" rtl="0">
              <a:lnSpc>
                <a:spcPct val="150000"/>
              </a:lnSpc>
              <a:spcBef>
                <a:spcPts val="1800"/>
              </a:spcBef>
              <a:spcAft>
                <a:spcPts val="0"/>
              </a:spcAft>
              <a:buClr>
                <a:schemeClr val="dk1"/>
              </a:buClr>
              <a:buSzPts val="2200"/>
              <a:buFont typeface="Noto Sans Symbols"/>
              <a:buNone/>
            </a:pPr>
            <a:endParaRPr sz="2200" b="0" dirty="0"/>
          </a:p>
        </p:txBody>
      </p:sp>
      <p:pic>
        <p:nvPicPr>
          <p:cNvPr id="2" name="Google Shape;133;p27">
            <a:extLst>
              <a:ext uri="{FF2B5EF4-FFF2-40B4-BE49-F238E27FC236}">
                <a16:creationId xmlns:a16="http://schemas.microsoft.com/office/drawing/2014/main" id="{BA3A9E86-F692-D6E9-6040-9CB363C3646D}"/>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E7AC0AD4-CED9-B621-ED57-029A59547D5D}"/>
              </a:ext>
            </a:extLst>
          </p:cNvPr>
          <p:cNvPicPr preferRelativeResize="0"/>
          <p:nvPr/>
        </p:nvPicPr>
        <p:blipFill rotWithShape="1">
          <a:blip r:embed="rId4">
            <a:alphaModFix/>
          </a:blip>
          <a:srcRect/>
          <a:stretch/>
        </p:blipFill>
        <p:spPr>
          <a:xfrm>
            <a:off x="10070830" y="-6301"/>
            <a:ext cx="1969360" cy="832212"/>
          </a:xfrm>
          <a:prstGeom prst="rect">
            <a:avLst/>
          </a:prstGeom>
          <a:noFill/>
          <a:ln>
            <a:noFill/>
          </a:ln>
        </p:spPr>
      </p:pic>
      <p:pic>
        <p:nvPicPr>
          <p:cNvPr id="4" name="Picture 3">
            <a:extLst>
              <a:ext uri="{FF2B5EF4-FFF2-40B4-BE49-F238E27FC236}">
                <a16:creationId xmlns:a16="http://schemas.microsoft.com/office/drawing/2014/main" id="{D310C965-6A28-53D5-7638-250ABA05F137}"/>
              </a:ext>
            </a:extLst>
          </p:cNvPr>
          <p:cNvPicPr>
            <a:picLocks noChangeAspect="1"/>
          </p:cNvPicPr>
          <p:nvPr/>
        </p:nvPicPr>
        <p:blipFill>
          <a:blip r:embed="rId5"/>
          <a:stretch>
            <a:fillRect/>
          </a:stretch>
        </p:blipFill>
        <p:spPr>
          <a:xfrm>
            <a:off x="10042738" y="-9451"/>
            <a:ext cx="2149262" cy="7507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7"/>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Relational Databases</a:t>
            </a:r>
            <a:endParaRPr/>
          </a:p>
        </p:txBody>
      </p:sp>
      <p:sp>
        <p:nvSpPr>
          <p:cNvPr id="190" name="Google Shape;190;p37"/>
          <p:cNvSpPr txBox="1">
            <a:spLocks noGrp="1"/>
          </p:cNvSpPr>
          <p:nvPr>
            <p:ph type="body" idx="1"/>
          </p:nvPr>
        </p:nvSpPr>
        <p:spPr>
          <a:xfrm>
            <a:off x="276224" y="1215010"/>
            <a:ext cx="11520000" cy="49680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000"/>
              <a:buFont typeface="Noto Sans Symbols"/>
              <a:buChar char="▪"/>
            </a:pPr>
            <a:r>
              <a:rPr lang="en-US" b="0"/>
              <a:t>Relational Databases store data in relations i.e., tables. Each relation must have a name.</a:t>
            </a:r>
            <a:endParaRPr/>
          </a:p>
          <a:p>
            <a:pPr marL="342900" lvl="0" indent="-342900" algn="l" rtl="0">
              <a:lnSpc>
                <a:spcPct val="150000"/>
              </a:lnSpc>
              <a:spcBef>
                <a:spcPts val="1800"/>
              </a:spcBef>
              <a:spcAft>
                <a:spcPts val="0"/>
              </a:spcAft>
              <a:buClr>
                <a:schemeClr val="dk1"/>
              </a:buClr>
              <a:buSzPts val="2000"/>
              <a:buFont typeface="Noto Sans Symbols"/>
              <a:buChar char="▪"/>
            </a:pPr>
            <a:r>
              <a:rPr lang="en-US" b="0"/>
              <a:t>The primary data structures in a database : </a:t>
            </a:r>
            <a:r>
              <a:rPr lang="en-US"/>
              <a:t>tables, rows, and columns.</a:t>
            </a:r>
            <a:endParaRPr/>
          </a:p>
          <a:p>
            <a:pPr marL="342900" lvl="0" indent="-342900" algn="l" rtl="0">
              <a:lnSpc>
                <a:spcPct val="150000"/>
              </a:lnSpc>
              <a:spcBef>
                <a:spcPts val="1800"/>
              </a:spcBef>
              <a:spcAft>
                <a:spcPts val="0"/>
              </a:spcAft>
              <a:buClr>
                <a:schemeClr val="dk1"/>
              </a:buClr>
              <a:buSzPts val="2000"/>
              <a:buFont typeface="Noto Sans Symbols"/>
              <a:buChar char="▪"/>
            </a:pPr>
            <a:r>
              <a:rPr lang="en-US" b="0"/>
              <a:t>In technical descriptions of relational databases, the concepts of </a:t>
            </a:r>
            <a:r>
              <a:rPr lang="en-US"/>
              <a:t>table</a:t>
            </a:r>
            <a:r>
              <a:rPr lang="en-US" b="0"/>
              <a:t>, </a:t>
            </a:r>
            <a:r>
              <a:rPr lang="en-US"/>
              <a:t>row</a:t>
            </a:r>
            <a:r>
              <a:rPr lang="en-US" b="0"/>
              <a:t>, and </a:t>
            </a:r>
            <a:r>
              <a:rPr lang="en-US"/>
              <a:t>column</a:t>
            </a:r>
            <a:r>
              <a:rPr lang="en-US" b="0"/>
              <a:t> are formally referred to as </a:t>
            </a:r>
            <a:r>
              <a:rPr lang="en-US"/>
              <a:t>relation</a:t>
            </a:r>
            <a:r>
              <a:rPr lang="en-US" b="0"/>
              <a:t>, </a:t>
            </a:r>
            <a:r>
              <a:rPr lang="en-US"/>
              <a:t>tuple</a:t>
            </a:r>
            <a:r>
              <a:rPr lang="en-US" b="0"/>
              <a:t>, and </a:t>
            </a:r>
            <a:r>
              <a:rPr lang="en-US"/>
              <a:t>attribute</a:t>
            </a:r>
            <a:r>
              <a:rPr lang="en-US" b="0"/>
              <a:t>, respectively.</a:t>
            </a:r>
            <a:endParaRPr/>
          </a:p>
          <a:p>
            <a:pPr marL="342900" lvl="0" indent="-215900" algn="l" rtl="0">
              <a:lnSpc>
                <a:spcPct val="150000"/>
              </a:lnSpc>
              <a:spcBef>
                <a:spcPts val="1800"/>
              </a:spcBef>
              <a:spcAft>
                <a:spcPts val="0"/>
              </a:spcAft>
              <a:buClr>
                <a:schemeClr val="dk1"/>
              </a:buClr>
              <a:buSzPts val="2000"/>
              <a:buFont typeface="Noto Sans Symbols"/>
              <a:buNone/>
            </a:pPr>
            <a:endParaRPr/>
          </a:p>
        </p:txBody>
      </p:sp>
      <p:pic>
        <p:nvPicPr>
          <p:cNvPr id="191" name="Google Shape;191;p37"/>
          <p:cNvPicPr preferRelativeResize="0"/>
          <p:nvPr/>
        </p:nvPicPr>
        <p:blipFill rotWithShape="1">
          <a:blip r:embed="rId3">
            <a:alphaModFix/>
          </a:blip>
          <a:srcRect/>
          <a:stretch/>
        </p:blipFill>
        <p:spPr>
          <a:xfrm>
            <a:off x="1345444" y="3547267"/>
            <a:ext cx="7753349" cy="2815893"/>
          </a:xfrm>
          <a:prstGeom prst="rect">
            <a:avLst/>
          </a:prstGeom>
          <a:noFill/>
          <a:ln>
            <a:noFill/>
          </a:ln>
        </p:spPr>
      </p:pic>
      <p:pic>
        <p:nvPicPr>
          <p:cNvPr id="2" name="Google Shape;133;p27">
            <a:extLst>
              <a:ext uri="{FF2B5EF4-FFF2-40B4-BE49-F238E27FC236}">
                <a16:creationId xmlns:a16="http://schemas.microsoft.com/office/drawing/2014/main" id="{DE6A0232-08E6-CB2D-4891-B8249CE59D4F}"/>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51555AAD-FF99-BF91-786D-54805417B5D5}"/>
              </a:ext>
            </a:extLst>
          </p:cNvPr>
          <p:cNvPicPr preferRelativeResize="0"/>
          <p:nvPr/>
        </p:nvPicPr>
        <p:blipFill rotWithShape="1">
          <a:blip r:embed="rId5">
            <a:alphaModFix/>
          </a:blip>
          <a:srcRect/>
          <a:stretch/>
        </p:blipFill>
        <p:spPr>
          <a:xfrm>
            <a:off x="10070830" y="-6301"/>
            <a:ext cx="1969360" cy="832212"/>
          </a:xfrm>
          <a:prstGeom prst="rect">
            <a:avLst/>
          </a:prstGeom>
          <a:noFill/>
          <a:ln>
            <a:noFill/>
          </a:ln>
        </p:spPr>
      </p:pic>
      <p:pic>
        <p:nvPicPr>
          <p:cNvPr id="4" name="Picture 3">
            <a:extLst>
              <a:ext uri="{FF2B5EF4-FFF2-40B4-BE49-F238E27FC236}">
                <a16:creationId xmlns:a16="http://schemas.microsoft.com/office/drawing/2014/main" id="{ECCBA7F8-8E0E-5BD6-0881-EBCCD45648A3}"/>
              </a:ext>
            </a:extLst>
          </p:cNvPr>
          <p:cNvPicPr>
            <a:picLocks noChangeAspect="1"/>
          </p:cNvPicPr>
          <p:nvPr/>
        </p:nvPicPr>
        <p:blipFill>
          <a:blip r:embed="rId6"/>
          <a:stretch>
            <a:fillRect/>
          </a:stretch>
        </p:blipFill>
        <p:spPr>
          <a:xfrm>
            <a:off x="10042738" y="-9451"/>
            <a:ext cx="2149262" cy="7507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83"/>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Arial"/>
              <a:buNone/>
            </a:pPr>
            <a:r>
              <a:rPr lang="en-US">
                <a:solidFill>
                  <a:schemeClr val="accent1"/>
                </a:solidFill>
              </a:rPr>
              <a:t>Working with Databases</a:t>
            </a:r>
            <a:endParaRPr/>
          </a:p>
        </p:txBody>
      </p:sp>
      <p:sp>
        <p:nvSpPr>
          <p:cNvPr id="513" name="Google Shape;513;p83"/>
          <p:cNvSpPr txBox="1">
            <a:spLocks noGrp="1"/>
          </p:cNvSpPr>
          <p:nvPr>
            <p:ph type="body" idx="1"/>
          </p:nvPr>
        </p:nvSpPr>
        <p:spPr>
          <a:xfrm>
            <a:off x="275492" y="1373836"/>
            <a:ext cx="11481079" cy="4635078"/>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000"/>
              <a:buFont typeface="Noto Sans Symbols"/>
              <a:buChar char="▪"/>
            </a:pPr>
            <a:r>
              <a:rPr lang="en-US" b="0"/>
              <a:t>A database is an abstraction over an operating system's file system that makes it easier for developers to build applications that create, read, update and delete persistent data.</a:t>
            </a:r>
            <a:endParaRPr/>
          </a:p>
          <a:p>
            <a:pPr marL="342900" lvl="0" indent="-342900" algn="l" rtl="0">
              <a:lnSpc>
                <a:spcPct val="150000"/>
              </a:lnSpc>
              <a:spcBef>
                <a:spcPts val="1800"/>
              </a:spcBef>
              <a:spcAft>
                <a:spcPts val="0"/>
              </a:spcAft>
              <a:buClr>
                <a:schemeClr val="dk1"/>
              </a:buClr>
              <a:buSzPts val="2000"/>
              <a:buFont typeface="Noto Sans Symbols"/>
              <a:buChar char="▪"/>
            </a:pPr>
            <a:r>
              <a:rPr lang="en-US" b="0"/>
              <a:t>At a high-level web applications store data and present it to users in a useful way. </a:t>
            </a:r>
            <a:endParaRPr/>
          </a:p>
          <a:p>
            <a:pPr marL="0" lvl="0" indent="0" algn="l" rtl="0">
              <a:lnSpc>
                <a:spcPct val="150000"/>
              </a:lnSpc>
              <a:spcBef>
                <a:spcPts val="1800"/>
              </a:spcBef>
              <a:spcAft>
                <a:spcPts val="0"/>
              </a:spcAft>
              <a:buClr>
                <a:schemeClr val="dk1"/>
              </a:buClr>
              <a:buSzPts val="2000"/>
              <a:buNone/>
            </a:pPr>
            <a:r>
              <a:rPr lang="en-US" b="0"/>
              <a:t>      Example</a:t>
            </a:r>
            <a:endParaRPr/>
          </a:p>
          <a:p>
            <a:pPr marL="971550" lvl="3" indent="-285750" algn="l" rtl="0">
              <a:lnSpc>
                <a:spcPct val="150000"/>
              </a:lnSpc>
              <a:spcBef>
                <a:spcPts val="1100"/>
              </a:spcBef>
              <a:spcAft>
                <a:spcPts val="0"/>
              </a:spcAft>
              <a:buClr>
                <a:schemeClr val="dk1"/>
              </a:buClr>
              <a:buSzPts val="2000"/>
              <a:buChar char="▪"/>
            </a:pPr>
            <a:r>
              <a:rPr lang="en-US" sz="2000" b="0"/>
              <a:t>Google stores data about roads and provides directions to get from one location to another by driving through the Maps application. </a:t>
            </a:r>
            <a:endParaRPr/>
          </a:p>
          <a:p>
            <a:pPr marL="971550" lvl="3" indent="-285750" algn="l" rtl="0">
              <a:lnSpc>
                <a:spcPct val="150000"/>
              </a:lnSpc>
              <a:spcBef>
                <a:spcPts val="500"/>
              </a:spcBef>
              <a:spcAft>
                <a:spcPts val="0"/>
              </a:spcAft>
              <a:buClr>
                <a:schemeClr val="dk1"/>
              </a:buClr>
              <a:buSzPts val="2000"/>
              <a:buChar char="▪"/>
            </a:pPr>
            <a:r>
              <a:rPr lang="en-US" sz="2000" b="0"/>
              <a:t>Driving directions are possible because the data is stored in a structured format.</a:t>
            </a:r>
            <a:endParaRPr/>
          </a:p>
          <a:p>
            <a:pPr marL="285750" lvl="1" indent="-285750" algn="l" rtl="0">
              <a:lnSpc>
                <a:spcPct val="150000"/>
              </a:lnSpc>
              <a:spcBef>
                <a:spcPts val="500"/>
              </a:spcBef>
              <a:spcAft>
                <a:spcPts val="0"/>
              </a:spcAft>
              <a:buClr>
                <a:schemeClr val="dk1"/>
              </a:buClr>
              <a:buSzPts val="2000"/>
              <a:buChar char="▪"/>
            </a:pPr>
            <a:r>
              <a:rPr lang="en-US" sz="2000">
                <a:solidFill>
                  <a:schemeClr val="dk1"/>
                </a:solidFill>
              </a:rPr>
              <a:t>Databases make structured storage reliable and fast. </a:t>
            </a:r>
            <a:endParaRPr/>
          </a:p>
        </p:txBody>
      </p:sp>
      <p:pic>
        <p:nvPicPr>
          <p:cNvPr id="2" name="Google Shape;133;p27">
            <a:extLst>
              <a:ext uri="{FF2B5EF4-FFF2-40B4-BE49-F238E27FC236}">
                <a16:creationId xmlns:a16="http://schemas.microsoft.com/office/drawing/2014/main" id="{1CB4D65C-DCDD-1AFF-69D8-5EDB29DFB25E}"/>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105675B2-8FCD-3E95-3843-3234D81008B8}"/>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B5406FBE-14DE-772A-B9DB-7178DF929F33}"/>
              </a:ext>
            </a:extLst>
          </p:cNvPr>
          <p:cNvPicPr>
            <a:picLocks noChangeAspect="1"/>
          </p:cNvPicPr>
          <p:nvPr/>
        </p:nvPicPr>
        <p:blipFill>
          <a:blip r:embed="rId5"/>
          <a:stretch>
            <a:fillRect/>
          </a:stretch>
        </p:blipFill>
        <p:spPr>
          <a:xfrm>
            <a:off x="10042738" y="-9451"/>
            <a:ext cx="2149262" cy="7507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84"/>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Arial"/>
              <a:buNone/>
            </a:pPr>
            <a:r>
              <a:rPr lang="en-US">
                <a:solidFill>
                  <a:schemeClr val="accent1"/>
                </a:solidFill>
              </a:rPr>
              <a:t>Working with Databases</a:t>
            </a:r>
            <a:endParaRPr/>
          </a:p>
        </p:txBody>
      </p:sp>
      <p:sp>
        <p:nvSpPr>
          <p:cNvPr id="519" name="Google Shape;519;p84"/>
          <p:cNvSpPr txBox="1">
            <a:spLocks noGrp="1"/>
          </p:cNvSpPr>
          <p:nvPr>
            <p:ph type="body" idx="1"/>
          </p:nvPr>
        </p:nvSpPr>
        <p:spPr>
          <a:xfrm>
            <a:off x="276224" y="1215010"/>
            <a:ext cx="11520000" cy="49680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150000"/>
              </a:lnSpc>
              <a:spcBef>
                <a:spcPts val="0"/>
              </a:spcBef>
              <a:spcAft>
                <a:spcPts val="0"/>
              </a:spcAft>
              <a:buClr>
                <a:schemeClr val="dk1"/>
              </a:buClr>
              <a:buSzPts val="2000"/>
              <a:buFont typeface="Noto Sans Symbols"/>
              <a:buChar char="▪"/>
            </a:pPr>
            <a:r>
              <a:rPr lang="en-US" b="0" dirty="0"/>
              <a:t>The database storage abstraction most used in Python web development is sets of relational tables.</a:t>
            </a:r>
            <a:endParaRPr dirty="0"/>
          </a:p>
          <a:p>
            <a:pPr marL="971550" lvl="3" indent="-285750" algn="l" rtl="0">
              <a:lnSpc>
                <a:spcPct val="150000"/>
              </a:lnSpc>
              <a:spcBef>
                <a:spcPts val="1100"/>
              </a:spcBef>
              <a:spcAft>
                <a:spcPts val="0"/>
              </a:spcAft>
              <a:buClr>
                <a:schemeClr val="dk1"/>
              </a:buClr>
              <a:buSzPts val="2000"/>
              <a:buChar char="▪"/>
            </a:pPr>
            <a:r>
              <a:rPr lang="en-US" sz="2000" b="0" dirty="0"/>
              <a:t>Relational databases store data in a series of tables. </a:t>
            </a:r>
          </a:p>
          <a:p>
            <a:pPr marL="971550" lvl="3" indent="-285750" algn="l" rtl="0">
              <a:lnSpc>
                <a:spcPct val="150000"/>
              </a:lnSpc>
              <a:spcBef>
                <a:spcPts val="1100"/>
              </a:spcBef>
              <a:spcAft>
                <a:spcPts val="0"/>
              </a:spcAft>
              <a:buClr>
                <a:schemeClr val="dk1"/>
              </a:buClr>
              <a:buSzPts val="2000"/>
              <a:buChar char="▪"/>
            </a:pPr>
            <a:r>
              <a:rPr lang="en-US" sz="2000" b="0" dirty="0"/>
              <a:t>Interconnections between the tables are specified as </a:t>
            </a:r>
            <a:r>
              <a:rPr lang="en-US" sz="2000" b="0" i="1" dirty="0"/>
              <a:t>foreign keys</a:t>
            </a:r>
            <a:r>
              <a:rPr lang="en-US" sz="2000" b="0" dirty="0"/>
              <a:t>. </a:t>
            </a:r>
            <a:endParaRPr dirty="0"/>
          </a:p>
          <a:p>
            <a:pPr marL="971550" lvl="3" indent="-285750" algn="l" rtl="0">
              <a:lnSpc>
                <a:spcPct val="150000"/>
              </a:lnSpc>
              <a:spcBef>
                <a:spcPts val="500"/>
              </a:spcBef>
              <a:spcAft>
                <a:spcPts val="0"/>
              </a:spcAft>
              <a:buClr>
                <a:schemeClr val="dk1"/>
              </a:buClr>
              <a:buSzPts val="2000"/>
              <a:buChar char="▪"/>
            </a:pPr>
            <a:r>
              <a:rPr lang="en-US" sz="2000" b="0" dirty="0"/>
              <a:t>A foreign key is a unique reference from one row in a relational table to another row in a table, which can be the same table but is most commonly a different table.</a:t>
            </a:r>
            <a:endParaRPr dirty="0"/>
          </a:p>
          <a:p>
            <a:pPr marL="514350" lvl="2" indent="-285750" algn="l" rtl="0">
              <a:lnSpc>
                <a:spcPct val="150000"/>
              </a:lnSpc>
              <a:spcBef>
                <a:spcPts val="500"/>
              </a:spcBef>
              <a:spcAft>
                <a:spcPts val="0"/>
              </a:spcAft>
              <a:buClr>
                <a:schemeClr val="dk1"/>
              </a:buClr>
              <a:buSzPts val="2000"/>
              <a:buChar char="▪"/>
            </a:pPr>
            <a:r>
              <a:rPr lang="en-US" sz="2000" dirty="0"/>
              <a:t>Databases storage implementations vary in complexity. </a:t>
            </a:r>
          </a:p>
          <a:p>
            <a:pPr marL="514350" lvl="2" indent="-285750" algn="l" rtl="0">
              <a:lnSpc>
                <a:spcPct val="150000"/>
              </a:lnSpc>
              <a:spcBef>
                <a:spcPts val="500"/>
              </a:spcBef>
              <a:spcAft>
                <a:spcPts val="0"/>
              </a:spcAft>
              <a:buClr>
                <a:schemeClr val="dk1"/>
              </a:buClr>
              <a:buSzPts val="2000"/>
              <a:buChar char="▪"/>
            </a:pPr>
            <a:r>
              <a:rPr lang="en-US" sz="2000" b="1" dirty="0"/>
              <a:t>SQLite</a:t>
            </a:r>
            <a:r>
              <a:rPr lang="en-US" sz="2000" dirty="0"/>
              <a:t>, a database included with Python, creates a single file for all data per database. </a:t>
            </a:r>
            <a:endParaRPr dirty="0"/>
          </a:p>
          <a:p>
            <a:pPr marL="971550" lvl="3" indent="-285750" algn="l" rtl="0">
              <a:lnSpc>
                <a:spcPct val="150000"/>
              </a:lnSpc>
              <a:spcBef>
                <a:spcPts val="500"/>
              </a:spcBef>
              <a:spcAft>
                <a:spcPts val="0"/>
              </a:spcAft>
              <a:buClr>
                <a:schemeClr val="dk1"/>
              </a:buClr>
              <a:buSzPts val="2000"/>
              <a:buChar char="▪"/>
            </a:pPr>
            <a:r>
              <a:rPr lang="en-US" sz="2000" dirty="0"/>
              <a:t>Other databases such as PostgreSQL, MySQL, Oracle and Microsoft SQL Server have more complicated persistence schemes while offering additional advanced features that are useful for web application data storage.</a:t>
            </a:r>
            <a:endParaRPr sz="2000" b="0" dirty="0"/>
          </a:p>
          <a:p>
            <a:pPr marL="342900" lvl="0" indent="-215900" algn="l" rtl="0">
              <a:lnSpc>
                <a:spcPct val="150000"/>
              </a:lnSpc>
              <a:spcBef>
                <a:spcPts val="1200"/>
              </a:spcBef>
              <a:spcAft>
                <a:spcPts val="0"/>
              </a:spcAft>
              <a:buClr>
                <a:schemeClr val="dk1"/>
              </a:buClr>
              <a:buSzPts val="2000"/>
              <a:buFont typeface="Noto Sans Symbols"/>
              <a:buNone/>
            </a:pPr>
            <a:endParaRPr b="0" dirty="0"/>
          </a:p>
          <a:p>
            <a:pPr marL="342900" lvl="0" indent="-215900" algn="l" rtl="0">
              <a:lnSpc>
                <a:spcPct val="150000"/>
              </a:lnSpc>
              <a:spcBef>
                <a:spcPts val="1800"/>
              </a:spcBef>
              <a:spcAft>
                <a:spcPts val="0"/>
              </a:spcAft>
              <a:buClr>
                <a:schemeClr val="dk1"/>
              </a:buClr>
              <a:buSzPts val="2000"/>
              <a:buFont typeface="Noto Sans Symbols"/>
              <a:buNone/>
            </a:pPr>
            <a:endParaRPr dirty="0"/>
          </a:p>
        </p:txBody>
      </p:sp>
      <p:pic>
        <p:nvPicPr>
          <p:cNvPr id="2" name="Google Shape;133;p27">
            <a:extLst>
              <a:ext uri="{FF2B5EF4-FFF2-40B4-BE49-F238E27FC236}">
                <a16:creationId xmlns:a16="http://schemas.microsoft.com/office/drawing/2014/main" id="{DDD0C7EE-3F54-EE8F-21D4-14F90E3A6BB0}"/>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5C3697A6-683F-486C-A8C6-965B59C354EF}"/>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04C8D960-772B-AA65-D578-01C7DA782260}"/>
              </a:ext>
            </a:extLst>
          </p:cNvPr>
          <p:cNvPicPr>
            <a:picLocks noChangeAspect="1"/>
          </p:cNvPicPr>
          <p:nvPr/>
        </p:nvPicPr>
        <p:blipFill>
          <a:blip r:embed="rId5"/>
          <a:stretch>
            <a:fillRect/>
          </a:stretch>
        </p:blipFill>
        <p:spPr>
          <a:xfrm>
            <a:off x="10042738" y="-9451"/>
            <a:ext cx="2149262" cy="7507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85"/>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SQLite</a:t>
            </a:r>
            <a:r>
              <a:rPr lang="en-US" b="0"/>
              <a:t> </a:t>
            </a:r>
            <a:r>
              <a:rPr lang="en-US"/>
              <a:t>database</a:t>
            </a:r>
            <a:r>
              <a:rPr lang="en-US" b="0"/>
              <a:t> </a:t>
            </a:r>
            <a:endParaRPr/>
          </a:p>
        </p:txBody>
      </p:sp>
      <p:sp>
        <p:nvSpPr>
          <p:cNvPr id="525" name="Google Shape;525;p85"/>
          <p:cNvSpPr txBox="1">
            <a:spLocks noGrp="1"/>
          </p:cNvSpPr>
          <p:nvPr>
            <p:ph type="body" idx="1"/>
          </p:nvPr>
        </p:nvSpPr>
        <p:spPr>
          <a:xfrm>
            <a:off x="275492" y="1157860"/>
            <a:ext cx="11520000" cy="49680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150000"/>
              </a:lnSpc>
              <a:spcBef>
                <a:spcPts val="0"/>
              </a:spcBef>
              <a:spcAft>
                <a:spcPts val="0"/>
              </a:spcAft>
              <a:buClr>
                <a:schemeClr val="dk1"/>
              </a:buClr>
              <a:buSzPts val="2000"/>
              <a:buFont typeface="Noto Sans Symbols"/>
              <a:buChar char="▪"/>
            </a:pPr>
            <a:r>
              <a:rPr lang="en-US" b="0"/>
              <a:t>SQLite is a software library that implements a self-contained, serverless, zero-configuration, transactional SQL database engine.  SQLite is the most widely deployed SQL database engine in the world.</a:t>
            </a:r>
            <a:endParaRPr/>
          </a:p>
          <a:p>
            <a:pPr marL="971550" lvl="3" indent="-285750" algn="l" rtl="0">
              <a:lnSpc>
                <a:spcPct val="150000"/>
              </a:lnSpc>
              <a:spcBef>
                <a:spcPts val="1100"/>
              </a:spcBef>
              <a:spcAft>
                <a:spcPts val="0"/>
              </a:spcAft>
              <a:buClr>
                <a:schemeClr val="dk1"/>
              </a:buClr>
              <a:buSzPts val="1800"/>
              <a:buChar char="▪"/>
            </a:pPr>
            <a:r>
              <a:rPr lang="en-US" b="0"/>
              <a:t>SQLite does not require a separate server process or system to operate (serverless).</a:t>
            </a:r>
            <a:endParaRPr/>
          </a:p>
          <a:p>
            <a:pPr marL="971550" lvl="3" indent="-285750" algn="l" rtl="0">
              <a:lnSpc>
                <a:spcPct val="150000"/>
              </a:lnSpc>
              <a:spcBef>
                <a:spcPts val="500"/>
              </a:spcBef>
              <a:spcAft>
                <a:spcPts val="0"/>
              </a:spcAft>
              <a:buClr>
                <a:schemeClr val="dk1"/>
              </a:buClr>
              <a:buSzPts val="1800"/>
              <a:buChar char="▪"/>
            </a:pPr>
            <a:r>
              <a:rPr lang="en-US" b="0"/>
              <a:t>SQLite comes with zero-configuration, which means no setup or administration needed.</a:t>
            </a:r>
            <a:endParaRPr/>
          </a:p>
          <a:p>
            <a:pPr marL="971550" lvl="3" indent="-285750" algn="l" rtl="0">
              <a:lnSpc>
                <a:spcPct val="150000"/>
              </a:lnSpc>
              <a:spcBef>
                <a:spcPts val="500"/>
              </a:spcBef>
              <a:spcAft>
                <a:spcPts val="0"/>
              </a:spcAft>
              <a:buClr>
                <a:schemeClr val="dk1"/>
              </a:buClr>
              <a:buSzPts val="1800"/>
              <a:buChar char="▪"/>
            </a:pPr>
            <a:r>
              <a:rPr lang="en-US" b="0"/>
              <a:t>A complete SQLite database is stored in a single cross-platform disk file.</a:t>
            </a:r>
            <a:endParaRPr/>
          </a:p>
          <a:p>
            <a:pPr marL="971550" lvl="3" indent="-285750" algn="l" rtl="0">
              <a:lnSpc>
                <a:spcPct val="150000"/>
              </a:lnSpc>
              <a:spcBef>
                <a:spcPts val="500"/>
              </a:spcBef>
              <a:spcAft>
                <a:spcPts val="0"/>
              </a:spcAft>
              <a:buClr>
                <a:schemeClr val="dk1"/>
              </a:buClr>
              <a:buSzPts val="1800"/>
              <a:buChar char="▪"/>
            </a:pPr>
            <a:r>
              <a:rPr lang="en-US" b="0"/>
              <a:t>SQLite is very small and light weight, less than 400KiB fully configured or less than 250KiB with optional features omitted.</a:t>
            </a:r>
            <a:endParaRPr/>
          </a:p>
          <a:p>
            <a:pPr marL="971550" lvl="3" indent="-285750" algn="l" rtl="0">
              <a:lnSpc>
                <a:spcPct val="150000"/>
              </a:lnSpc>
              <a:spcBef>
                <a:spcPts val="500"/>
              </a:spcBef>
              <a:spcAft>
                <a:spcPts val="0"/>
              </a:spcAft>
              <a:buClr>
                <a:schemeClr val="dk1"/>
              </a:buClr>
              <a:buSzPts val="1800"/>
              <a:buChar char="▪"/>
            </a:pPr>
            <a:r>
              <a:rPr lang="en-US" b="0"/>
              <a:t>SQLite is self-contained, which means no external dependencies.</a:t>
            </a:r>
            <a:endParaRPr/>
          </a:p>
          <a:p>
            <a:pPr marL="971550" lvl="3" indent="-285750" algn="l" rtl="0">
              <a:lnSpc>
                <a:spcPct val="150000"/>
              </a:lnSpc>
              <a:spcBef>
                <a:spcPts val="500"/>
              </a:spcBef>
              <a:spcAft>
                <a:spcPts val="0"/>
              </a:spcAft>
              <a:buClr>
                <a:schemeClr val="dk1"/>
              </a:buClr>
              <a:buSzPts val="1800"/>
              <a:buChar char="▪"/>
            </a:pPr>
            <a:r>
              <a:rPr lang="en-US" b="0"/>
              <a:t>SQLite transactions are fully ACID-compliant, allowing safe access from multiple processes or threads.</a:t>
            </a:r>
            <a:endParaRPr/>
          </a:p>
          <a:p>
            <a:pPr marL="971550" lvl="3" indent="-285750" algn="l" rtl="0">
              <a:lnSpc>
                <a:spcPct val="150000"/>
              </a:lnSpc>
              <a:spcBef>
                <a:spcPts val="500"/>
              </a:spcBef>
              <a:spcAft>
                <a:spcPts val="0"/>
              </a:spcAft>
              <a:buClr>
                <a:schemeClr val="dk1"/>
              </a:buClr>
              <a:buSzPts val="1800"/>
              <a:buChar char="▪"/>
            </a:pPr>
            <a:r>
              <a:rPr lang="en-US"/>
              <a:t>Supports in all O.S, written in ANSI-C and provides simple and easy-to-use API.</a:t>
            </a:r>
            <a:endParaRPr b="0"/>
          </a:p>
          <a:p>
            <a:pPr marL="971550" lvl="3" indent="-171450" algn="l" rtl="0">
              <a:lnSpc>
                <a:spcPct val="90000"/>
              </a:lnSpc>
              <a:spcBef>
                <a:spcPts val="500"/>
              </a:spcBef>
              <a:spcAft>
                <a:spcPts val="0"/>
              </a:spcAft>
              <a:buClr>
                <a:schemeClr val="dk1"/>
              </a:buClr>
              <a:buSzPts val="1800"/>
              <a:buNone/>
            </a:pPr>
            <a:endParaRPr b="0"/>
          </a:p>
          <a:p>
            <a:pPr marL="285750" lvl="1" indent="-171450" algn="l" rtl="0">
              <a:lnSpc>
                <a:spcPct val="90000"/>
              </a:lnSpc>
              <a:spcBef>
                <a:spcPts val="500"/>
              </a:spcBef>
              <a:spcAft>
                <a:spcPts val="0"/>
              </a:spcAft>
              <a:buClr>
                <a:schemeClr val="accent6"/>
              </a:buClr>
              <a:buSzPts val="1800"/>
              <a:buNone/>
            </a:pPr>
            <a:endParaRPr/>
          </a:p>
        </p:txBody>
      </p:sp>
      <p:pic>
        <p:nvPicPr>
          <p:cNvPr id="2" name="Google Shape;133;p27">
            <a:extLst>
              <a:ext uri="{FF2B5EF4-FFF2-40B4-BE49-F238E27FC236}">
                <a16:creationId xmlns:a16="http://schemas.microsoft.com/office/drawing/2014/main" id="{1FE2A871-9082-970E-21EA-51BC8D1DF0AB}"/>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517951F1-CA2A-74AA-695C-249AD3FFF41A}"/>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28B6CEFA-C27E-7462-5B23-32D2BFFCB58A}"/>
              </a:ext>
            </a:extLst>
          </p:cNvPr>
          <p:cNvPicPr>
            <a:picLocks noChangeAspect="1"/>
          </p:cNvPicPr>
          <p:nvPr/>
        </p:nvPicPr>
        <p:blipFill>
          <a:blip r:embed="rId5"/>
          <a:stretch>
            <a:fillRect/>
          </a:stretch>
        </p:blipFill>
        <p:spPr>
          <a:xfrm>
            <a:off x="10146271" y="112004"/>
            <a:ext cx="2149262" cy="7507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126"/>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Arial"/>
              <a:buNone/>
            </a:pPr>
            <a:r>
              <a:rPr lang="en-US" dirty="0">
                <a:solidFill>
                  <a:schemeClr val="accent1"/>
                </a:solidFill>
              </a:rPr>
              <a:t>ACID properties</a:t>
            </a:r>
            <a:endParaRPr dirty="0"/>
          </a:p>
        </p:txBody>
      </p:sp>
      <p:sp>
        <p:nvSpPr>
          <p:cNvPr id="828" name="Google Shape;828;p126"/>
          <p:cNvSpPr txBox="1">
            <a:spLocks noGrp="1"/>
          </p:cNvSpPr>
          <p:nvPr>
            <p:ph type="body" idx="1"/>
          </p:nvPr>
        </p:nvSpPr>
        <p:spPr>
          <a:xfrm>
            <a:off x="276224" y="1215010"/>
            <a:ext cx="11520000" cy="5257228"/>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lnSpc>
                <a:spcPct val="150000"/>
              </a:lnSpc>
              <a:spcBef>
                <a:spcPts val="0"/>
              </a:spcBef>
              <a:spcAft>
                <a:spcPts val="0"/>
              </a:spcAft>
              <a:buClr>
                <a:schemeClr val="dk1"/>
              </a:buClr>
              <a:buSzPct val="100000"/>
              <a:buFont typeface="Noto Sans Symbols"/>
              <a:buChar char="▪"/>
            </a:pPr>
            <a:r>
              <a:rPr lang="en-US" dirty="0"/>
              <a:t>Atomicity</a:t>
            </a:r>
            <a:endParaRPr dirty="0"/>
          </a:p>
          <a:p>
            <a:pPr marL="914400" lvl="3" indent="-285750" algn="l" rtl="0">
              <a:lnSpc>
                <a:spcPct val="150000"/>
              </a:lnSpc>
              <a:spcBef>
                <a:spcPts val="1100"/>
              </a:spcBef>
              <a:spcAft>
                <a:spcPts val="0"/>
              </a:spcAft>
              <a:buClr>
                <a:schemeClr val="dk1"/>
              </a:buClr>
              <a:buSzPct val="100000"/>
              <a:buChar char="▪"/>
            </a:pPr>
            <a:r>
              <a:rPr lang="en-US" sz="2000" b="1" dirty="0"/>
              <a:t>A</a:t>
            </a:r>
            <a:r>
              <a:rPr lang="en-US" sz="2000" dirty="0"/>
              <a:t>tomic: a transaction should be atomic.  It means that a change cannot be broken down into smaller ones. </a:t>
            </a:r>
            <a:endParaRPr dirty="0"/>
          </a:p>
          <a:p>
            <a:pPr marL="914400" lvl="3" indent="-285750" algn="l" rtl="0">
              <a:lnSpc>
                <a:spcPct val="150000"/>
              </a:lnSpc>
              <a:spcBef>
                <a:spcPts val="500"/>
              </a:spcBef>
              <a:spcAft>
                <a:spcPts val="0"/>
              </a:spcAft>
              <a:buClr>
                <a:schemeClr val="dk1"/>
              </a:buClr>
              <a:buSzPct val="100000"/>
              <a:buChar char="▪"/>
            </a:pPr>
            <a:r>
              <a:rPr lang="en-US" sz="2000" dirty="0"/>
              <a:t>When you commit a transaction, either the entire transaction is applied or not.</a:t>
            </a:r>
            <a:endParaRPr dirty="0"/>
          </a:p>
          <a:p>
            <a:pPr marL="342900" lvl="0" indent="-342900" algn="l" rtl="0">
              <a:lnSpc>
                <a:spcPct val="150000"/>
              </a:lnSpc>
              <a:spcBef>
                <a:spcPts val="1200"/>
              </a:spcBef>
              <a:spcAft>
                <a:spcPts val="0"/>
              </a:spcAft>
              <a:buClr>
                <a:schemeClr val="dk1"/>
              </a:buClr>
              <a:buSzPct val="100000"/>
              <a:buFont typeface="Noto Sans Symbols"/>
              <a:buChar char="▪"/>
            </a:pPr>
            <a:r>
              <a:rPr lang="en-US" dirty="0"/>
              <a:t>Consistent</a:t>
            </a:r>
            <a:r>
              <a:rPr lang="en-US" b="0" dirty="0"/>
              <a:t>: </a:t>
            </a:r>
            <a:endParaRPr dirty="0"/>
          </a:p>
          <a:p>
            <a:pPr marL="971550" lvl="3" indent="-342900" algn="l" rtl="0">
              <a:lnSpc>
                <a:spcPct val="150000"/>
              </a:lnSpc>
              <a:spcBef>
                <a:spcPts val="1100"/>
              </a:spcBef>
              <a:spcAft>
                <a:spcPts val="0"/>
              </a:spcAft>
              <a:buClr>
                <a:schemeClr val="dk1"/>
              </a:buClr>
              <a:buSzPct val="100000"/>
              <a:buChar char="▪"/>
            </a:pPr>
            <a:r>
              <a:rPr lang="en-US" sz="2000" b="0" dirty="0"/>
              <a:t>when the transaction is committed or rolled back, it is important that the transaction must keep the database consistent.</a:t>
            </a:r>
            <a:endParaRPr dirty="0"/>
          </a:p>
          <a:p>
            <a:pPr marL="228600" lvl="1" indent="-228600" algn="l" rtl="0">
              <a:lnSpc>
                <a:spcPct val="150000"/>
              </a:lnSpc>
              <a:spcBef>
                <a:spcPts val="500"/>
              </a:spcBef>
              <a:spcAft>
                <a:spcPts val="0"/>
              </a:spcAft>
              <a:buClr>
                <a:schemeClr val="dk1"/>
              </a:buClr>
              <a:buSzPct val="100000"/>
              <a:buChar char="▪"/>
            </a:pPr>
            <a:r>
              <a:rPr lang="en-US" sz="2000" dirty="0">
                <a:solidFill>
                  <a:schemeClr val="dk1"/>
                </a:solidFill>
              </a:rPr>
              <a:t>  </a:t>
            </a:r>
            <a:r>
              <a:rPr lang="en-US" sz="2000" b="1" dirty="0">
                <a:solidFill>
                  <a:schemeClr val="dk1"/>
                </a:solidFill>
              </a:rPr>
              <a:t>Isolation</a:t>
            </a:r>
            <a:endParaRPr dirty="0"/>
          </a:p>
          <a:p>
            <a:pPr marL="971550" lvl="3" indent="-342900" algn="l" rtl="0">
              <a:lnSpc>
                <a:spcPct val="150000"/>
              </a:lnSpc>
              <a:spcBef>
                <a:spcPts val="500"/>
              </a:spcBef>
              <a:spcAft>
                <a:spcPts val="0"/>
              </a:spcAft>
              <a:buClr>
                <a:schemeClr val="dk1"/>
              </a:buClr>
              <a:buSzPct val="100000"/>
              <a:buChar char="▪"/>
            </a:pPr>
            <a:r>
              <a:rPr lang="en-US" sz="2000" dirty="0"/>
              <a:t>In case if two transactions executing concurrently only respective transaction results will appear to the client, not other client's transaction results.</a:t>
            </a:r>
            <a:endParaRPr dirty="0"/>
          </a:p>
          <a:p>
            <a:pPr marL="285750" lvl="1" indent="-285750" algn="l" rtl="0">
              <a:lnSpc>
                <a:spcPct val="150000"/>
              </a:lnSpc>
              <a:spcBef>
                <a:spcPts val="500"/>
              </a:spcBef>
              <a:spcAft>
                <a:spcPts val="0"/>
              </a:spcAft>
              <a:buClr>
                <a:schemeClr val="dk1"/>
              </a:buClr>
              <a:buSzPct val="100000"/>
              <a:buChar char="▪"/>
            </a:pPr>
            <a:r>
              <a:rPr lang="en-US" sz="2000" b="1" dirty="0">
                <a:solidFill>
                  <a:schemeClr val="dk1"/>
                </a:solidFill>
              </a:rPr>
              <a:t>Durability</a:t>
            </a:r>
            <a:endParaRPr dirty="0"/>
          </a:p>
          <a:p>
            <a:pPr marL="971550" lvl="3" indent="-342900" algn="l" rtl="0">
              <a:lnSpc>
                <a:spcPct val="150000"/>
              </a:lnSpc>
              <a:spcBef>
                <a:spcPts val="500"/>
              </a:spcBef>
              <a:spcAft>
                <a:spcPts val="0"/>
              </a:spcAft>
              <a:buClr>
                <a:schemeClr val="dk1"/>
              </a:buClr>
              <a:buSzPct val="100000"/>
              <a:buChar char="▪"/>
            </a:pPr>
            <a:r>
              <a:rPr lang="en-US" sz="2000" dirty="0"/>
              <a:t>Durability means once the transaction committed successfully then it is guaranteed that all the changes committed permanently to the database </a:t>
            </a:r>
            <a:endParaRPr dirty="0"/>
          </a:p>
        </p:txBody>
      </p:sp>
      <p:pic>
        <p:nvPicPr>
          <p:cNvPr id="2" name="Google Shape;133;p27">
            <a:extLst>
              <a:ext uri="{FF2B5EF4-FFF2-40B4-BE49-F238E27FC236}">
                <a16:creationId xmlns:a16="http://schemas.microsoft.com/office/drawing/2014/main" id="{3FC01A8A-87F4-53B6-F6F6-895FAEAECCD7}"/>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2E026CD3-A6D9-9094-4242-B6796B0AE126}"/>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53CB47EA-9FB8-CA37-CD17-21ABA3F4C2E9}"/>
              </a:ext>
            </a:extLst>
          </p:cNvPr>
          <p:cNvPicPr>
            <a:picLocks noChangeAspect="1"/>
          </p:cNvPicPr>
          <p:nvPr/>
        </p:nvPicPr>
        <p:blipFill>
          <a:blip r:embed="rId5"/>
          <a:stretch>
            <a:fillRect/>
          </a:stretch>
        </p:blipFill>
        <p:spPr>
          <a:xfrm>
            <a:off x="10100327" y="189789"/>
            <a:ext cx="2149262" cy="750770"/>
          </a:xfrm>
          <a:prstGeom prst="rect">
            <a:avLst/>
          </a:prstGeom>
        </p:spPr>
      </p:pic>
    </p:spTree>
    <p:extLst>
      <p:ext uri="{BB962C8B-B14F-4D97-AF65-F5344CB8AC3E}">
        <p14:creationId xmlns:p14="http://schemas.microsoft.com/office/powerpoint/2010/main" val="836228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BD088B-5469-46B2-CBD5-293D0C072954}"/>
              </a:ext>
            </a:extLst>
          </p:cNvPr>
          <p:cNvPicPr>
            <a:picLocks noChangeAspect="1"/>
          </p:cNvPicPr>
          <p:nvPr/>
        </p:nvPicPr>
        <p:blipFill>
          <a:blip r:embed="rId2"/>
          <a:stretch>
            <a:fillRect/>
          </a:stretch>
        </p:blipFill>
        <p:spPr>
          <a:xfrm>
            <a:off x="1565835" y="1237901"/>
            <a:ext cx="8116433" cy="4991797"/>
          </a:xfrm>
          <a:prstGeom prst="rect">
            <a:avLst/>
          </a:prstGeom>
        </p:spPr>
      </p:pic>
      <p:sp>
        <p:nvSpPr>
          <p:cNvPr id="6" name="Google Shape;827;p126">
            <a:extLst>
              <a:ext uri="{FF2B5EF4-FFF2-40B4-BE49-F238E27FC236}">
                <a16:creationId xmlns:a16="http://schemas.microsoft.com/office/drawing/2014/main" id="{0250D00E-A115-71EF-9791-05105658F179}"/>
              </a:ext>
            </a:extLst>
          </p:cNvPr>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Arial"/>
              <a:buNone/>
            </a:pPr>
            <a:r>
              <a:rPr lang="en-US" dirty="0">
                <a:solidFill>
                  <a:schemeClr val="accent1"/>
                </a:solidFill>
              </a:rPr>
              <a:t>ACID properties</a:t>
            </a:r>
            <a:endParaRPr dirty="0"/>
          </a:p>
        </p:txBody>
      </p:sp>
      <p:pic>
        <p:nvPicPr>
          <p:cNvPr id="7" name="Google Shape;133;p27">
            <a:extLst>
              <a:ext uri="{FF2B5EF4-FFF2-40B4-BE49-F238E27FC236}">
                <a16:creationId xmlns:a16="http://schemas.microsoft.com/office/drawing/2014/main" id="{860C057E-1E7A-5F36-CB95-166965042300}"/>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8" name="Picture 7">
            <a:extLst>
              <a:ext uri="{FF2B5EF4-FFF2-40B4-BE49-F238E27FC236}">
                <a16:creationId xmlns:a16="http://schemas.microsoft.com/office/drawing/2014/main" id="{DF596A78-4A9D-D244-6538-6C7D212064EA}"/>
              </a:ext>
            </a:extLst>
          </p:cNvPr>
          <p:cNvPicPr>
            <a:picLocks noChangeAspect="1"/>
          </p:cNvPicPr>
          <p:nvPr/>
        </p:nvPicPr>
        <p:blipFill>
          <a:blip r:embed="rId4"/>
          <a:stretch>
            <a:fillRect/>
          </a:stretch>
        </p:blipFill>
        <p:spPr>
          <a:xfrm>
            <a:off x="8476903" y="862516"/>
            <a:ext cx="2149262" cy="750770"/>
          </a:xfrm>
          <a:prstGeom prst="rect">
            <a:avLst/>
          </a:prstGeom>
        </p:spPr>
      </p:pic>
    </p:spTree>
    <p:extLst>
      <p:ext uri="{BB962C8B-B14F-4D97-AF65-F5344CB8AC3E}">
        <p14:creationId xmlns:p14="http://schemas.microsoft.com/office/powerpoint/2010/main" val="1680289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86"/>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How to get start with databases</a:t>
            </a:r>
            <a:endParaRPr/>
          </a:p>
        </p:txBody>
      </p:sp>
      <p:sp>
        <p:nvSpPr>
          <p:cNvPr id="531" name="Google Shape;531;p86"/>
          <p:cNvSpPr txBox="1">
            <a:spLocks noGrp="1"/>
          </p:cNvSpPr>
          <p:nvPr>
            <p:ph type="body" idx="1"/>
          </p:nvPr>
        </p:nvSpPr>
        <p:spPr>
          <a:xfrm>
            <a:off x="276224" y="1215010"/>
            <a:ext cx="11520000" cy="49680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400"/>
              <a:buFont typeface="Noto Sans Symbols"/>
              <a:buChar char="▪"/>
            </a:pPr>
            <a:r>
              <a:rPr lang="en-US" sz="2400" b="0"/>
              <a:t>Databases require more defined structure than Python lists or dictionaries. </a:t>
            </a:r>
            <a:endParaRPr/>
          </a:p>
          <a:p>
            <a:pPr marL="342900" lvl="0" indent="-342900" algn="l" rtl="0">
              <a:lnSpc>
                <a:spcPct val="150000"/>
              </a:lnSpc>
              <a:spcBef>
                <a:spcPts val="1800"/>
              </a:spcBef>
              <a:spcAft>
                <a:spcPts val="0"/>
              </a:spcAft>
              <a:buClr>
                <a:schemeClr val="dk1"/>
              </a:buClr>
              <a:buSzPts val="2400"/>
              <a:buFont typeface="Noto Sans Symbols"/>
              <a:buChar char="▪"/>
            </a:pPr>
            <a:r>
              <a:rPr lang="en-US" sz="2400" b="0"/>
              <a:t>When we create a database </a:t>
            </a:r>
            <a:r>
              <a:rPr lang="en-US" sz="2400" b="0" i="1"/>
              <a:t>table, </a:t>
            </a:r>
            <a:r>
              <a:rPr lang="en-US" sz="2400" b="0"/>
              <a:t>we must tell the database in advance the names of each of the </a:t>
            </a:r>
            <a:r>
              <a:rPr lang="en-US" sz="2400" b="0" i="1"/>
              <a:t>columns </a:t>
            </a:r>
            <a:r>
              <a:rPr lang="en-US" sz="2400" b="0"/>
              <a:t>in the table and the type of data which we are planning to store in each </a:t>
            </a:r>
            <a:r>
              <a:rPr lang="en-US" sz="2400" b="0" i="1"/>
              <a:t>column</a:t>
            </a:r>
            <a:r>
              <a:rPr lang="en-US" sz="2400" b="0"/>
              <a:t>. </a:t>
            </a:r>
            <a:endParaRPr/>
          </a:p>
          <a:p>
            <a:pPr marL="342900" lvl="0" indent="-342900" algn="l" rtl="0">
              <a:lnSpc>
                <a:spcPct val="150000"/>
              </a:lnSpc>
              <a:spcBef>
                <a:spcPts val="1800"/>
              </a:spcBef>
              <a:spcAft>
                <a:spcPts val="0"/>
              </a:spcAft>
              <a:buClr>
                <a:schemeClr val="dk1"/>
              </a:buClr>
              <a:buSzPts val="2400"/>
              <a:buFont typeface="Noto Sans Symbols"/>
              <a:buChar char="▪"/>
            </a:pPr>
            <a:r>
              <a:rPr lang="en-US" sz="2400" b="0"/>
              <a:t>When the database software knows the type of data in each column, it can choose the most efficient way to store and look up the data based on the type of data.</a:t>
            </a:r>
            <a:endParaRPr/>
          </a:p>
          <a:p>
            <a:pPr marL="342900" lvl="0" indent="-215900" algn="l" rtl="0">
              <a:lnSpc>
                <a:spcPct val="150000"/>
              </a:lnSpc>
              <a:spcBef>
                <a:spcPts val="1800"/>
              </a:spcBef>
              <a:spcAft>
                <a:spcPts val="0"/>
              </a:spcAft>
              <a:buClr>
                <a:schemeClr val="dk1"/>
              </a:buClr>
              <a:buSzPts val="2000"/>
              <a:buFont typeface="Noto Sans Symbols"/>
              <a:buNone/>
            </a:pPr>
            <a:endParaRPr/>
          </a:p>
        </p:txBody>
      </p:sp>
      <p:pic>
        <p:nvPicPr>
          <p:cNvPr id="2" name="Google Shape;133;p27">
            <a:extLst>
              <a:ext uri="{FF2B5EF4-FFF2-40B4-BE49-F238E27FC236}">
                <a16:creationId xmlns:a16="http://schemas.microsoft.com/office/drawing/2014/main" id="{C3061151-667F-C129-3609-59CD4B834B55}"/>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AE71140B-5E5D-974C-A75B-EB24C701051E}"/>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5334A4AF-E99A-ADD8-6031-CC5F4797102E}"/>
              </a:ext>
            </a:extLst>
          </p:cNvPr>
          <p:cNvPicPr>
            <a:picLocks noChangeAspect="1"/>
          </p:cNvPicPr>
          <p:nvPr/>
        </p:nvPicPr>
        <p:blipFill>
          <a:blip r:embed="rId5"/>
          <a:stretch>
            <a:fillRect/>
          </a:stretch>
        </p:blipFill>
        <p:spPr>
          <a:xfrm>
            <a:off x="10100327" y="131351"/>
            <a:ext cx="2149262" cy="7507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87"/>
          <p:cNvSpPr/>
          <p:nvPr/>
        </p:nvSpPr>
        <p:spPr>
          <a:xfrm>
            <a:off x="1160400" y="4071938"/>
            <a:ext cx="4800600" cy="1819211"/>
          </a:xfrm>
          <a:prstGeom prst="roundRect">
            <a:avLst>
              <a:gd name="adj" fmla="val 16667"/>
            </a:avLst>
          </a:prstGeom>
          <a:solidFill>
            <a:schemeClr val="accent1"/>
          </a:solidFill>
          <a:ln w="12700" cap="flat" cmpd="sng">
            <a:solidFill>
              <a:srgbClr val="002B8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7" name="Google Shape;537;p87"/>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How to work with SQLite</a:t>
            </a:r>
            <a:endParaRPr/>
          </a:p>
        </p:txBody>
      </p:sp>
      <p:sp>
        <p:nvSpPr>
          <p:cNvPr id="538" name="Google Shape;538;p87"/>
          <p:cNvSpPr txBox="1">
            <a:spLocks noGrp="1"/>
          </p:cNvSpPr>
          <p:nvPr>
            <p:ph type="body" idx="1"/>
          </p:nvPr>
        </p:nvSpPr>
        <p:spPr>
          <a:xfrm>
            <a:off x="275492" y="966851"/>
            <a:ext cx="11520000" cy="3105087"/>
          </a:xfrm>
          <a:prstGeom prst="rect">
            <a:avLst/>
          </a:prstGeom>
          <a:noFill/>
          <a:ln>
            <a:noFill/>
          </a:ln>
        </p:spPr>
        <p:txBody>
          <a:bodyPr spcFirstLastPara="1" wrap="square" lIns="91425" tIns="45700" rIns="91425" bIns="45700" anchor="t" anchorCtr="0">
            <a:normAutofit/>
          </a:bodyPr>
          <a:lstStyle/>
          <a:p>
            <a:pPr marL="971550" lvl="3" indent="-285750" algn="l" rtl="0">
              <a:lnSpc>
                <a:spcPct val="150000"/>
              </a:lnSpc>
              <a:spcBef>
                <a:spcPts val="0"/>
              </a:spcBef>
              <a:spcAft>
                <a:spcPts val="0"/>
              </a:spcAft>
              <a:buClr>
                <a:schemeClr val="dk1"/>
              </a:buClr>
              <a:buSzPts val="1800"/>
              <a:buChar char="▪"/>
            </a:pPr>
            <a:r>
              <a:rPr lang="en-US" b="1"/>
              <a:t>SQLite database is in-built in Python</a:t>
            </a:r>
            <a:r>
              <a:rPr lang="en-US"/>
              <a:t> using </a:t>
            </a:r>
            <a:r>
              <a:rPr lang="en-US" b="1"/>
              <a:t>sqlite3 module</a:t>
            </a:r>
            <a:endParaRPr sz="2000" b="0"/>
          </a:p>
          <a:p>
            <a:pPr marL="971550" lvl="3" indent="-285750" algn="l" rtl="0">
              <a:lnSpc>
                <a:spcPct val="150000"/>
              </a:lnSpc>
              <a:spcBef>
                <a:spcPts val="500"/>
              </a:spcBef>
              <a:spcAft>
                <a:spcPts val="0"/>
              </a:spcAft>
              <a:buClr>
                <a:schemeClr val="dk1"/>
              </a:buClr>
              <a:buSzPts val="2000"/>
              <a:buChar char="▪"/>
            </a:pPr>
            <a:r>
              <a:rPr lang="en-US" sz="2000" b="0"/>
              <a:t>When we connect to an SQLite database file that does not exist, SQLite automatically creates the new database for us.</a:t>
            </a:r>
            <a:endParaRPr/>
          </a:p>
          <a:p>
            <a:pPr marL="971550" lvl="3" indent="-285750" algn="l" rtl="0">
              <a:lnSpc>
                <a:spcPct val="150000"/>
              </a:lnSpc>
              <a:spcBef>
                <a:spcPts val="500"/>
              </a:spcBef>
              <a:spcAft>
                <a:spcPts val="0"/>
              </a:spcAft>
              <a:buClr>
                <a:schemeClr val="dk1"/>
              </a:buClr>
              <a:buSzPts val="2000"/>
              <a:buChar char="▪"/>
            </a:pPr>
            <a:r>
              <a:rPr lang="en-US" sz="2000"/>
              <a:t>To create a database, first, we must create a Connection object that represents the database using the connect() function of the sqlite3 module.</a:t>
            </a:r>
            <a:endParaRPr/>
          </a:p>
        </p:txBody>
      </p:sp>
      <p:sp>
        <p:nvSpPr>
          <p:cNvPr id="539" name="Google Shape;539;p87"/>
          <p:cNvSpPr/>
          <p:nvPr/>
        </p:nvSpPr>
        <p:spPr>
          <a:xfrm>
            <a:off x="1306817" y="4266732"/>
            <a:ext cx="4567238" cy="1429622"/>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000">
                <a:solidFill>
                  <a:schemeClr val="lt1"/>
                </a:solidFill>
                <a:latin typeface="Arial"/>
                <a:ea typeface="Arial"/>
                <a:cs typeface="Arial"/>
                <a:sym typeface="Arial"/>
              </a:rPr>
              <a:t>import sqlite3</a:t>
            </a:r>
            <a:endParaRPr/>
          </a:p>
          <a:p>
            <a:pPr marL="0" marR="0" lvl="0" indent="0" algn="l" rtl="0">
              <a:lnSpc>
                <a:spcPct val="150000"/>
              </a:lnSpc>
              <a:spcBef>
                <a:spcPts val="0"/>
              </a:spcBef>
              <a:spcAft>
                <a:spcPts val="0"/>
              </a:spcAft>
              <a:buNone/>
            </a:pPr>
            <a:r>
              <a:rPr lang="en-US" sz="2000">
                <a:solidFill>
                  <a:schemeClr val="lt1"/>
                </a:solidFill>
                <a:latin typeface="Arial"/>
                <a:ea typeface="Arial"/>
                <a:cs typeface="Arial"/>
                <a:sym typeface="Arial"/>
              </a:rPr>
              <a:t>conn = sqlite3.connect('emp.db')</a:t>
            </a:r>
            <a:endParaRPr/>
          </a:p>
          <a:p>
            <a:pPr marL="0" marR="0" lvl="0" indent="0" algn="l" rtl="0">
              <a:lnSpc>
                <a:spcPct val="150000"/>
              </a:lnSpc>
              <a:spcBef>
                <a:spcPts val="0"/>
              </a:spcBef>
              <a:spcAft>
                <a:spcPts val="0"/>
              </a:spcAft>
              <a:buNone/>
            </a:pPr>
            <a:r>
              <a:rPr lang="en-US" sz="2000">
                <a:solidFill>
                  <a:schemeClr val="lt1"/>
                </a:solidFill>
                <a:latin typeface="Arial"/>
                <a:ea typeface="Arial"/>
                <a:cs typeface="Arial"/>
                <a:sym typeface="Arial"/>
              </a:rPr>
              <a:t>print ("Opened database successfully")</a:t>
            </a:r>
            <a:endParaRPr/>
          </a:p>
        </p:txBody>
      </p:sp>
      <p:pic>
        <p:nvPicPr>
          <p:cNvPr id="540" name="Google Shape;540;p87"/>
          <p:cNvPicPr preferRelativeResize="0"/>
          <p:nvPr/>
        </p:nvPicPr>
        <p:blipFill rotWithShape="1">
          <a:blip r:embed="rId3">
            <a:alphaModFix/>
          </a:blip>
          <a:srcRect/>
          <a:stretch/>
        </p:blipFill>
        <p:spPr>
          <a:xfrm>
            <a:off x="6845908" y="4058054"/>
            <a:ext cx="3857625" cy="1638300"/>
          </a:xfrm>
          <a:prstGeom prst="rect">
            <a:avLst/>
          </a:prstGeom>
          <a:noFill/>
          <a:ln>
            <a:noFill/>
          </a:ln>
        </p:spPr>
      </p:pic>
      <p:pic>
        <p:nvPicPr>
          <p:cNvPr id="2" name="Google Shape;133;p27">
            <a:extLst>
              <a:ext uri="{FF2B5EF4-FFF2-40B4-BE49-F238E27FC236}">
                <a16:creationId xmlns:a16="http://schemas.microsoft.com/office/drawing/2014/main" id="{6D53DA1C-EE29-556D-3A54-C81DD2AF2EB3}"/>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AB3C09F6-3FC4-5B29-E760-EBCA77ABC954}"/>
              </a:ext>
            </a:extLst>
          </p:cNvPr>
          <p:cNvPicPr preferRelativeResize="0"/>
          <p:nvPr/>
        </p:nvPicPr>
        <p:blipFill rotWithShape="1">
          <a:blip r:embed="rId5">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CF5ED312-11BD-4C8E-C173-7A13D5A342CC}"/>
              </a:ext>
            </a:extLst>
          </p:cNvPr>
          <p:cNvPicPr>
            <a:picLocks noChangeAspect="1"/>
          </p:cNvPicPr>
          <p:nvPr/>
        </p:nvPicPr>
        <p:blipFill>
          <a:blip r:embed="rId6"/>
          <a:stretch>
            <a:fillRect/>
          </a:stretch>
        </p:blipFill>
        <p:spPr>
          <a:xfrm>
            <a:off x="10100327" y="128063"/>
            <a:ext cx="2149262" cy="7507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88"/>
          <p:cNvSpPr/>
          <p:nvPr/>
        </p:nvSpPr>
        <p:spPr>
          <a:xfrm>
            <a:off x="2825928" y="1421050"/>
            <a:ext cx="4800600" cy="1195813"/>
          </a:xfrm>
          <a:prstGeom prst="roundRect">
            <a:avLst>
              <a:gd name="adj" fmla="val 16667"/>
            </a:avLst>
          </a:prstGeom>
          <a:solidFill>
            <a:schemeClr val="accent1"/>
          </a:solidFill>
          <a:ln w="12700" cap="flat" cmpd="sng">
            <a:solidFill>
              <a:srgbClr val="002B8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6" name="Google Shape;546;p88"/>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Steps to work with SQLite</a:t>
            </a:r>
            <a:endParaRPr/>
          </a:p>
        </p:txBody>
      </p:sp>
      <p:sp>
        <p:nvSpPr>
          <p:cNvPr id="547" name="Google Shape;547;p88"/>
          <p:cNvSpPr txBox="1">
            <a:spLocks noGrp="1"/>
          </p:cNvSpPr>
          <p:nvPr>
            <p:ph type="body" idx="1"/>
          </p:nvPr>
        </p:nvSpPr>
        <p:spPr>
          <a:xfrm>
            <a:off x="396508" y="966851"/>
            <a:ext cx="11520000" cy="5291074"/>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1800"/>
              </a:spcBef>
              <a:spcAft>
                <a:spcPts val="0"/>
              </a:spcAft>
              <a:buClr>
                <a:schemeClr val="dk1"/>
              </a:buClr>
              <a:buSzPts val="2200"/>
              <a:buFont typeface="Noto Sans Symbols"/>
              <a:buChar char="▪"/>
            </a:pPr>
            <a:endParaRPr lang="en-US" sz="2200" dirty="0"/>
          </a:p>
          <a:p>
            <a:pPr marL="342900" lvl="0" indent="-342900" algn="l" rtl="0">
              <a:lnSpc>
                <a:spcPct val="150000"/>
              </a:lnSpc>
              <a:spcBef>
                <a:spcPts val="1800"/>
              </a:spcBef>
              <a:spcAft>
                <a:spcPts val="0"/>
              </a:spcAft>
              <a:buClr>
                <a:schemeClr val="dk1"/>
              </a:buClr>
              <a:buSzPts val="2200"/>
              <a:buFont typeface="Noto Sans Symbols"/>
              <a:buChar char="▪"/>
            </a:pPr>
            <a:endParaRPr lang="en-US" sz="2200" dirty="0"/>
          </a:p>
          <a:p>
            <a:pPr marL="342900" lvl="0" indent="-342900" algn="l" rtl="0">
              <a:lnSpc>
                <a:spcPct val="150000"/>
              </a:lnSpc>
              <a:spcBef>
                <a:spcPts val="1800"/>
              </a:spcBef>
              <a:spcAft>
                <a:spcPts val="0"/>
              </a:spcAft>
              <a:buClr>
                <a:schemeClr val="dk1"/>
              </a:buClr>
              <a:buSzPts val="2200"/>
              <a:buFont typeface="Noto Sans Symbols"/>
              <a:buChar char="▪"/>
            </a:pPr>
            <a:r>
              <a:rPr lang="en-US" sz="2200" dirty="0"/>
              <a:t>The connect() function opens a connection to an SQLite database. It returns a Connection object that represents the database. By using the Connection object, you can perform various database operations.</a:t>
            </a:r>
            <a:endParaRPr dirty="0"/>
          </a:p>
          <a:p>
            <a:pPr marL="342900" lvl="0" indent="-215900" algn="l" rtl="0">
              <a:lnSpc>
                <a:spcPct val="150000"/>
              </a:lnSpc>
              <a:spcBef>
                <a:spcPts val="1800"/>
              </a:spcBef>
              <a:spcAft>
                <a:spcPts val="0"/>
              </a:spcAft>
              <a:buClr>
                <a:schemeClr val="dk1"/>
              </a:buClr>
              <a:buSzPts val="2000"/>
              <a:buFont typeface="Noto Sans Symbols"/>
              <a:buNone/>
            </a:pPr>
            <a:endParaRPr dirty="0"/>
          </a:p>
        </p:txBody>
      </p:sp>
      <p:sp>
        <p:nvSpPr>
          <p:cNvPr id="548" name="Google Shape;548;p88"/>
          <p:cNvSpPr/>
          <p:nvPr/>
        </p:nvSpPr>
        <p:spPr>
          <a:xfrm>
            <a:off x="3059290" y="1554512"/>
            <a:ext cx="4567238" cy="101566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lt1"/>
                </a:solidFill>
                <a:latin typeface="Arial"/>
                <a:ea typeface="Arial"/>
                <a:cs typeface="Arial"/>
                <a:sym typeface="Arial"/>
              </a:rPr>
              <a:t>import sqlite3</a:t>
            </a:r>
            <a:endParaRPr dirty="0"/>
          </a:p>
          <a:p>
            <a:pPr marL="0" marR="0" lvl="0" indent="0" algn="l" rtl="0">
              <a:spcBef>
                <a:spcPts val="0"/>
              </a:spcBef>
              <a:spcAft>
                <a:spcPts val="0"/>
              </a:spcAft>
              <a:buNone/>
            </a:pPr>
            <a:r>
              <a:rPr lang="en-US" sz="2000" dirty="0">
                <a:solidFill>
                  <a:schemeClr val="lt1"/>
                </a:solidFill>
                <a:latin typeface="Arial"/>
                <a:ea typeface="Arial"/>
                <a:cs typeface="Arial"/>
                <a:sym typeface="Arial"/>
              </a:rPr>
              <a:t>conn = sqlite3.connect('</a:t>
            </a:r>
            <a:r>
              <a:rPr lang="en-US" sz="2000" dirty="0" err="1">
                <a:solidFill>
                  <a:schemeClr val="lt1"/>
                </a:solidFill>
                <a:latin typeface="Arial"/>
                <a:ea typeface="Arial"/>
                <a:cs typeface="Arial"/>
                <a:sym typeface="Arial"/>
              </a:rPr>
              <a:t>emp.db</a:t>
            </a:r>
            <a:r>
              <a:rPr lang="en-US" sz="2000" dirty="0">
                <a:solidFill>
                  <a:schemeClr val="lt1"/>
                </a:solidFill>
                <a:latin typeface="Arial"/>
                <a:ea typeface="Arial"/>
                <a:cs typeface="Arial"/>
                <a:sym typeface="Arial"/>
              </a:rPr>
              <a:t>')</a:t>
            </a:r>
            <a:endParaRPr dirty="0"/>
          </a:p>
          <a:p>
            <a:pPr marL="0" marR="0" lvl="0" indent="0" algn="l" rtl="0">
              <a:spcBef>
                <a:spcPts val="0"/>
              </a:spcBef>
              <a:spcAft>
                <a:spcPts val="0"/>
              </a:spcAft>
              <a:buNone/>
            </a:pPr>
            <a:r>
              <a:rPr lang="en-US" sz="2000" dirty="0">
                <a:solidFill>
                  <a:schemeClr val="lt1"/>
                </a:solidFill>
                <a:latin typeface="Arial"/>
                <a:ea typeface="Arial"/>
                <a:cs typeface="Arial"/>
                <a:sym typeface="Arial"/>
              </a:rPr>
              <a:t>print ("Opened database successfully")</a:t>
            </a:r>
            <a:endParaRPr dirty="0"/>
          </a:p>
        </p:txBody>
      </p:sp>
      <p:pic>
        <p:nvPicPr>
          <p:cNvPr id="549" name="Google Shape;549;p88"/>
          <p:cNvPicPr preferRelativeResize="0"/>
          <p:nvPr/>
        </p:nvPicPr>
        <p:blipFill rotWithShape="1">
          <a:blip r:embed="rId3">
            <a:alphaModFix/>
          </a:blip>
          <a:srcRect/>
          <a:stretch/>
        </p:blipFill>
        <p:spPr>
          <a:xfrm>
            <a:off x="3879563" y="4266379"/>
            <a:ext cx="4078576" cy="1991546"/>
          </a:xfrm>
          <a:prstGeom prst="rect">
            <a:avLst/>
          </a:prstGeom>
          <a:noFill/>
          <a:ln>
            <a:noFill/>
          </a:ln>
        </p:spPr>
      </p:pic>
      <p:pic>
        <p:nvPicPr>
          <p:cNvPr id="2" name="Google Shape;133;p27">
            <a:extLst>
              <a:ext uri="{FF2B5EF4-FFF2-40B4-BE49-F238E27FC236}">
                <a16:creationId xmlns:a16="http://schemas.microsoft.com/office/drawing/2014/main" id="{6ECD61CB-9D17-E8C1-D41C-32C61B4CA1F1}"/>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89"/>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Steps to work with SQLite</a:t>
            </a:r>
            <a:endParaRPr/>
          </a:p>
        </p:txBody>
      </p:sp>
      <p:sp>
        <p:nvSpPr>
          <p:cNvPr id="555" name="Google Shape;555;p89"/>
          <p:cNvSpPr txBox="1">
            <a:spLocks noGrp="1"/>
          </p:cNvSpPr>
          <p:nvPr>
            <p:ph type="body" idx="1"/>
          </p:nvPr>
        </p:nvSpPr>
        <p:spPr>
          <a:xfrm>
            <a:off x="276224" y="1215010"/>
            <a:ext cx="11520000" cy="49680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2000"/>
              <a:buNone/>
            </a:pPr>
            <a:r>
              <a:rPr lang="en-US"/>
              <a:t>      Note:</a:t>
            </a:r>
            <a:endParaRPr/>
          </a:p>
          <a:p>
            <a:pPr marL="342900" lvl="0" indent="-342900" algn="l" rtl="0">
              <a:lnSpc>
                <a:spcPct val="150000"/>
              </a:lnSpc>
              <a:spcBef>
                <a:spcPts val="1800"/>
              </a:spcBef>
              <a:spcAft>
                <a:spcPts val="0"/>
              </a:spcAft>
              <a:buClr>
                <a:schemeClr val="dk1"/>
              </a:buClr>
              <a:buSzPts val="2200"/>
              <a:buFont typeface="Noto Sans Symbols"/>
              <a:buChar char="▪"/>
            </a:pPr>
            <a:r>
              <a:rPr lang="en-US" sz="2200" b="0"/>
              <a:t>If we skip the folder path C:\Users\PERSONAL\Desktop\SQLite_db, the program will create the database file in the current working directory (CWD).</a:t>
            </a:r>
            <a:endParaRPr/>
          </a:p>
          <a:p>
            <a:pPr marL="342900" lvl="0" indent="-342900" algn="l" rtl="0">
              <a:lnSpc>
                <a:spcPct val="150000"/>
              </a:lnSpc>
              <a:spcBef>
                <a:spcPts val="1800"/>
              </a:spcBef>
              <a:spcAft>
                <a:spcPts val="0"/>
              </a:spcAft>
              <a:buClr>
                <a:schemeClr val="dk1"/>
              </a:buClr>
              <a:buSzPts val="2200"/>
              <a:buFont typeface="Noto Sans Symbols"/>
              <a:buChar char="▪"/>
            </a:pPr>
            <a:r>
              <a:rPr lang="en-US" sz="2200" b="0"/>
              <a:t>If we pass the file name as </a:t>
            </a:r>
            <a:r>
              <a:rPr lang="en-US" sz="2200"/>
              <a:t>:memory: </a:t>
            </a:r>
            <a:r>
              <a:rPr lang="en-US" sz="2200" b="0"/>
              <a:t>to the connect() function of the sqlite3 module, it will create a new database that resides in the memory (RAM) instead of a database file on disk.</a:t>
            </a:r>
            <a:endParaRPr/>
          </a:p>
        </p:txBody>
      </p:sp>
      <p:sp>
        <p:nvSpPr>
          <p:cNvPr id="556" name="Google Shape;556;p89"/>
          <p:cNvSpPr/>
          <p:nvPr/>
        </p:nvSpPr>
        <p:spPr>
          <a:xfrm>
            <a:off x="1904999" y="4461986"/>
            <a:ext cx="6096000" cy="147732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accent1"/>
                </a:solidFill>
                <a:latin typeface="Arial"/>
                <a:ea typeface="Arial"/>
                <a:cs typeface="Arial"/>
                <a:sym typeface="Arial"/>
              </a:rPr>
              <a:t>import sqlite3</a:t>
            </a:r>
            <a:endParaRPr/>
          </a:p>
          <a:p>
            <a:pPr marL="0" marR="0" lvl="0" indent="0" algn="l" rtl="0">
              <a:spcBef>
                <a:spcPts val="0"/>
              </a:spcBef>
              <a:spcAft>
                <a:spcPts val="0"/>
              </a:spcAft>
              <a:buNone/>
            </a:pPr>
            <a:endParaRPr sz="1800" b="1">
              <a:solidFill>
                <a:schemeClr val="accent1"/>
              </a:solidFill>
              <a:latin typeface="Arial"/>
              <a:ea typeface="Arial"/>
              <a:cs typeface="Arial"/>
              <a:sym typeface="Arial"/>
            </a:endParaRPr>
          </a:p>
          <a:p>
            <a:pPr marL="0" marR="0" lvl="0" indent="0" algn="l" rtl="0">
              <a:spcBef>
                <a:spcPts val="0"/>
              </a:spcBef>
              <a:spcAft>
                <a:spcPts val="0"/>
              </a:spcAft>
              <a:buNone/>
            </a:pPr>
            <a:r>
              <a:rPr lang="en-US" sz="1800" b="1">
                <a:solidFill>
                  <a:schemeClr val="accent1"/>
                </a:solidFill>
                <a:latin typeface="Arial"/>
                <a:ea typeface="Arial"/>
                <a:cs typeface="Arial"/>
                <a:sym typeface="Arial"/>
              </a:rPr>
              <a:t>conn = sqlite3.connect(':memory:')</a:t>
            </a:r>
            <a:endParaRPr/>
          </a:p>
          <a:p>
            <a:pPr marL="0" marR="0" lvl="0" indent="0" algn="l" rtl="0">
              <a:spcBef>
                <a:spcPts val="0"/>
              </a:spcBef>
              <a:spcAft>
                <a:spcPts val="0"/>
              </a:spcAft>
              <a:buNone/>
            </a:pPr>
            <a:endParaRPr sz="1800" b="1">
              <a:solidFill>
                <a:schemeClr val="accent1"/>
              </a:solidFill>
              <a:latin typeface="Arial"/>
              <a:ea typeface="Arial"/>
              <a:cs typeface="Arial"/>
              <a:sym typeface="Arial"/>
            </a:endParaRPr>
          </a:p>
          <a:p>
            <a:pPr marL="0" marR="0" lvl="0" indent="0" algn="l" rtl="0">
              <a:spcBef>
                <a:spcPts val="0"/>
              </a:spcBef>
              <a:spcAft>
                <a:spcPts val="0"/>
              </a:spcAft>
              <a:buNone/>
            </a:pPr>
            <a:r>
              <a:rPr lang="en-US" sz="1800" b="1">
                <a:solidFill>
                  <a:schemeClr val="accent1"/>
                </a:solidFill>
                <a:latin typeface="Arial"/>
                <a:ea typeface="Arial"/>
                <a:cs typeface="Arial"/>
                <a:sym typeface="Arial"/>
              </a:rPr>
              <a:t>print ("Opened database successfully")</a:t>
            </a:r>
            <a:endParaRPr/>
          </a:p>
        </p:txBody>
      </p:sp>
      <p:pic>
        <p:nvPicPr>
          <p:cNvPr id="2" name="Google Shape;133;p27">
            <a:extLst>
              <a:ext uri="{FF2B5EF4-FFF2-40B4-BE49-F238E27FC236}">
                <a16:creationId xmlns:a16="http://schemas.microsoft.com/office/drawing/2014/main" id="{C501B30A-2ABE-23FB-8085-27AF3CFBBF6B}"/>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FCED29FE-05B8-AB10-C218-28F4205AB219}"/>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3F32F39E-43DD-25F0-DE3E-57BDB764D108}"/>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90"/>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Creating Tables in SQLite</a:t>
            </a:r>
            <a:endParaRPr/>
          </a:p>
        </p:txBody>
      </p:sp>
      <p:sp>
        <p:nvSpPr>
          <p:cNvPr id="562" name="Google Shape;562;p90"/>
          <p:cNvSpPr txBox="1">
            <a:spLocks noGrp="1"/>
          </p:cNvSpPr>
          <p:nvPr>
            <p:ph type="body" idx="1"/>
          </p:nvPr>
        </p:nvSpPr>
        <p:spPr>
          <a:xfrm>
            <a:off x="276224" y="1215010"/>
            <a:ext cx="11520000" cy="49680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200"/>
              <a:buFont typeface="Noto Sans Symbols"/>
              <a:buChar char="▪"/>
            </a:pPr>
            <a:r>
              <a:rPr lang="en-US" sz="2200" b="0"/>
              <a:t>To create a new table in an SQLite database from a Python program, you use the following steps:</a:t>
            </a:r>
            <a:endParaRPr/>
          </a:p>
          <a:p>
            <a:pPr marL="971550" lvl="3" indent="-285750" algn="l" rtl="0">
              <a:lnSpc>
                <a:spcPct val="150000"/>
              </a:lnSpc>
              <a:spcBef>
                <a:spcPts val="1100"/>
              </a:spcBef>
              <a:spcAft>
                <a:spcPts val="0"/>
              </a:spcAft>
              <a:buClr>
                <a:schemeClr val="dk1"/>
              </a:buClr>
              <a:buSzPts val="2400"/>
              <a:buChar char="▪"/>
            </a:pPr>
            <a:r>
              <a:rPr lang="en-US" sz="2400" b="0"/>
              <a:t>First, create a </a:t>
            </a:r>
            <a:r>
              <a:rPr lang="en-US" sz="2400" b="1"/>
              <a:t>Connection</a:t>
            </a:r>
            <a:r>
              <a:rPr lang="en-US" sz="2400" b="0"/>
              <a:t> object using the </a:t>
            </a:r>
            <a:r>
              <a:rPr lang="en-US" sz="2400" b="1"/>
              <a:t>connect() </a:t>
            </a:r>
            <a:r>
              <a:rPr lang="en-US" sz="2400"/>
              <a:t>method of </a:t>
            </a:r>
            <a:r>
              <a:rPr lang="en-US" sz="2400" b="0"/>
              <a:t>the sqlite3 module.</a:t>
            </a:r>
            <a:endParaRPr/>
          </a:p>
          <a:p>
            <a:pPr marL="971550" lvl="3" indent="-285750" algn="l" rtl="0">
              <a:lnSpc>
                <a:spcPct val="150000"/>
              </a:lnSpc>
              <a:spcBef>
                <a:spcPts val="500"/>
              </a:spcBef>
              <a:spcAft>
                <a:spcPts val="0"/>
              </a:spcAft>
              <a:buClr>
                <a:schemeClr val="dk1"/>
              </a:buClr>
              <a:buSzPts val="2400"/>
              <a:buChar char="▪"/>
            </a:pPr>
            <a:r>
              <a:rPr lang="en-US" sz="2400" b="0"/>
              <a:t>Second, create a </a:t>
            </a:r>
            <a:r>
              <a:rPr lang="en-US" sz="2400" b="1"/>
              <a:t>Cursor</a:t>
            </a:r>
            <a:r>
              <a:rPr lang="en-US" sz="2400" b="0"/>
              <a:t> </a:t>
            </a:r>
            <a:r>
              <a:rPr lang="en-US" sz="2400" b="1"/>
              <a:t>object</a:t>
            </a:r>
            <a:r>
              <a:rPr lang="en-US" sz="2400" b="0"/>
              <a:t> by calling the </a:t>
            </a:r>
            <a:r>
              <a:rPr lang="en-US" sz="2400" b="1"/>
              <a:t>cursor() </a:t>
            </a:r>
            <a:r>
              <a:rPr lang="en-US" sz="2400" b="0"/>
              <a:t>method of the Connection object.</a:t>
            </a:r>
            <a:endParaRPr/>
          </a:p>
          <a:p>
            <a:pPr marL="971550" lvl="3" indent="-285750" algn="l" rtl="0">
              <a:lnSpc>
                <a:spcPct val="150000"/>
              </a:lnSpc>
              <a:spcBef>
                <a:spcPts val="500"/>
              </a:spcBef>
              <a:spcAft>
                <a:spcPts val="0"/>
              </a:spcAft>
              <a:buClr>
                <a:schemeClr val="dk1"/>
              </a:buClr>
              <a:buSzPts val="2400"/>
              <a:buChar char="▪"/>
            </a:pPr>
            <a:r>
              <a:rPr lang="en-US" sz="2400" b="0"/>
              <a:t>Third, pass the </a:t>
            </a:r>
            <a:r>
              <a:rPr lang="en-US" sz="2400" b="1"/>
              <a:t>CREATE TABLE</a:t>
            </a:r>
            <a:r>
              <a:rPr lang="en-US" sz="2400" b="0"/>
              <a:t> statement to the </a:t>
            </a:r>
            <a:r>
              <a:rPr lang="en-US" sz="2400" b="1"/>
              <a:t>execute</a:t>
            </a:r>
            <a:r>
              <a:rPr lang="en-US" sz="2400" b="0"/>
              <a:t>() method of the Cursor object and execute this method.</a:t>
            </a:r>
            <a:endParaRPr/>
          </a:p>
        </p:txBody>
      </p:sp>
      <p:pic>
        <p:nvPicPr>
          <p:cNvPr id="2" name="Google Shape;133;p27">
            <a:extLst>
              <a:ext uri="{FF2B5EF4-FFF2-40B4-BE49-F238E27FC236}">
                <a16:creationId xmlns:a16="http://schemas.microsoft.com/office/drawing/2014/main" id="{6C76D55E-8E88-DF08-7292-D32B9C895A20}"/>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C1C22A59-BD6D-CAB6-AD14-7AB20E31A514}"/>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F59F4C72-CC1B-404E-2F38-BED4AD1E3BDC}"/>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91"/>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Database cursors</a:t>
            </a:r>
            <a:endParaRPr/>
          </a:p>
        </p:txBody>
      </p:sp>
      <p:pic>
        <p:nvPicPr>
          <p:cNvPr id="568" name="Google Shape;568;p91"/>
          <p:cNvPicPr preferRelativeResize="0">
            <a:picLocks noGrp="1"/>
          </p:cNvPicPr>
          <p:nvPr>
            <p:ph type="body" idx="1"/>
          </p:nvPr>
        </p:nvPicPr>
        <p:blipFill rotWithShape="1">
          <a:blip r:embed="rId3">
            <a:alphaModFix/>
          </a:blip>
          <a:srcRect/>
          <a:stretch/>
        </p:blipFill>
        <p:spPr>
          <a:xfrm>
            <a:off x="3000375" y="2334399"/>
            <a:ext cx="6191250" cy="2876550"/>
          </a:xfrm>
          <a:prstGeom prst="rect">
            <a:avLst/>
          </a:prstGeom>
          <a:noFill/>
          <a:ln>
            <a:noFill/>
          </a:ln>
        </p:spPr>
      </p:pic>
      <p:sp>
        <p:nvSpPr>
          <p:cNvPr id="569" name="Google Shape;569;p91"/>
          <p:cNvSpPr/>
          <p:nvPr/>
        </p:nvSpPr>
        <p:spPr>
          <a:xfrm>
            <a:off x="533399" y="1247299"/>
            <a:ext cx="11253789" cy="1015663"/>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2000"/>
              <a:buFont typeface="Arial"/>
              <a:buChar char="•"/>
            </a:pPr>
            <a:r>
              <a:rPr lang="en-US" sz="2000" b="1">
                <a:solidFill>
                  <a:schemeClr val="dk1"/>
                </a:solidFill>
                <a:latin typeface="Arial"/>
                <a:ea typeface="Arial"/>
                <a:cs typeface="Arial"/>
                <a:sym typeface="Arial"/>
              </a:rPr>
              <a:t>A </a:t>
            </a:r>
            <a:r>
              <a:rPr lang="en-US" sz="2000" b="1" i="1">
                <a:solidFill>
                  <a:schemeClr val="dk1"/>
                </a:solidFill>
                <a:latin typeface="Arial"/>
                <a:ea typeface="Arial"/>
                <a:cs typeface="Arial"/>
                <a:sym typeface="Arial"/>
              </a:rPr>
              <a:t>cursor </a:t>
            </a:r>
            <a:r>
              <a:rPr lang="en-US" sz="2000" b="1">
                <a:solidFill>
                  <a:schemeClr val="dk1"/>
                </a:solidFill>
                <a:latin typeface="Arial"/>
                <a:ea typeface="Arial"/>
                <a:cs typeface="Arial"/>
                <a:sym typeface="Arial"/>
              </a:rPr>
              <a:t>is like a file handle that we can use to perform operations on the data stored in the database. </a:t>
            </a:r>
            <a:endParaRPr/>
          </a:p>
          <a:p>
            <a:pPr marL="342900" marR="0" lvl="0" indent="-215900" algn="l" rtl="0">
              <a:spcBef>
                <a:spcPts val="0"/>
              </a:spcBef>
              <a:spcAft>
                <a:spcPts val="0"/>
              </a:spcAft>
              <a:buClr>
                <a:schemeClr val="dk1"/>
              </a:buClr>
              <a:buSzPts val="2000"/>
              <a:buFont typeface="Arial"/>
              <a:buNone/>
            </a:pPr>
            <a:endParaRPr sz="2000" b="1">
              <a:solidFill>
                <a:schemeClr val="dk1"/>
              </a:solidFill>
              <a:latin typeface="Arial"/>
              <a:ea typeface="Arial"/>
              <a:cs typeface="Arial"/>
              <a:sym typeface="Arial"/>
            </a:endParaRPr>
          </a:p>
          <a:p>
            <a:pPr marL="342900" marR="0" lvl="0" indent="-342900" algn="l" rtl="0">
              <a:spcBef>
                <a:spcPts val="0"/>
              </a:spcBef>
              <a:spcAft>
                <a:spcPts val="0"/>
              </a:spcAft>
              <a:buClr>
                <a:schemeClr val="dk1"/>
              </a:buClr>
              <a:buSzPts val="2000"/>
              <a:buFont typeface="Arial"/>
              <a:buChar char="•"/>
            </a:pPr>
            <a:r>
              <a:rPr lang="en-US" sz="2000" b="1">
                <a:solidFill>
                  <a:schemeClr val="dk1"/>
                </a:solidFill>
                <a:latin typeface="Arial"/>
                <a:ea typeface="Arial"/>
                <a:cs typeface="Arial"/>
                <a:sym typeface="Arial"/>
              </a:rPr>
              <a:t>Calling cursor() is very similar conceptually to calling open() when dealing with text files.</a:t>
            </a:r>
            <a:endParaRPr/>
          </a:p>
        </p:txBody>
      </p:sp>
      <p:sp>
        <p:nvSpPr>
          <p:cNvPr id="570" name="Google Shape;570;p91"/>
          <p:cNvSpPr/>
          <p:nvPr/>
        </p:nvSpPr>
        <p:spPr>
          <a:xfrm>
            <a:off x="623886" y="5282386"/>
            <a:ext cx="11568114" cy="96795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50000"/>
              </a:lnSpc>
              <a:spcBef>
                <a:spcPts val="0"/>
              </a:spcBef>
              <a:spcAft>
                <a:spcPts val="0"/>
              </a:spcAft>
              <a:buClr>
                <a:schemeClr val="dk1"/>
              </a:buClr>
              <a:buSzPts val="2000"/>
              <a:buFont typeface="Arial"/>
              <a:buChar char="•"/>
            </a:pPr>
            <a:r>
              <a:rPr lang="en-US" sz="2000" b="1">
                <a:solidFill>
                  <a:schemeClr val="dk1"/>
                </a:solidFill>
                <a:latin typeface="Arial"/>
                <a:ea typeface="Arial"/>
                <a:cs typeface="Arial"/>
                <a:sym typeface="Arial"/>
              </a:rPr>
              <a:t>Once we have the cursor, we can begin to execute commands on the contents of the database using the execute() method.</a:t>
            </a:r>
            <a:endParaRPr/>
          </a:p>
        </p:txBody>
      </p:sp>
      <p:pic>
        <p:nvPicPr>
          <p:cNvPr id="2" name="Google Shape;133;p27">
            <a:extLst>
              <a:ext uri="{FF2B5EF4-FFF2-40B4-BE49-F238E27FC236}">
                <a16:creationId xmlns:a16="http://schemas.microsoft.com/office/drawing/2014/main" id="{BFB7808A-4E38-D6DC-6A85-0F39A4691DFD}"/>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F963992D-70EB-FBED-A995-A43F0C4662EC}"/>
              </a:ext>
            </a:extLst>
          </p:cNvPr>
          <p:cNvPicPr preferRelativeResize="0"/>
          <p:nvPr/>
        </p:nvPicPr>
        <p:blipFill rotWithShape="1">
          <a:blip r:embed="rId5">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0577AE43-561C-657D-63EF-2C9149D163B8}"/>
              </a:ext>
            </a:extLst>
          </p:cNvPr>
          <p:cNvPicPr>
            <a:picLocks noChangeAspect="1"/>
          </p:cNvPicPr>
          <p:nvPr/>
        </p:nvPicPr>
        <p:blipFill>
          <a:blip r:embed="rId6"/>
          <a:stretch>
            <a:fillRect/>
          </a:stretch>
        </p:blipFill>
        <p:spPr>
          <a:xfrm>
            <a:off x="10042738" y="172072"/>
            <a:ext cx="2149262" cy="7507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92"/>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Creating Tables in SQLite</a:t>
            </a:r>
            <a:endParaRPr/>
          </a:p>
        </p:txBody>
      </p:sp>
      <p:sp>
        <p:nvSpPr>
          <p:cNvPr id="576" name="Google Shape;576;p92"/>
          <p:cNvSpPr/>
          <p:nvPr/>
        </p:nvSpPr>
        <p:spPr>
          <a:xfrm>
            <a:off x="800099" y="1415266"/>
            <a:ext cx="5295901" cy="440120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import sqlite3</a:t>
            </a:r>
            <a:endParaRPr/>
          </a:p>
          <a:p>
            <a:pPr marL="0" marR="0" lvl="0" indent="0" algn="l" rtl="0">
              <a:spcBef>
                <a:spcPts val="0"/>
              </a:spcBef>
              <a:spcAft>
                <a:spcPts val="0"/>
              </a:spcAft>
              <a:buNone/>
            </a:pPr>
            <a:endParaRPr sz="2000">
              <a:solidFill>
                <a:schemeClr val="dk1"/>
              </a:solidFill>
              <a:latin typeface="Arial"/>
              <a:ea typeface="Arial"/>
              <a:cs typeface="Arial"/>
              <a:sym typeface="Arial"/>
            </a:endParaRPr>
          </a:p>
          <a:p>
            <a:pPr marL="0" marR="0" lvl="0" indent="0" algn="l" rtl="0">
              <a:spcBef>
                <a:spcPts val="0"/>
              </a:spcBef>
              <a:spcAft>
                <a:spcPts val="0"/>
              </a:spcAft>
              <a:buNone/>
            </a:pPr>
            <a:r>
              <a:rPr lang="en-US" sz="2000">
                <a:solidFill>
                  <a:schemeClr val="dk1"/>
                </a:solidFill>
                <a:latin typeface="Arial"/>
                <a:ea typeface="Arial"/>
                <a:cs typeface="Arial"/>
                <a:sym typeface="Arial"/>
              </a:rPr>
              <a:t>conn = sqlite3.connect('emp.db')</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print ("Opened database successfully")</a:t>
            </a:r>
            <a:endParaRPr/>
          </a:p>
          <a:p>
            <a:pPr marL="0" marR="0" lvl="0" indent="0" algn="l" rtl="0">
              <a:spcBef>
                <a:spcPts val="0"/>
              </a:spcBef>
              <a:spcAft>
                <a:spcPts val="0"/>
              </a:spcAft>
              <a:buNone/>
            </a:pPr>
            <a:endParaRPr sz="2000">
              <a:solidFill>
                <a:schemeClr val="dk1"/>
              </a:solidFill>
              <a:latin typeface="Arial"/>
              <a:ea typeface="Arial"/>
              <a:cs typeface="Arial"/>
              <a:sym typeface="Arial"/>
            </a:endParaRPr>
          </a:p>
          <a:p>
            <a:pPr marL="0" marR="0" lvl="0" indent="0" algn="l" rtl="0">
              <a:spcBef>
                <a:spcPts val="0"/>
              </a:spcBef>
              <a:spcAft>
                <a:spcPts val="0"/>
              </a:spcAft>
              <a:buNone/>
            </a:pPr>
            <a:r>
              <a:rPr lang="en-US" sz="2000">
                <a:solidFill>
                  <a:schemeClr val="dk1"/>
                </a:solidFill>
                <a:latin typeface="Arial"/>
                <a:ea typeface="Arial"/>
                <a:cs typeface="Arial"/>
                <a:sym typeface="Arial"/>
              </a:rPr>
              <a:t>conn.execute('''CREATE TABLE COMPANY</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(ID INT PRIMARY KEY     NOT NULL,</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NAME           TEXT    NOT NULL,</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AGE            INT     NOT NULL,</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ADDRESS        CHAR(50),</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SALARY         REAL);''')</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print ("Table created successfully")</a:t>
            </a:r>
            <a:endParaRPr/>
          </a:p>
          <a:p>
            <a:pPr marL="0" marR="0" lvl="0" indent="0" algn="l" rtl="0">
              <a:spcBef>
                <a:spcPts val="0"/>
              </a:spcBef>
              <a:spcAft>
                <a:spcPts val="0"/>
              </a:spcAft>
              <a:buNone/>
            </a:pPr>
            <a:endParaRPr sz="2000">
              <a:solidFill>
                <a:schemeClr val="dk1"/>
              </a:solidFill>
              <a:latin typeface="Arial"/>
              <a:ea typeface="Arial"/>
              <a:cs typeface="Arial"/>
              <a:sym typeface="Arial"/>
            </a:endParaRPr>
          </a:p>
          <a:p>
            <a:pPr marL="0" marR="0" lvl="0" indent="0" algn="l" rtl="0">
              <a:spcBef>
                <a:spcPts val="0"/>
              </a:spcBef>
              <a:spcAft>
                <a:spcPts val="0"/>
              </a:spcAft>
              <a:buNone/>
            </a:pPr>
            <a:r>
              <a:rPr lang="en-US" sz="2000">
                <a:solidFill>
                  <a:schemeClr val="dk1"/>
                </a:solidFill>
                <a:latin typeface="Arial"/>
                <a:ea typeface="Arial"/>
                <a:cs typeface="Arial"/>
                <a:sym typeface="Arial"/>
              </a:rPr>
              <a:t>conn.close()</a:t>
            </a:r>
            <a:endParaRPr/>
          </a:p>
        </p:txBody>
      </p:sp>
      <p:pic>
        <p:nvPicPr>
          <p:cNvPr id="577" name="Google Shape;577;p92"/>
          <p:cNvPicPr preferRelativeResize="0"/>
          <p:nvPr/>
        </p:nvPicPr>
        <p:blipFill rotWithShape="1">
          <a:blip r:embed="rId3">
            <a:alphaModFix/>
          </a:blip>
          <a:srcRect/>
          <a:stretch/>
        </p:blipFill>
        <p:spPr>
          <a:xfrm>
            <a:off x="6248400" y="1624012"/>
            <a:ext cx="4267200" cy="3609975"/>
          </a:xfrm>
          <a:prstGeom prst="rect">
            <a:avLst/>
          </a:prstGeom>
          <a:noFill/>
          <a:ln>
            <a:noFill/>
          </a:ln>
        </p:spPr>
      </p:pic>
      <p:pic>
        <p:nvPicPr>
          <p:cNvPr id="2" name="Google Shape;133;p27">
            <a:extLst>
              <a:ext uri="{FF2B5EF4-FFF2-40B4-BE49-F238E27FC236}">
                <a16:creationId xmlns:a16="http://schemas.microsoft.com/office/drawing/2014/main" id="{3AB7AFAF-5C77-B90C-B6B0-27227A6F6C68}"/>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AF0ACA2D-7DA7-A36A-D1F0-DFFD172F9FF7}"/>
              </a:ext>
            </a:extLst>
          </p:cNvPr>
          <p:cNvPicPr preferRelativeResize="0"/>
          <p:nvPr/>
        </p:nvPicPr>
        <p:blipFill rotWithShape="1">
          <a:blip r:embed="rId5">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7F9EFE2A-CBB8-E683-A2A1-DC6E9F3F99C9}"/>
              </a:ext>
            </a:extLst>
          </p:cNvPr>
          <p:cNvPicPr>
            <a:picLocks noChangeAspect="1"/>
          </p:cNvPicPr>
          <p:nvPr/>
        </p:nvPicPr>
        <p:blipFill>
          <a:blip r:embed="rId6"/>
          <a:stretch>
            <a:fillRect/>
          </a:stretch>
        </p:blipFill>
        <p:spPr>
          <a:xfrm>
            <a:off x="10042738" y="172072"/>
            <a:ext cx="2149262" cy="7507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8" name="Google Shape;138;p29"/>
          <p:cNvSpPr txBox="1">
            <a:spLocks noGrp="1"/>
          </p:cNvSpPr>
          <p:nvPr>
            <p:ph type="body" idx="1"/>
          </p:nvPr>
        </p:nvSpPr>
        <p:spPr>
          <a:xfrm>
            <a:off x="2091544" y="3429000"/>
            <a:ext cx="9719723" cy="83221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1"/>
              </a:buClr>
              <a:buSzPts val="4400"/>
              <a:buNone/>
            </a:pPr>
            <a:r>
              <a:rPr lang="en-US" sz="3800" dirty="0">
                <a:solidFill>
                  <a:schemeClr val="accent1"/>
                </a:solidFill>
              </a:rPr>
              <a:t>CURD operations using SQLite</a:t>
            </a:r>
            <a:endParaRPr lang="en-US" sz="3800" dirty="0"/>
          </a:p>
        </p:txBody>
      </p:sp>
      <p:pic>
        <p:nvPicPr>
          <p:cNvPr id="2" name="Google Shape;133;p27">
            <a:extLst>
              <a:ext uri="{FF2B5EF4-FFF2-40B4-BE49-F238E27FC236}">
                <a16:creationId xmlns:a16="http://schemas.microsoft.com/office/drawing/2014/main" id="{CC77A008-DCC3-FF7E-CBD9-DE6F6265E92F}"/>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4ECAB4B9-AB2D-2CE0-4736-94872556A6F6}"/>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7A899360-9E4A-E245-8B01-BBA2920F0412}"/>
              </a:ext>
            </a:extLst>
          </p:cNvPr>
          <p:cNvPicPr>
            <a:picLocks noChangeAspect="1"/>
          </p:cNvPicPr>
          <p:nvPr/>
        </p:nvPicPr>
        <p:blipFill>
          <a:blip r:embed="rId5"/>
          <a:stretch>
            <a:fillRect/>
          </a:stretch>
        </p:blipFill>
        <p:spPr>
          <a:xfrm>
            <a:off x="10042738" y="172072"/>
            <a:ext cx="2149262" cy="750770"/>
          </a:xfrm>
          <a:prstGeom prst="rect">
            <a:avLst/>
          </a:prstGeom>
        </p:spPr>
      </p:pic>
    </p:spTree>
    <p:extLst>
      <p:ext uri="{BB962C8B-B14F-4D97-AF65-F5344CB8AC3E}">
        <p14:creationId xmlns:p14="http://schemas.microsoft.com/office/powerpoint/2010/main" val="543296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94"/>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Arial"/>
              <a:buNone/>
            </a:pPr>
            <a:r>
              <a:rPr lang="en-US">
                <a:solidFill>
                  <a:schemeClr val="accent1"/>
                </a:solidFill>
              </a:rPr>
              <a:t>CURD operations using SQLite</a:t>
            </a:r>
            <a:endParaRPr/>
          </a:p>
        </p:txBody>
      </p:sp>
      <p:sp>
        <p:nvSpPr>
          <p:cNvPr id="590" name="Google Shape;590;p94"/>
          <p:cNvSpPr txBox="1">
            <a:spLocks noGrp="1"/>
          </p:cNvSpPr>
          <p:nvPr>
            <p:ph type="body" idx="1"/>
          </p:nvPr>
        </p:nvSpPr>
        <p:spPr>
          <a:xfrm>
            <a:off x="275492" y="1373836"/>
            <a:ext cx="11481079" cy="4635078"/>
          </a:xfrm>
          <a:prstGeom prst="rect">
            <a:avLst/>
          </a:prstGeom>
          <a:noFill/>
          <a:ln>
            <a:noFill/>
          </a:ln>
        </p:spPr>
        <p:txBody>
          <a:bodyPr spcFirstLastPara="1" wrap="square" lIns="91425" tIns="45700" rIns="91425" bIns="45700" anchor="t" anchorCtr="0">
            <a:normAutofit/>
          </a:bodyPr>
          <a:lstStyle/>
          <a:p>
            <a:pPr marL="342900" lvl="0" indent="-342900" algn="l" rtl="0">
              <a:lnSpc>
                <a:spcPct val="200000"/>
              </a:lnSpc>
              <a:spcBef>
                <a:spcPts val="0"/>
              </a:spcBef>
              <a:spcAft>
                <a:spcPts val="0"/>
              </a:spcAft>
              <a:buClr>
                <a:schemeClr val="dk1"/>
              </a:buClr>
              <a:buSzPts val="2400"/>
              <a:buChar char="▪"/>
            </a:pPr>
            <a:r>
              <a:rPr lang="en-US" sz="2400" b="0">
                <a:solidFill>
                  <a:schemeClr val="dk1"/>
                </a:solidFill>
              </a:rPr>
              <a:t>CURD stands for CREATE, UPDATE, RETRIEVE, DELETE operations.</a:t>
            </a:r>
            <a:endParaRPr/>
          </a:p>
          <a:p>
            <a:pPr marL="971550" lvl="3" indent="-285750" algn="l" rtl="0">
              <a:lnSpc>
                <a:spcPct val="200000"/>
              </a:lnSpc>
              <a:spcBef>
                <a:spcPts val="1100"/>
              </a:spcBef>
              <a:spcAft>
                <a:spcPts val="0"/>
              </a:spcAft>
              <a:buClr>
                <a:schemeClr val="dk1"/>
              </a:buClr>
              <a:buSzPts val="2200"/>
              <a:buChar char="▪"/>
            </a:pPr>
            <a:r>
              <a:rPr lang="en-US" sz="2200" b="0"/>
              <a:t>Create – Insert operation</a:t>
            </a:r>
            <a:endParaRPr/>
          </a:p>
          <a:p>
            <a:pPr marL="971550" lvl="3" indent="-285750" algn="l" rtl="0">
              <a:lnSpc>
                <a:spcPct val="200000"/>
              </a:lnSpc>
              <a:spcBef>
                <a:spcPts val="500"/>
              </a:spcBef>
              <a:spcAft>
                <a:spcPts val="0"/>
              </a:spcAft>
              <a:buClr>
                <a:schemeClr val="dk1"/>
              </a:buClr>
              <a:buSzPts val="2200"/>
              <a:buChar char="▪"/>
            </a:pPr>
            <a:r>
              <a:rPr lang="en-US" sz="2200" b="0">
                <a:solidFill>
                  <a:schemeClr val="dk1"/>
                </a:solidFill>
              </a:rPr>
              <a:t>Update- Update operation</a:t>
            </a:r>
            <a:endParaRPr/>
          </a:p>
          <a:p>
            <a:pPr marL="971550" lvl="3" indent="-285750" algn="l" rtl="0">
              <a:lnSpc>
                <a:spcPct val="200000"/>
              </a:lnSpc>
              <a:spcBef>
                <a:spcPts val="500"/>
              </a:spcBef>
              <a:spcAft>
                <a:spcPts val="0"/>
              </a:spcAft>
              <a:buClr>
                <a:schemeClr val="dk1"/>
              </a:buClr>
              <a:buSzPts val="2200"/>
              <a:buChar char="▪"/>
            </a:pPr>
            <a:r>
              <a:rPr lang="en-US" sz="2200" b="0"/>
              <a:t>Retrieve – Select operation</a:t>
            </a:r>
            <a:endParaRPr/>
          </a:p>
          <a:p>
            <a:pPr marL="971550" lvl="3" indent="-285750" algn="l" rtl="0">
              <a:lnSpc>
                <a:spcPct val="200000"/>
              </a:lnSpc>
              <a:spcBef>
                <a:spcPts val="500"/>
              </a:spcBef>
              <a:spcAft>
                <a:spcPts val="0"/>
              </a:spcAft>
              <a:buClr>
                <a:schemeClr val="dk1"/>
              </a:buClr>
              <a:buSzPts val="2200"/>
              <a:buChar char="▪"/>
            </a:pPr>
            <a:r>
              <a:rPr lang="en-US" sz="2200" b="0">
                <a:solidFill>
                  <a:schemeClr val="dk1"/>
                </a:solidFill>
              </a:rPr>
              <a:t>Delete – Delete operation</a:t>
            </a:r>
            <a:endParaRPr sz="2200">
              <a:solidFill>
                <a:schemeClr val="dk1"/>
              </a:solidFill>
            </a:endParaRPr>
          </a:p>
        </p:txBody>
      </p:sp>
      <p:pic>
        <p:nvPicPr>
          <p:cNvPr id="2" name="Google Shape;133;p27">
            <a:extLst>
              <a:ext uri="{FF2B5EF4-FFF2-40B4-BE49-F238E27FC236}">
                <a16:creationId xmlns:a16="http://schemas.microsoft.com/office/drawing/2014/main" id="{1B2C273C-6EBB-5638-DDB2-B6DEBE16DEE9}"/>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E4572CA5-923F-0609-6510-23201CD33B54}"/>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B5E30D78-DBE6-459A-1F04-253CFC037003}"/>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95"/>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Insert data into SQLite</a:t>
            </a:r>
            <a:endParaRPr/>
          </a:p>
        </p:txBody>
      </p:sp>
      <p:sp>
        <p:nvSpPr>
          <p:cNvPr id="596" name="Google Shape;596;p95"/>
          <p:cNvSpPr/>
          <p:nvPr/>
        </p:nvSpPr>
        <p:spPr>
          <a:xfrm>
            <a:off x="633412" y="1295429"/>
            <a:ext cx="11558588" cy="45243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chemeClr val="dk1"/>
                </a:solidFill>
                <a:latin typeface="Arial"/>
                <a:ea typeface="Arial"/>
                <a:cs typeface="Arial"/>
                <a:sym typeface="Arial"/>
              </a:rPr>
              <a:t>import sqlite3</a:t>
            </a:r>
            <a:endParaRPr dirty="0"/>
          </a:p>
          <a:p>
            <a:pPr marL="0" marR="0" lvl="0" indent="0" algn="l" rtl="0">
              <a:spcBef>
                <a:spcPts val="0"/>
              </a:spcBef>
              <a:spcAft>
                <a:spcPts val="0"/>
              </a:spcAft>
              <a:buNone/>
            </a:pPr>
            <a:endParaRPr dirty="0">
              <a:solidFill>
                <a:schemeClr val="dk1"/>
              </a:solidFill>
              <a:latin typeface="Arial"/>
              <a:ea typeface="Arial"/>
              <a:cs typeface="Arial"/>
              <a:sym typeface="Arial"/>
            </a:endParaRPr>
          </a:p>
          <a:p>
            <a:pPr marL="0" marR="0" lvl="0" indent="0" algn="l" rtl="0">
              <a:spcBef>
                <a:spcPts val="0"/>
              </a:spcBef>
              <a:spcAft>
                <a:spcPts val="0"/>
              </a:spcAft>
              <a:buNone/>
            </a:pPr>
            <a:r>
              <a:rPr lang="en-US" dirty="0">
                <a:solidFill>
                  <a:schemeClr val="dk1"/>
                </a:solidFill>
                <a:latin typeface="Arial"/>
                <a:ea typeface="Arial"/>
                <a:cs typeface="Arial"/>
                <a:sym typeface="Arial"/>
              </a:rPr>
              <a:t>conn = sqlite3.connect('</a:t>
            </a:r>
            <a:r>
              <a:rPr lang="en-US" dirty="0" err="1">
                <a:solidFill>
                  <a:schemeClr val="dk1"/>
                </a:solidFill>
                <a:latin typeface="Arial"/>
                <a:ea typeface="Arial"/>
                <a:cs typeface="Arial"/>
                <a:sym typeface="Arial"/>
              </a:rPr>
              <a:t>emp.db</a:t>
            </a:r>
            <a:r>
              <a:rPr lang="en-US"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dirty="0">
                <a:solidFill>
                  <a:schemeClr val="dk1"/>
                </a:solidFill>
                <a:latin typeface="Arial"/>
                <a:ea typeface="Arial"/>
                <a:cs typeface="Arial"/>
                <a:sym typeface="Arial"/>
              </a:rPr>
              <a:t>print ("Opened database successfully")</a:t>
            </a:r>
            <a:endParaRPr dirty="0"/>
          </a:p>
          <a:p>
            <a:pPr marL="0" marR="0" lvl="0" indent="0" algn="l" rtl="0">
              <a:spcBef>
                <a:spcPts val="0"/>
              </a:spcBef>
              <a:spcAft>
                <a:spcPts val="0"/>
              </a:spcAft>
              <a:buNone/>
            </a:pPr>
            <a:endParaRPr dirty="0">
              <a:solidFill>
                <a:schemeClr val="dk1"/>
              </a:solidFill>
              <a:latin typeface="Arial"/>
              <a:ea typeface="Arial"/>
              <a:cs typeface="Arial"/>
              <a:sym typeface="Arial"/>
            </a:endParaRPr>
          </a:p>
          <a:p>
            <a:pPr marL="0" marR="0" lvl="0" indent="0" algn="l" rtl="0">
              <a:spcBef>
                <a:spcPts val="0"/>
              </a:spcBef>
              <a:spcAft>
                <a:spcPts val="0"/>
              </a:spcAft>
              <a:buNone/>
            </a:pPr>
            <a:r>
              <a:rPr lang="en-US" dirty="0" err="1">
                <a:solidFill>
                  <a:schemeClr val="dk1"/>
                </a:solidFill>
                <a:latin typeface="Arial"/>
                <a:ea typeface="Arial"/>
                <a:cs typeface="Arial"/>
                <a:sym typeface="Arial"/>
              </a:rPr>
              <a:t>conn.execute</a:t>
            </a:r>
            <a:r>
              <a:rPr lang="en-US" dirty="0">
                <a:solidFill>
                  <a:schemeClr val="dk1"/>
                </a:solidFill>
                <a:latin typeface="Arial"/>
                <a:ea typeface="Arial"/>
                <a:cs typeface="Arial"/>
                <a:sym typeface="Arial"/>
              </a:rPr>
              <a:t>("INSERT INTO COMPANY (ID,NAME,AGE,ADDRESS,SALARY)VALUES (1, 'Paul', 32, 'California', 20000.00 )");</a:t>
            </a:r>
            <a:endParaRPr dirty="0"/>
          </a:p>
          <a:p>
            <a:pPr marL="0" marR="0" lvl="0" indent="0" algn="l" rtl="0">
              <a:spcBef>
                <a:spcPts val="0"/>
              </a:spcBef>
              <a:spcAft>
                <a:spcPts val="0"/>
              </a:spcAft>
              <a:buNone/>
            </a:pPr>
            <a:endParaRPr dirty="0">
              <a:solidFill>
                <a:schemeClr val="dk1"/>
              </a:solidFill>
              <a:latin typeface="Arial"/>
              <a:ea typeface="Arial"/>
              <a:cs typeface="Arial"/>
              <a:sym typeface="Arial"/>
            </a:endParaRPr>
          </a:p>
          <a:p>
            <a:pPr marL="0" marR="0" lvl="0" indent="0" algn="l" rtl="0">
              <a:spcBef>
                <a:spcPts val="0"/>
              </a:spcBef>
              <a:spcAft>
                <a:spcPts val="0"/>
              </a:spcAft>
              <a:buNone/>
            </a:pPr>
            <a:r>
              <a:rPr lang="en-US" dirty="0" err="1">
                <a:solidFill>
                  <a:schemeClr val="dk1"/>
                </a:solidFill>
                <a:latin typeface="Arial"/>
                <a:ea typeface="Arial"/>
                <a:cs typeface="Arial"/>
                <a:sym typeface="Arial"/>
              </a:rPr>
              <a:t>conn.execute</a:t>
            </a:r>
            <a:r>
              <a:rPr lang="en-US" dirty="0">
                <a:solidFill>
                  <a:schemeClr val="dk1"/>
                </a:solidFill>
                <a:latin typeface="Arial"/>
                <a:ea typeface="Arial"/>
                <a:cs typeface="Arial"/>
                <a:sym typeface="Arial"/>
              </a:rPr>
              <a:t>("INSERT INTO COMPANY (ID,NAME,AGE,ADDRESS,SALARY) VALUES (2, 'Allen', 25, 'Texas', 15000.00 )");</a:t>
            </a:r>
            <a:endParaRPr dirty="0"/>
          </a:p>
          <a:p>
            <a:pPr marL="0" marR="0" lvl="0" indent="0" algn="l" rtl="0">
              <a:spcBef>
                <a:spcPts val="0"/>
              </a:spcBef>
              <a:spcAft>
                <a:spcPts val="0"/>
              </a:spcAft>
              <a:buNone/>
            </a:pPr>
            <a:endParaRPr dirty="0">
              <a:solidFill>
                <a:schemeClr val="dk1"/>
              </a:solidFill>
              <a:latin typeface="Arial"/>
              <a:ea typeface="Arial"/>
              <a:cs typeface="Arial"/>
              <a:sym typeface="Arial"/>
            </a:endParaRPr>
          </a:p>
          <a:p>
            <a:pPr marL="0" marR="0" lvl="0" indent="0" algn="l" rtl="0">
              <a:spcBef>
                <a:spcPts val="0"/>
              </a:spcBef>
              <a:spcAft>
                <a:spcPts val="0"/>
              </a:spcAft>
              <a:buNone/>
            </a:pPr>
            <a:r>
              <a:rPr lang="en-US" dirty="0" err="1">
                <a:solidFill>
                  <a:schemeClr val="dk1"/>
                </a:solidFill>
                <a:latin typeface="Arial"/>
                <a:ea typeface="Arial"/>
                <a:cs typeface="Arial"/>
                <a:sym typeface="Arial"/>
              </a:rPr>
              <a:t>conn.execute</a:t>
            </a:r>
            <a:r>
              <a:rPr lang="en-US" dirty="0">
                <a:solidFill>
                  <a:schemeClr val="dk1"/>
                </a:solidFill>
                <a:latin typeface="Arial"/>
                <a:ea typeface="Arial"/>
                <a:cs typeface="Arial"/>
                <a:sym typeface="Arial"/>
              </a:rPr>
              <a:t>("INSERT INTO COMPANY (ID,NAME,AGE,ADDRESS,SALARY) VALUES (3, 'Teddy', 23, 'Norway', 20000.00 )");</a:t>
            </a:r>
            <a:endParaRPr dirty="0"/>
          </a:p>
          <a:p>
            <a:pPr marL="0" marR="0" lvl="0" indent="0" algn="l" rtl="0">
              <a:spcBef>
                <a:spcPts val="0"/>
              </a:spcBef>
              <a:spcAft>
                <a:spcPts val="0"/>
              </a:spcAft>
              <a:buNone/>
            </a:pPr>
            <a:endParaRPr dirty="0">
              <a:solidFill>
                <a:schemeClr val="dk1"/>
              </a:solidFill>
              <a:latin typeface="Arial"/>
              <a:ea typeface="Arial"/>
              <a:cs typeface="Arial"/>
              <a:sym typeface="Arial"/>
            </a:endParaRPr>
          </a:p>
          <a:p>
            <a:pPr marL="0" marR="0" lvl="0" indent="0" algn="l" rtl="0">
              <a:spcBef>
                <a:spcPts val="0"/>
              </a:spcBef>
              <a:spcAft>
                <a:spcPts val="0"/>
              </a:spcAft>
              <a:buNone/>
            </a:pPr>
            <a:r>
              <a:rPr lang="en-US" dirty="0" err="1">
                <a:solidFill>
                  <a:schemeClr val="dk1"/>
                </a:solidFill>
                <a:latin typeface="Arial"/>
                <a:ea typeface="Arial"/>
                <a:cs typeface="Arial"/>
                <a:sym typeface="Arial"/>
              </a:rPr>
              <a:t>conn.execute</a:t>
            </a:r>
            <a:r>
              <a:rPr lang="en-US" dirty="0">
                <a:solidFill>
                  <a:schemeClr val="dk1"/>
                </a:solidFill>
                <a:latin typeface="Arial"/>
                <a:ea typeface="Arial"/>
                <a:cs typeface="Arial"/>
                <a:sym typeface="Arial"/>
              </a:rPr>
              <a:t>("INSERT INTO COMPANY (ID,NAME,AGE,ADDRESS,SALARY) VALUES (4, 'Mark', 25, 'Rich-Mond ', 65000.00 )");</a:t>
            </a:r>
            <a:endParaRPr dirty="0"/>
          </a:p>
          <a:p>
            <a:pPr marL="0" marR="0" lvl="0" indent="0" algn="l" rtl="0">
              <a:spcBef>
                <a:spcPts val="0"/>
              </a:spcBef>
              <a:spcAft>
                <a:spcPts val="0"/>
              </a:spcAft>
              <a:buNone/>
            </a:pPr>
            <a:endParaRPr dirty="0">
              <a:solidFill>
                <a:schemeClr val="dk1"/>
              </a:solidFill>
              <a:latin typeface="Arial"/>
              <a:ea typeface="Arial"/>
              <a:cs typeface="Arial"/>
              <a:sym typeface="Arial"/>
            </a:endParaRPr>
          </a:p>
          <a:p>
            <a:pPr marL="0" marR="0" lvl="0" indent="0" algn="l" rtl="0">
              <a:spcBef>
                <a:spcPts val="0"/>
              </a:spcBef>
              <a:spcAft>
                <a:spcPts val="0"/>
              </a:spcAft>
              <a:buNone/>
            </a:pPr>
            <a:r>
              <a:rPr lang="en-US" dirty="0" err="1">
                <a:solidFill>
                  <a:schemeClr val="dk1"/>
                </a:solidFill>
                <a:latin typeface="Arial"/>
                <a:ea typeface="Arial"/>
                <a:cs typeface="Arial"/>
                <a:sym typeface="Arial"/>
              </a:rPr>
              <a:t>conn.commit</a:t>
            </a:r>
            <a:r>
              <a:rPr lang="en-US"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dirty="0">
                <a:solidFill>
                  <a:schemeClr val="dk1"/>
                </a:solidFill>
                <a:latin typeface="Arial"/>
                <a:ea typeface="Arial"/>
                <a:cs typeface="Arial"/>
                <a:sym typeface="Arial"/>
              </a:rPr>
              <a:t>print ("Records created successfully")</a:t>
            </a:r>
            <a:endParaRPr dirty="0"/>
          </a:p>
          <a:p>
            <a:pPr marL="0" marR="0" lvl="0" indent="0" algn="l" rtl="0">
              <a:spcBef>
                <a:spcPts val="0"/>
              </a:spcBef>
              <a:spcAft>
                <a:spcPts val="0"/>
              </a:spcAft>
              <a:buNone/>
            </a:pPr>
            <a:r>
              <a:rPr lang="en-US" dirty="0" err="1">
                <a:solidFill>
                  <a:schemeClr val="dk1"/>
                </a:solidFill>
                <a:latin typeface="Arial"/>
                <a:ea typeface="Arial"/>
                <a:cs typeface="Arial"/>
                <a:sym typeface="Arial"/>
              </a:rPr>
              <a:t>conn.close</a:t>
            </a:r>
            <a:r>
              <a:rPr lang="en-US" dirty="0">
                <a:solidFill>
                  <a:schemeClr val="dk1"/>
                </a:solidFill>
                <a:latin typeface="Arial"/>
                <a:ea typeface="Arial"/>
                <a:cs typeface="Arial"/>
                <a:sym typeface="Arial"/>
              </a:rPr>
              <a:t>()</a:t>
            </a:r>
            <a:endParaRPr dirty="0"/>
          </a:p>
        </p:txBody>
      </p:sp>
      <p:sp>
        <p:nvSpPr>
          <p:cNvPr id="597" name="Google Shape;597;p95"/>
          <p:cNvSpPr/>
          <p:nvPr/>
        </p:nvSpPr>
        <p:spPr>
          <a:xfrm>
            <a:off x="4505326" y="5488613"/>
            <a:ext cx="4110038" cy="875624"/>
          </a:xfrm>
          <a:prstGeom prst="rect">
            <a:avLst/>
          </a:prstGeom>
          <a:solidFill>
            <a:srgbClr val="FFFFFF"/>
          </a:solid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chemeClr val="accent1"/>
              </a:buClr>
              <a:buSzPts val="2000"/>
              <a:buFont typeface="Arial"/>
              <a:buNone/>
            </a:pPr>
            <a:r>
              <a:rPr lang="en-US" sz="2000" b="0" i="0" u="none" strike="noStrike" cap="none">
                <a:solidFill>
                  <a:schemeClr val="accent1"/>
                </a:solidFill>
                <a:latin typeface="Arial"/>
                <a:ea typeface="Arial"/>
                <a:cs typeface="Arial"/>
                <a:sym typeface="Arial"/>
              </a:rPr>
              <a:t>Opened database successfully </a:t>
            </a:r>
            <a:endParaRPr/>
          </a:p>
          <a:p>
            <a:pPr marL="0" marR="0" lvl="0" indent="0" algn="l" rtl="0">
              <a:lnSpc>
                <a:spcPct val="150000"/>
              </a:lnSpc>
              <a:spcBef>
                <a:spcPts val="0"/>
              </a:spcBef>
              <a:spcAft>
                <a:spcPts val="0"/>
              </a:spcAft>
              <a:buClr>
                <a:schemeClr val="accent1"/>
              </a:buClr>
              <a:buSzPts val="2000"/>
              <a:buFont typeface="Arial"/>
              <a:buNone/>
            </a:pPr>
            <a:r>
              <a:rPr lang="en-US" sz="2000" b="0" i="0" u="none" strike="noStrike" cap="none">
                <a:solidFill>
                  <a:schemeClr val="accent1"/>
                </a:solidFill>
                <a:latin typeface="Arial"/>
                <a:ea typeface="Arial"/>
                <a:cs typeface="Arial"/>
                <a:sym typeface="Arial"/>
              </a:rPr>
              <a:t>Records created successfully </a:t>
            </a:r>
            <a:endParaRPr/>
          </a:p>
        </p:txBody>
      </p:sp>
      <p:pic>
        <p:nvPicPr>
          <p:cNvPr id="2" name="Google Shape;133;p27">
            <a:extLst>
              <a:ext uri="{FF2B5EF4-FFF2-40B4-BE49-F238E27FC236}">
                <a16:creationId xmlns:a16="http://schemas.microsoft.com/office/drawing/2014/main" id="{BA99A175-7E09-ACA2-2B43-63ADDD0CAB20}"/>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6308EA78-E587-2A33-AE86-17ACCC1EA98A}"/>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D3F1BDA8-ED74-EB94-1B54-80B5BFF6BFA6}"/>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96"/>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Select data from SQLite</a:t>
            </a:r>
            <a:endParaRPr/>
          </a:p>
        </p:txBody>
      </p:sp>
      <p:sp>
        <p:nvSpPr>
          <p:cNvPr id="603" name="Google Shape;603;p96"/>
          <p:cNvSpPr/>
          <p:nvPr/>
        </p:nvSpPr>
        <p:spPr>
          <a:xfrm>
            <a:off x="561974" y="1458129"/>
            <a:ext cx="9211291" cy="485418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import sqlite3</a:t>
            </a:r>
            <a:endParaRPr dirty="0"/>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US" sz="2000" dirty="0">
                <a:solidFill>
                  <a:schemeClr val="dk1"/>
                </a:solidFill>
                <a:latin typeface="Arial"/>
                <a:ea typeface="Arial"/>
                <a:cs typeface="Arial"/>
                <a:sym typeface="Arial"/>
              </a:rPr>
              <a:t>conn = sqlite3.connect('</a:t>
            </a:r>
            <a:r>
              <a:rPr lang="en-US" sz="2000" dirty="0" err="1">
                <a:solidFill>
                  <a:schemeClr val="dk1"/>
                </a:solidFill>
                <a:latin typeface="Arial"/>
                <a:ea typeface="Arial"/>
                <a:cs typeface="Arial"/>
                <a:sym typeface="Arial"/>
              </a:rPr>
              <a:t>emp.db</a:t>
            </a:r>
            <a:r>
              <a:rPr lang="en-US" sz="2000"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print ("Opened database successfully")</a:t>
            </a:r>
            <a:endParaRPr dirty="0"/>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US" sz="2000" dirty="0">
                <a:solidFill>
                  <a:schemeClr val="dk1"/>
                </a:solidFill>
                <a:latin typeface="Arial"/>
                <a:ea typeface="Arial"/>
                <a:cs typeface="Arial"/>
                <a:sym typeface="Arial"/>
              </a:rPr>
              <a:t>cursor = </a:t>
            </a:r>
            <a:r>
              <a:rPr lang="en-US" sz="2000" dirty="0" err="1">
                <a:solidFill>
                  <a:schemeClr val="dk1"/>
                </a:solidFill>
                <a:latin typeface="Arial"/>
                <a:ea typeface="Arial"/>
                <a:cs typeface="Arial"/>
                <a:sym typeface="Arial"/>
              </a:rPr>
              <a:t>conn.execute</a:t>
            </a:r>
            <a:r>
              <a:rPr lang="en-US" sz="2000" dirty="0">
                <a:solidFill>
                  <a:schemeClr val="dk1"/>
                </a:solidFill>
                <a:latin typeface="Arial"/>
                <a:ea typeface="Arial"/>
                <a:cs typeface="Arial"/>
                <a:sym typeface="Arial"/>
              </a:rPr>
              <a:t>("SELECT id, name, address, salary from COMPANY")</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for row in cursor:</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print ("ID = ", row[0])</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print ("NAME = ", row[1])</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print ("ADDRESS = ", row[2])</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print ("SALARY = ", row[3], "\n")</a:t>
            </a:r>
            <a:endParaRPr dirty="0"/>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US" sz="2000" dirty="0">
                <a:solidFill>
                  <a:schemeClr val="dk1"/>
                </a:solidFill>
                <a:latin typeface="Arial"/>
                <a:ea typeface="Arial"/>
                <a:cs typeface="Arial"/>
                <a:sym typeface="Arial"/>
              </a:rPr>
              <a:t>print ("Operation done successfully")</a:t>
            </a:r>
            <a:endParaRPr dirty="0"/>
          </a:p>
          <a:p>
            <a:pPr marL="0" marR="0" lvl="0" indent="0" algn="l" rtl="0">
              <a:spcBef>
                <a:spcPts val="0"/>
              </a:spcBef>
              <a:spcAft>
                <a:spcPts val="0"/>
              </a:spcAft>
              <a:buNone/>
            </a:pPr>
            <a:r>
              <a:rPr lang="en-US" sz="2000" dirty="0" err="1">
                <a:solidFill>
                  <a:schemeClr val="dk1"/>
                </a:solidFill>
                <a:latin typeface="Arial"/>
                <a:ea typeface="Arial"/>
                <a:cs typeface="Arial"/>
                <a:sym typeface="Arial"/>
              </a:rPr>
              <a:t>conn.close</a:t>
            </a:r>
            <a:r>
              <a:rPr lang="en-US" sz="2000" dirty="0">
                <a:solidFill>
                  <a:schemeClr val="dk1"/>
                </a:solidFill>
                <a:latin typeface="Arial"/>
                <a:ea typeface="Arial"/>
                <a:cs typeface="Arial"/>
                <a:sym typeface="Arial"/>
              </a:rPr>
              <a:t>()</a:t>
            </a:r>
            <a:endParaRPr dirty="0"/>
          </a:p>
        </p:txBody>
      </p:sp>
      <p:sp>
        <p:nvSpPr>
          <p:cNvPr id="604" name="Google Shape;604;p96"/>
          <p:cNvSpPr/>
          <p:nvPr/>
        </p:nvSpPr>
        <p:spPr>
          <a:xfrm>
            <a:off x="9484450" y="2029537"/>
            <a:ext cx="3182083" cy="53553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latin typeface="Arial"/>
                <a:ea typeface="Arial"/>
                <a:cs typeface="Arial"/>
                <a:sym typeface="Arial"/>
              </a:rPr>
              <a:t>Opened database successfully</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ID =  1</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NAME =  Paul</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ADDRESS =  California</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SALARY =  25000.0 </a:t>
            </a:r>
            <a:endParaRPr sz="1200" dirty="0"/>
          </a:p>
          <a:p>
            <a:pPr marL="0" marR="0" lvl="0" indent="0" algn="l" rtl="0">
              <a:spcBef>
                <a:spcPts val="0"/>
              </a:spcBef>
              <a:spcAft>
                <a:spcPts val="0"/>
              </a:spcAft>
              <a:buNone/>
            </a:pPr>
            <a:endParaRPr sz="1200" dirty="0">
              <a:solidFill>
                <a:schemeClr val="dk1"/>
              </a:solidFill>
              <a:latin typeface="Arial"/>
              <a:ea typeface="Arial"/>
              <a:cs typeface="Arial"/>
              <a:sym typeface="Arial"/>
            </a:endParaRPr>
          </a:p>
          <a:p>
            <a:pPr marL="0" marR="0" lvl="0" indent="0" algn="l" rtl="0">
              <a:spcBef>
                <a:spcPts val="0"/>
              </a:spcBef>
              <a:spcAft>
                <a:spcPts val="0"/>
              </a:spcAft>
              <a:buNone/>
            </a:pPr>
            <a:r>
              <a:rPr lang="en-US" sz="1200" dirty="0">
                <a:solidFill>
                  <a:schemeClr val="dk1"/>
                </a:solidFill>
                <a:latin typeface="Arial"/>
                <a:ea typeface="Arial"/>
                <a:cs typeface="Arial"/>
                <a:sym typeface="Arial"/>
              </a:rPr>
              <a:t>ID =  2</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NAME =  Allen</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ADDRESS =  Texas</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SALARY =  15000.0 </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a:t>
            </a:r>
            <a:endParaRPr sz="1200" dirty="0"/>
          </a:p>
          <a:p>
            <a:pPr marL="0" marR="0" lvl="0" indent="0" algn="l" rtl="0">
              <a:spcBef>
                <a:spcPts val="0"/>
              </a:spcBef>
              <a:spcAft>
                <a:spcPts val="0"/>
              </a:spcAft>
              <a:buNone/>
            </a:pPr>
            <a:endParaRPr sz="1200" dirty="0">
              <a:solidFill>
                <a:schemeClr val="dk1"/>
              </a:solidFill>
              <a:latin typeface="Arial"/>
              <a:ea typeface="Arial"/>
              <a:cs typeface="Arial"/>
              <a:sym typeface="Arial"/>
            </a:endParaRPr>
          </a:p>
          <a:p>
            <a:pPr marL="0" marR="0" lvl="0" indent="0" algn="l" rtl="0">
              <a:spcBef>
                <a:spcPts val="0"/>
              </a:spcBef>
              <a:spcAft>
                <a:spcPts val="0"/>
              </a:spcAft>
              <a:buNone/>
            </a:pPr>
            <a:r>
              <a:rPr lang="en-US" sz="1200" dirty="0">
                <a:solidFill>
                  <a:schemeClr val="dk1"/>
                </a:solidFill>
                <a:latin typeface="Arial"/>
                <a:ea typeface="Arial"/>
                <a:cs typeface="Arial"/>
                <a:sym typeface="Arial"/>
              </a:rPr>
              <a:t>ID =  4</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NAME =  Mark</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ADDRESS =  Rich-Mond </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SALARY =  65000.0 </a:t>
            </a:r>
            <a:endParaRPr sz="1200" dirty="0"/>
          </a:p>
          <a:p>
            <a:pPr marL="0" marR="0" lvl="0" indent="0" algn="l" rtl="0">
              <a:spcBef>
                <a:spcPts val="0"/>
              </a:spcBef>
              <a:spcAft>
                <a:spcPts val="0"/>
              </a:spcAft>
              <a:buNone/>
            </a:pPr>
            <a:endParaRPr sz="1200" dirty="0">
              <a:solidFill>
                <a:schemeClr val="dk1"/>
              </a:solidFill>
              <a:latin typeface="Arial"/>
              <a:ea typeface="Arial"/>
              <a:cs typeface="Arial"/>
              <a:sym typeface="Arial"/>
            </a:endParaRPr>
          </a:p>
          <a:p>
            <a:pPr marL="0" marR="0" lvl="0" indent="0" algn="l" rtl="0">
              <a:spcBef>
                <a:spcPts val="0"/>
              </a:spcBef>
              <a:spcAft>
                <a:spcPts val="0"/>
              </a:spcAft>
              <a:buNone/>
            </a:pPr>
            <a:r>
              <a:rPr lang="en-US" sz="1200" dirty="0">
                <a:solidFill>
                  <a:schemeClr val="dk1"/>
                </a:solidFill>
                <a:latin typeface="Arial"/>
                <a:ea typeface="Arial"/>
                <a:cs typeface="Arial"/>
                <a:sym typeface="Arial"/>
              </a:rPr>
              <a:t>Operation done successfully</a:t>
            </a:r>
            <a:endParaRPr sz="1200" dirty="0"/>
          </a:p>
        </p:txBody>
      </p:sp>
      <p:pic>
        <p:nvPicPr>
          <p:cNvPr id="2" name="Google Shape;133;p27">
            <a:extLst>
              <a:ext uri="{FF2B5EF4-FFF2-40B4-BE49-F238E27FC236}">
                <a16:creationId xmlns:a16="http://schemas.microsoft.com/office/drawing/2014/main" id="{23539F47-427E-53C5-921A-BACA541EF464}"/>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7CDC1E0E-674B-B454-3A11-4C541D563253}"/>
              </a:ext>
            </a:extLst>
          </p:cNvPr>
          <p:cNvPicPr preferRelativeResize="0"/>
          <p:nvPr/>
        </p:nvPicPr>
        <p:blipFill rotWithShape="1">
          <a:blip r:embed="rId4">
            <a:alphaModFix/>
          </a:blip>
          <a:srcRect/>
          <a:stretch/>
        </p:blipFill>
        <p:spPr>
          <a:xfrm>
            <a:off x="10090812" y="-1823"/>
            <a:ext cx="1969360" cy="832212"/>
          </a:xfrm>
          <a:prstGeom prst="rect">
            <a:avLst/>
          </a:prstGeom>
          <a:noFill/>
          <a:ln>
            <a:noFill/>
          </a:ln>
        </p:spPr>
      </p:pic>
      <p:pic>
        <p:nvPicPr>
          <p:cNvPr id="4" name="Picture 3">
            <a:extLst>
              <a:ext uri="{FF2B5EF4-FFF2-40B4-BE49-F238E27FC236}">
                <a16:creationId xmlns:a16="http://schemas.microsoft.com/office/drawing/2014/main" id="{836E21D1-6C9C-8E9A-1BA8-EFA62D8BE52C}"/>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97"/>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Cursor methods</a:t>
            </a:r>
            <a:endParaRPr/>
          </a:p>
        </p:txBody>
      </p:sp>
      <p:sp>
        <p:nvSpPr>
          <p:cNvPr id="610" name="Google Shape;610;p97"/>
          <p:cNvSpPr txBox="1">
            <a:spLocks noGrp="1"/>
          </p:cNvSpPr>
          <p:nvPr>
            <p:ph type="body" idx="1"/>
          </p:nvPr>
        </p:nvSpPr>
        <p:spPr>
          <a:xfrm>
            <a:off x="276224" y="1215010"/>
            <a:ext cx="11520000" cy="49680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200"/>
              <a:buFont typeface="Noto Sans Symbols"/>
              <a:buChar char="▪"/>
            </a:pPr>
            <a:r>
              <a:rPr lang="en-US" sz="2200" b="0"/>
              <a:t>cursor.fetchall() fetches all the rows of a query result. </a:t>
            </a:r>
            <a:endParaRPr/>
          </a:p>
          <a:p>
            <a:pPr marL="971550" lvl="3" indent="-285750" algn="l" rtl="0">
              <a:lnSpc>
                <a:spcPct val="90000"/>
              </a:lnSpc>
              <a:spcBef>
                <a:spcPts val="1100"/>
              </a:spcBef>
              <a:spcAft>
                <a:spcPts val="0"/>
              </a:spcAft>
              <a:buClr>
                <a:schemeClr val="dk1"/>
              </a:buClr>
              <a:buSzPts val="2200"/>
              <a:buChar char="▪"/>
            </a:pPr>
            <a:r>
              <a:rPr lang="en-US" sz="2200" b="0"/>
              <a:t>It returns all the rows as a list of tuples. </a:t>
            </a:r>
            <a:endParaRPr/>
          </a:p>
          <a:p>
            <a:pPr marL="971550" lvl="3" indent="-285750" algn="l" rtl="0">
              <a:lnSpc>
                <a:spcPct val="150000"/>
              </a:lnSpc>
              <a:spcBef>
                <a:spcPts val="500"/>
              </a:spcBef>
              <a:spcAft>
                <a:spcPts val="0"/>
              </a:spcAft>
              <a:buClr>
                <a:schemeClr val="dk1"/>
              </a:buClr>
              <a:buSzPts val="2200"/>
              <a:buChar char="▪"/>
            </a:pPr>
            <a:r>
              <a:rPr lang="en-US" sz="2200" b="0"/>
              <a:t>An empty list is returned if there is no record to fetch.</a:t>
            </a:r>
            <a:endParaRPr/>
          </a:p>
          <a:p>
            <a:pPr marL="342900" lvl="0" indent="-342900" algn="l" rtl="0">
              <a:lnSpc>
                <a:spcPct val="150000"/>
              </a:lnSpc>
              <a:spcBef>
                <a:spcPts val="1200"/>
              </a:spcBef>
              <a:spcAft>
                <a:spcPts val="0"/>
              </a:spcAft>
              <a:buClr>
                <a:schemeClr val="dk1"/>
              </a:buClr>
              <a:buSzPts val="2200"/>
              <a:buFont typeface="Noto Sans Symbols"/>
              <a:buChar char="▪"/>
            </a:pPr>
            <a:r>
              <a:rPr lang="en-US" sz="2200" b="0"/>
              <a:t>cursor.fetchmany(size) returns the number of rows specified by size argument. </a:t>
            </a:r>
            <a:endParaRPr/>
          </a:p>
          <a:p>
            <a:pPr marL="971550" lvl="3" indent="-285750" algn="l" rtl="0">
              <a:lnSpc>
                <a:spcPct val="150000"/>
              </a:lnSpc>
              <a:spcBef>
                <a:spcPts val="1100"/>
              </a:spcBef>
              <a:spcAft>
                <a:spcPts val="0"/>
              </a:spcAft>
              <a:buClr>
                <a:schemeClr val="dk1"/>
              </a:buClr>
              <a:buSzPts val="2200"/>
              <a:buChar char="▪"/>
            </a:pPr>
            <a:r>
              <a:rPr lang="en-US" sz="2200" b="0"/>
              <a:t>When called repeatedly this method fetches the next set of rows of a query result and returns a list of tuples. </a:t>
            </a:r>
            <a:endParaRPr/>
          </a:p>
          <a:p>
            <a:pPr marL="971550" lvl="3" indent="-285750" algn="l" rtl="0">
              <a:lnSpc>
                <a:spcPct val="150000"/>
              </a:lnSpc>
              <a:spcBef>
                <a:spcPts val="500"/>
              </a:spcBef>
              <a:spcAft>
                <a:spcPts val="0"/>
              </a:spcAft>
              <a:buClr>
                <a:schemeClr val="dk1"/>
              </a:buClr>
              <a:buSzPts val="2200"/>
              <a:buChar char="▪"/>
            </a:pPr>
            <a:r>
              <a:rPr lang="en-US" sz="2200" b="0"/>
              <a:t>If no more rows are available, it returns an empty list.</a:t>
            </a:r>
            <a:endParaRPr/>
          </a:p>
          <a:p>
            <a:pPr marL="342900" lvl="0" indent="-342900" algn="l" rtl="0">
              <a:lnSpc>
                <a:spcPct val="150000"/>
              </a:lnSpc>
              <a:spcBef>
                <a:spcPts val="1200"/>
              </a:spcBef>
              <a:spcAft>
                <a:spcPts val="0"/>
              </a:spcAft>
              <a:buClr>
                <a:schemeClr val="dk1"/>
              </a:buClr>
              <a:buSzPts val="2200"/>
              <a:buFont typeface="Noto Sans Symbols"/>
              <a:buChar char="▪"/>
            </a:pPr>
            <a:r>
              <a:rPr lang="en-US" sz="2200" b="0"/>
              <a:t>cursor.fetchone() method returns a single record or None if no more rows are available.</a:t>
            </a:r>
            <a:endParaRPr/>
          </a:p>
        </p:txBody>
      </p:sp>
      <p:pic>
        <p:nvPicPr>
          <p:cNvPr id="2" name="Google Shape;133;p27">
            <a:extLst>
              <a:ext uri="{FF2B5EF4-FFF2-40B4-BE49-F238E27FC236}">
                <a16:creationId xmlns:a16="http://schemas.microsoft.com/office/drawing/2014/main" id="{E4C77E34-5117-03C3-A849-CC55FC760EA5}"/>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ADCDD4B7-FADA-A4D3-BEAE-B38F44B4DED9}"/>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6067B80A-06DD-0DED-0759-E914234AD4D4}"/>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98"/>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Select data from SQLite</a:t>
            </a:r>
            <a:endParaRPr/>
          </a:p>
        </p:txBody>
      </p:sp>
      <p:sp>
        <p:nvSpPr>
          <p:cNvPr id="616" name="Google Shape;616;p98"/>
          <p:cNvSpPr/>
          <p:nvPr/>
        </p:nvSpPr>
        <p:spPr>
          <a:xfrm>
            <a:off x="661986" y="1828799"/>
            <a:ext cx="6948181" cy="360408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import sqlite3 as lite</a:t>
            </a:r>
            <a:endParaRPr dirty="0"/>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US" sz="2000" dirty="0">
                <a:solidFill>
                  <a:schemeClr val="dk1"/>
                </a:solidFill>
                <a:latin typeface="Arial"/>
                <a:ea typeface="Arial"/>
                <a:cs typeface="Arial"/>
                <a:sym typeface="Arial"/>
              </a:rPr>
              <a:t>con = </a:t>
            </a:r>
            <a:r>
              <a:rPr lang="en-US" sz="2000" dirty="0" err="1">
                <a:solidFill>
                  <a:schemeClr val="dk1"/>
                </a:solidFill>
                <a:latin typeface="Arial"/>
                <a:ea typeface="Arial"/>
                <a:cs typeface="Arial"/>
                <a:sym typeface="Arial"/>
              </a:rPr>
              <a:t>lite.connect</a:t>
            </a:r>
            <a:r>
              <a:rPr lang="en-US" sz="2000" dirty="0">
                <a:solidFill>
                  <a:schemeClr val="dk1"/>
                </a:solidFill>
                <a:latin typeface="Arial"/>
                <a:ea typeface="Arial"/>
                <a:cs typeface="Arial"/>
                <a:sym typeface="Arial"/>
              </a:rPr>
              <a:t>('</a:t>
            </a:r>
            <a:r>
              <a:rPr lang="en-US" sz="2000" dirty="0" err="1">
                <a:solidFill>
                  <a:schemeClr val="dk1"/>
                </a:solidFill>
                <a:latin typeface="Arial"/>
                <a:ea typeface="Arial"/>
                <a:cs typeface="Arial"/>
                <a:sym typeface="Arial"/>
              </a:rPr>
              <a:t>emp.db</a:t>
            </a:r>
            <a:r>
              <a:rPr lang="en-US" sz="20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US" sz="2000" dirty="0">
                <a:solidFill>
                  <a:schemeClr val="dk1"/>
                </a:solidFill>
                <a:latin typeface="Arial"/>
                <a:ea typeface="Arial"/>
                <a:cs typeface="Arial"/>
                <a:sym typeface="Arial"/>
              </a:rPr>
              <a:t>with con:</a:t>
            </a:r>
            <a:endParaRPr dirty="0"/>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US" sz="2000" dirty="0">
                <a:solidFill>
                  <a:schemeClr val="dk1"/>
                </a:solidFill>
                <a:latin typeface="Arial"/>
                <a:ea typeface="Arial"/>
                <a:cs typeface="Arial"/>
                <a:sym typeface="Arial"/>
              </a:rPr>
              <a:t>    cur = </a:t>
            </a:r>
            <a:r>
              <a:rPr lang="en-US" sz="2000" dirty="0" err="1">
                <a:solidFill>
                  <a:schemeClr val="dk1"/>
                </a:solidFill>
                <a:latin typeface="Arial"/>
                <a:ea typeface="Arial"/>
                <a:cs typeface="Arial"/>
                <a:sym typeface="Arial"/>
              </a:rPr>
              <a:t>con.cursor</a:t>
            </a:r>
            <a:r>
              <a:rPr lang="en-US" sz="2000"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cur.execute</a:t>
            </a:r>
            <a:r>
              <a:rPr lang="en-US" sz="2000" dirty="0">
                <a:solidFill>
                  <a:schemeClr val="dk1"/>
                </a:solidFill>
                <a:latin typeface="Arial"/>
                <a:ea typeface="Arial"/>
                <a:cs typeface="Arial"/>
                <a:sym typeface="Arial"/>
              </a:rPr>
              <a:t>("SELECT * FROM COMPANY")</a:t>
            </a:r>
            <a:endParaRPr dirty="0"/>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US" sz="2000" dirty="0">
                <a:solidFill>
                  <a:schemeClr val="dk1"/>
                </a:solidFill>
                <a:latin typeface="Arial"/>
                <a:ea typeface="Arial"/>
                <a:cs typeface="Arial"/>
                <a:sym typeface="Arial"/>
              </a:rPr>
              <a:t>    rows = </a:t>
            </a:r>
            <a:r>
              <a:rPr lang="en-US" sz="2000" dirty="0" err="1">
                <a:solidFill>
                  <a:schemeClr val="dk1"/>
                </a:solidFill>
                <a:latin typeface="Arial"/>
                <a:ea typeface="Arial"/>
                <a:cs typeface="Arial"/>
                <a:sym typeface="Arial"/>
              </a:rPr>
              <a:t>cur.fetchall</a:t>
            </a:r>
            <a:r>
              <a:rPr lang="en-US" sz="20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US" sz="2000" dirty="0">
                <a:solidFill>
                  <a:schemeClr val="dk1"/>
                </a:solidFill>
                <a:latin typeface="Arial"/>
                <a:ea typeface="Arial"/>
                <a:cs typeface="Arial"/>
                <a:sym typeface="Arial"/>
              </a:rPr>
              <a:t>    for row in rows:</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print (row)</a:t>
            </a:r>
            <a:endParaRPr dirty="0"/>
          </a:p>
        </p:txBody>
      </p:sp>
      <p:pic>
        <p:nvPicPr>
          <p:cNvPr id="617" name="Google Shape;617;p98"/>
          <p:cNvPicPr preferRelativeResize="0"/>
          <p:nvPr/>
        </p:nvPicPr>
        <p:blipFill rotWithShape="1">
          <a:blip r:embed="rId3">
            <a:alphaModFix/>
          </a:blip>
          <a:srcRect/>
          <a:stretch/>
        </p:blipFill>
        <p:spPr>
          <a:xfrm>
            <a:off x="6889256" y="1408992"/>
            <a:ext cx="4186236" cy="4023889"/>
          </a:xfrm>
          <a:prstGeom prst="rect">
            <a:avLst/>
          </a:prstGeom>
          <a:noFill/>
          <a:ln>
            <a:noFill/>
          </a:ln>
        </p:spPr>
      </p:pic>
      <p:pic>
        <p:nvPicPr>
          <p:cNvPr id="2" name="Google Shape;133;p27">
            <a:extLst>
              <a:ext uri="{FF2B5EF4-FFF2-40B4-BE49-F238E27FC236}">
                <a16:creationId xmlns:a16="http://schemas.microsoft.com/office/drawing/2014/main" id="{5A83ED73-77A2-FABA-93B0-E5BC9AF8D56A}"/>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6212B1D5-DEFD-8EEB-A39B-D573B2D8F848}"/>
              </a:ext>
            </a:extLst>
          </p:cNvPr>
          <p:cNvPicPr preferRelativeResize="0"/>
          <p:nvPr/>
        </p:nvPicPr>
        <p:blipFill rotWithShape="1">
          <a:blip r:embed="rId5">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F1045EDA-0D48-270A-3551-1C185AF0CA2B}"/>
              </a:ext>
            </a:extLst>
          </p:cNvPr>
          <p:cNvPicPr>
            <a:picLocks noChangeAspect="1"/>
          </p:cNvPicPr>
          <p:nvPr/>
        </p:nvPicPr>
        <p:blipFill>
          <a:blip r:embed="rId6"/>
          <a:stretch>
            <a:fillRect/>
          </a:stretch>
        </p:blipFill>
        <p:spPr>
          <a:xfrm>
            <a:off x="10042738" y="172072"/>
            <a:ext cx="2149262" cy="75077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99"/>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Retrieving one record at a time</a:t>
            </a:r>
            <a:endParaRPr/>
          </a:p>
        </p:txBody>
      </p:sp>
      <p:sp>
        <p:nvSpPr>
          <p:cNvPr id="623" name="Google Shape;623;p99"/>
          <p:cNvSpPr/>
          <p:nvPr/>
        </p:nvSpPr>
        <p:spPr>
          <a:xfrm>
            <a:off x="919163" y="1256942"/>
            <a:ext cx="6096000" cy="470898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import sqlite3 as lite</a:t>
            </a:r>
            <a:endParaRPr/>
          </a:p>
          <a:p>
            <a:pPr marL="0" marR="0" lvl="0" indent="0" algn="l" rtl="0">
              <a:spcBef>
                <a:spcPts val="0"/>
              </a:spcBef>
              <a:spcAft>
                <a:spcPts val="0"/>
              </a:spcAft>
              <a:buNone/>
            </a:pPr>
            <a:endParaRPr sz="2000">
              <a:solidFill>
                <a:schemeClr val="dk1"/>
              </a:solidFill>
              <a:latin typeface="Arial"/>
              <a:ea typeface="Arial"/>
              <a:cs typeface="Arial"/>
              <a:sym typeface="Arial"/>
            </a:endParaRPr>
          </a:p>
          <a:p>
            <a:pPr marL="0" marR="0" lvl="0" indent="0" algn="l" rtl="0">
              <a:spcBef>
                <a:spcPts val="0"/>
              </a:spcBef>
              <a:spcAft>
                <a:spcPts val="0"/>
              </a:spcAft>
              <a:buNone/>
            </a:pPr>
            <a:r>
              <a:rPr lang="en-US" sz="2000">
                <a:solidFill>
                  <a:schemeClr val="dk1"/>
                </a:solidFill>
                <a:latin typeface="Arial"/>
                <a:ea typeface="Arial"/>
                <a:cs typeface="Arial"/>
                <a:sym typeface="Arial"/>
              </a:rPr>
              <a:t>con = lite.connect('emp.db')</a:t>
            </a:r>
            <a:endParaRPr/>
          </a:p>
          <a:p>
            <a:pPr marL="0" marR="0" lvl="0" indent="0" algn="l" rtl="0">
              <a:spcBef>
                <a:spcPts val="0"/>
              </a:spcBef>
              <a:spcAft>
                <a:spcPts val="0"/>
              </a:spcAft>
              <a:buNone/>
            </a:pPr>
            <a:endParaRPr sz="2000">
              <a:solidFill>
                <a:schemeClr val="dk1"/>
              </a:solidFill>
              <a:latin typeface="Arial"/>
              <a:ea typeface="Arial"/>
              <a:cs typeface="Arial"/>
              <a:sym typeface="Arial"/>
            </a:endParaRPr>
          </a:p>
          <a:p>
            <a:pPr marL="0" marR="0" lvl="0" indent="0" algn="l" rtl="0">
              <a:spcBef>
                <a:spcPts val="0"/>
              </a:spcBef>
              <a:spcAft>
                <a:spcPts val="0"/>
              </a:spcAft>
              <a:buNone/>
            </a:pPr>
            <a:r>
              <a:rPr lang="en-US" sz="2000">
                <a:solidFill>
                  <a:schemeClr val="dk1"/>
                </a:solidFill>
                <a:latin typeface="Arial"/>
                <a:ea typeface="Arial"/>
                <a:cs typeface="Arial"/>
                <a:sym typeface="Arial"/>
              </a:rPr>
              <a:t>with con:</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cur = con.cursor()</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cur.execute("SELECT * FROM COMPANY")</a:t>
            </a:r>
            <a:endParaRPr/>
          </a:p>
          <a:p>
            <a:pPr marL="0" marR="0" lvl="0" indent="0" algn="l" rtl="0">
              <a:spcBef>
                <a:spcPts val="0"/>
              </a:spcBef>
              <a:spcAft>
                <a:spcPts val="0"/>
              </a:spcAft>
              <a:buNone/>
            </a:pPr>
            <a:endParaRPr sz="2000">
              <a:solidFill>
                <a:schemeClr val="dk1"/>
              </a:solidFill>
              <a:latin typeface="Arial"/>
              <a:ea typeface="Arial"/>
              <a:cs typeface="Arial"/>
              <a:sym typeface="Arial"/>
            </a:endParaRPr>
          </a:p>
          <a:p>
            <a:pPr marL="0" marR="0" lvl="0" indent="0" algn="l" rtl="0">
              <a:spcBef>
                <a:spcPts val="0"/>
              </a:spcBef>
              <a:spcAft>
                <a:spcPts val="0"/>
              </a:spcAft>
              <a:buNone/>
            </a:pPr>
            <a:r>
              <a:rPr lang="en-US" sz="2000">
                <a:solidFill>
                  <a:schemeClr val="dk1"/>
                </a:solidFill>
                <a:latin typeface="Arial"/>
                <a:ea typeface="Arial"/>
                <a:cs typeface="Arial"/>
                <a:sym typeface="Arial"/>
              </a:rPr>
              <a:t>    while True:</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row = cur.fetchone()</a:t>
            </a:r>
            <a:endParaRPr/>
          </a:p>
          <a:p>
            <a:pPr marL="0" marR="0" lvl="0" indent="0" algn="l" rtl="0">
              <a:spcBef>
                <a:spcPts val="0"/>
              </a:spcBef>
              <a:spcAft>
                <a:spcPts val="0"/>
              </a:spcAft>
              <a:buNone/>
            </a:pPr>
            <a:endParaRPr sz="2000">
              <a:solidFill>
                <a:schemeClr val="dk1"/>
              </a:solidFill>
              <a:latin typeface="Arial"/>
              <a:ea typeface="Arial"/>
              <a:cs typeface="Arial"/>
              <a:sym typeface="Arial"/>
            </a:endParaRPr>
          </a:p>
          <a:p>
            <a:pPr marL="0" marR="0" lvl="0" indent="0" algn="l" rtl="0">
              <a:spcBef>
                <a:spcPts val="0"/>
              </a:spcBef>
              <a:spcAft>
                <a:spcPts val="0"/>
              </a:spcAft>
              <a:buNone/>
            </a:pPr>
            <a:r>
              <a:rPr lang="en-US" sz="2000">
                <a:solidFill>
                  <a:schemeClr val="dk1"/>
                </a:solidFill>
                <a:latin typeface="Arial"/>
                <a:ea typeface="Arial"/>
                <a:cs typeface="Arial"/>
                <a:sym typeface="Arial"/>
              </a:rPr>
              <a:t>        if row == None:</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break</a:t>
            </a:r>
            <a:endParaRPr/>
          </a:p>
          <a:p>
            <a:pPr marL="0" marR="0" lvl="0" indent="0" algn="l" rtl="0">
              <a:spcBef>
                <a:spcPts val="0"/>
              </a:spcBef>
              <a:spcAft>
                <a:spcPts val="0"/>
              </a:spcAft>
              <a:buNone/>
            </a:pPr>
            <a:endParaRPr sz="2000">
              <a:solidFill>
                <a:schemeClr val="dk1"/>
              </a:solidFill>
              <a:latin typeface="Arial"/>
              <a:ea typeface="Arial"/>
              <a:cs typeface="Arial"/>
              <a:sym typeface="Arial"/>
            </a:endParaRPr>
          </a:p>
          <a:p>
            <a:pPr marL="0" marR="0" lvl="0" indent="0" algn="l" rtl="0">
              <a:spcBef>
                <a:spcPts val="0"/>
              </a:spcBef>
              <a:spcAft>
                <a:spcPts val="0"/>
              </a:spcAft>
              <a:buNone/>
            </a:pPr>
            <a:r>
              <a:rPr lang="en-US" sz="2000">
                <a:solidFill>
                  <a:schemeClr val="dk1"/>
                </a:solidFill>
                <a:latin typeface="Arial"/>
                <a:ea typeface="Arial"/>
                <a:cs typeface="Arial"/>
                <a:sym typeface="Arial"/>
              </a:rPr>
              <a:t>        print (row[0], row[1], row[2])</a:t>
            </a:r>
            <a:endParaRPr/>
          </a:p>
        </p:txBody>
      </p:sp>
      <p:pic>
        <p:nvPicPr>
          <p:cNvPr id="624" name="Google Shape;624;p99"/>
          <p:cNvPicPr preferRelativeResize="0"/>
          <p:nvPr/>
        </p:nvPicPr>
        <p:blipFill rotWithShape="1">
          <a:blip r:embed="rId3">
            <a:alphaModFix/>
          </a:blip>
          <a:srcRect/>
          <a:stretch/>
        </p:blipFill>
        <p:spPr>
          <a:xfrm>
            <a:off x="7167562" y="1466850"/>
            <a:ext cx="3600450" cy="3924300"/>
          </a:xfrm>
          <a:prstGeom prst="rect">
            <a:avLst/>
          </a:prstGeom>
          <a:noFill/>
          <a:ln>
            <a:noFill/>
          </a:ln>
        </p:spPr>
      </p:pic>
      <p:pic>
        <p:nvPicPr>
          <p:cNvPr id="2" name="Google Shape;133;p27">
            <a:extLst>
              <a:ext uri="{FF2B5EF4-FFF2-40B4-BE49-F238E27FC236}">
                <a16:creationId xmlns:a16="http://schemas.microsoft.com/office/drawing/2014/main" id="{97996E39-F5D8-DF18-09F9-1B22C0C4A88A}"/>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BEDE4F44-4A39-C4EE-4E89-7EE50A84C9C8}"/>
              </a:ext>
            </a:extLst>
          </p:cNvPr>
          <p:cNvPicPr preferRelativeResize="0"/>
          <p:nvPr/>
        </p:nvPicPr>
        <p:blipFill rotWithShape="1">
          <a:blip r:embed="rId5">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77FB28EA-0EE3-C2A0-1721-EAB627646DA1}"/>
              </a:ext>
            </a:extLst>
          </p:cNvPr>
          <p:cNvPicPr>
            <a:picLocks noChangeAspect="1"/>
          </p:cNvPicPr>
          <p:nvPr/>
        </p:nvPicPr>
        <p:blipFill>
          <a:blip r:embed="rId6"/>
          <a:stretch>
            <a:fillRect/>
          </a:stretch>
        </p:blipFill>
        <p:spPr>
          <a:xfrm>
            <a:off x="10042738" y="172072"/>
            <a:ext cx="2149262" cy="75077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100"/>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Update SQLite data</a:t>
            </a:r>
            <a:endParaRPr/>
          </a:p>
        </p:txBody>
      </p:sp>
      <p:sp>
        <p:nvSpPr>
          <p:cNvPr id="630" name="Google Shape;630;p100"/>
          <p:cNvSpPr/>
          <p:nvPr/>
        </p:nvSpPr>
        <p:spPr>
          <a:xfrm>
            <a:off x="561974" y="1332756"/>
            <a:ext cx="10351832" cy="501675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import sqlite3</a:t>
            </a:r>
            <a:endParaRPr dirty="0"/>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US" sz="2000" dirty="0">
                <a:solidFill>
                  <a:schemeClr val="dk1"/>
                </a:solidFill>
                <a:latin typeface="Arial"/>
                <a:ea typeface="Arial"/>
                <a:cs typeface="Arial"/>
                <a:sym typeface="Arial"/>
              </a:rPr>
              <a:t>conn = sqlite3.connect('</a:t>
            </a:r>
            <a:r>
              <a:rPr lang="en-US" sz="2000" dirty="0" err="1">
                <a:solidFill>
                  <a:schemeClr val="dk1"/>
                </a:solidFill>
                <a:latin typeface="Arial"/>
                <a:ea typeface="Arial"/>
                <a:cs typeface="Arial"/>
                <a:sym typeface="Arial"/>
              </a:rPr>
              <a:t>emp.db</a:t>
            </a:r>
            <a:r>
              <a:rPr lang="en-US" sz="20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US" sz="2000" dirty="0" err="1">
                <a:solidFill>
                  <a:schemeClr val="dk1"/>
                </a:solidFill>
                <a:latin typeface="Arial"/>
                <a:ea typeface="Arial"/>
                <a:cs typeface="Arial"/>
                <a:sym typeface="Arial"/>
              </a:rPr>
              <a:t>conn.execute</a:t>
            </a:r>
            <a:r>
              <a:rPr lang="en-US" sz="2000" dirty="0">
                <a:solidFill>
                  <a:schemeClr val="dk1"/>
                </a:solidFill>
                <a:latin typeface="Arial"/>
                <a:ea typeface="Arial"/>
                <a:cs typeface="Arial"/>
                <a:sym typeface="Arial"/>
              </a:rPr>
              <a:t>("UPDATE COMPANY set SALARY = 25000.00 where ID = 1")</a:t>
            </a:r>
            <a:endParaRPr dirty="0"/>
          </a:p>
          <a:p>
            <a:pPr marL="0" marR="0" lvl="0" indent="0" algn="l" rtl="0">
              <a:spcBef>
                <a:spcPts val="0"/>
              </a:spcBef>
              <a:spcAft>
                <a:spcPts val="0"/>
              </a:spcAft>
              <a:buNone/>
            </a:pPr>
            <a:r>
              <a:rPr lang="en-US" sz="2000" dirty="0" err="1">
                <a:solidFill>
                  <a:schemeClr val="dk1"/>
                </a:solidFill>
                <a:latin typeface="Arial"/>
                <a:ea typeface="Arial"/>
                <a:cs typeface="Arial"/>
                <a:sym typeface="Arial"/>
              </a:rPr>
              <a:t>conn.commit</a:t>
            </a:r>
            <a:r>
              <a:rPr lang="en-US" sz="2000"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print ("Total number of rows updated :", </a:t>
            </a:r>
            <a:r>
              <a:rPr lang="en-US" sz="2000" dirty="0" err="1">
                <a:solidFill>
                  <a:schemeClr val="dk1"/>
                </a:solidFill>
                <a:latin typeface="Arial"/>
                <a:ea typeface="Arial"/>
                <a:cs typeface="Arial"/>
                <a:sym typeface="Arial"/>
              </a:rPr>
              <a:t>conn.total_changes</a:t>
            </a:r>
            <a:r>
              <a:rPr lang="en-US" sz="20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US" sz="2000" dirty="0">
                <a:solidFill>
                  <a:schemeClr val="dk1"/>
                </a:solidFill>
                <a:latin typeface="Arial"/>
                <a:ea typeface="Arial"/>
                <a:cs typeface="Arial"/>
                <a:sym typeface="Arial"/>
              </a:rPr>
              <a:t>cursor = </a:t>
            </a:r>
            <a:r>
              <a:rPr lang="en-US" sz="2000" dirty="0" err="1">
                <a:solidFill>
                  <a:schemeClr val="dk1"/>
                </a:solidFill>
                <a:latin typeface="Arial"/>
                <a:ea typeface="Arial"/>
                <a:cs typeface="Arial"/>
                <a:sym typeface="Arial"/>
              </a:rPr>
              <a:t>conn.execute</a:t>
            </a:r>
            <a:r>
              <a:rPr lang="en-US" sz="2000" dirty="0">
                <a:solidFill>
                  <a:schemeClr val="dk1"/>
                </a:solidFill>
                <a:latin typeface="Arial"/>
                <a:ea typeface="Arial"/>
                <a:cs typeface="Arial"/>
                <a:sym typeface="Arial"/>
              </a:rPr>
              <a:t>("SELECT id, name, address, salary from COMPANY")</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for row in cursor:</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print ("ID = ", row[0])</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print ("NAME = ", row[1])</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print ("ADDRESS = ", row[2])</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print ("SALARY = ", row[3], "\n")</a:t>
            </a:r>
            <a:endParaRPr dirty="0"/>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US" sz="2000" dirty="0" err="1">
                <a:solidFill>
                  <a:schemeClr val="dk1"/>
                </a:solidFill>
                <a:latin typeface="Arial"/>
                <a:ea typeface="Arial"/>
                <a:cs typeface="Arial"/>
                <a:sym typeface="Arial"/>
              </a:rPr>
              <a:t>conn.close</a:t>
            </a:r>
            <a:r>
              <a:rPr lang="en-US" sz="2000" dirty="0">
                <a:solidFill>
                  <a:schemeClr val="dk1"/>
                </a:solidFill>
                <a:latin typeface="Arial"/>
                <a:ea typeface="Arial"/>
                <a:cs typeface="Arial"/>
                <a:sym typeface="Arial"/>
              </a:rPr>
              <a:t>()</a:t>
            </a:r>
            <a:endParaRPr dirty="0"/>
          </a:p>
        </p:txBody>
      </p:sp>
      <p:pic>
        <p:nvPicPr>
          <p:cNvPr id="631" name="Google Shape;631;p100"/>
          <p:cNvPicPr preferRelativeResize="0"/>
          <p:nvPr/>
        </p:nvPicPr>
        <p:blipFill rotWithShape="1">
          <a:blip r:embed="rId3">
            <a:alphaModFix/>
          </a:blip>
          <a:srcRect/>
          <a:stretch/>
        </p:blipFill>
        <p:spPr>
          <a:xfrm>
            <a:off x="6534456" y="4378331"/>
            <a:ext cx="4803769" cy="1566119"/>
          </a:xfrm>
          <a:prstGeom prst="rect">
            <a:avLst/>
          </a:prstGeom>
          <a:noFill/>
          <a:ln>
            <a:noFill/>
          </a:ln>
        </p:spPr>
      </p:pic>
      <p:pic>
        <p:nvPicPr>
          <p:cNvPr id="2" name="Google Shape;133;p27">
            <a:extLst>
              <a:ext uri="{FF2B5EF4-FFF2-40B4-BE49-F238E27FC236}">
                <a16:creationId xmlns:a16="http://schemas.microsoft.com/office/drawing/2014/main" id="{48214ECA-A9F3-479D-4ED2-620AF28FDA87}"/>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E1B0EF47-7D0D-630A-C755-E6B67075FB2F}"/>
              </a:ext>
            </a:extLst>
          </p:cNvPr>
          <p:cNvPicPr preferRelativeResize="0"/>
          <p:nvPr/>
        </p:nvPicPr>
        <p:blipFill rotWithShape="1">
          <a:blip r:embed="rId5">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5978A219-2785-893B-D700-AC3A9C552232}"/>
              </a:ext>
            </a:extLst>
          </p:cNvPr>
          <p:cNvPicPr>
            <a:picLocks noChangeAspect="1"/>
          </p:cNvPicPr>
          <p:nvPr/>
        </p:nvPicPr>
        <p:blipFill>
          <a:blip r:embed="rId6"/>
          <a:stretch>
            <a:fillRect/>
          </a:stretch>
        </p:blipFill>
        <p:spPr>
          <a:xfrm>
            <a:off x="10042738" y="172072"/>
            <a:ext cx="2149262" cy="75077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101"/>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Deleting data from SQLite</a:t>
            </a:r>
            <a:endParaRPr/>
          </a:p>
        </p:txBody>
      </p:sp>
      <p:sp>
        <p:nvSpPr>
          <p:cNvPr id="637" name="Google Shape;637;p101"/>
          <p:cNvSpPr/>
          <p:nvPr/>
        </p:nvSpPr>
        <p:spPr>
          <a:xfrm>
            <a:off x="576263" y="1234885"/>
            <a:ext cx="8597234" cy="5078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import sqlite3</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conn = sqlite3.connect('</a:t>
            </a:r>
            <a:r>
              <a:rPr lang="en-US" sz="1800" dirty="0" err="1">
                <a:solidFill>
                  <a:schemeClr val="dk1"/>
                </a:solidFill>
                <a:latin typeface="Arial"/>
                <a:ea typeface="Arial"/>
                <a:cs typeface="Arial"/>
                <a:sym typeface="Arial"/>
              </a:rPr>
              <a:t>emp.db</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print ("Opened database successfully")</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err="1">
                <a:solidFill>
                  <a:schemeClr val="dk1"/>
                </a:solidFill>
                <a:latin typeface="Arial"/>
                <a:ea typeface="Arial"/>
                <a:cs typeface="Arial"/>
                <a:sym typeface="Arial"/>
              </a:rPr>
              <a:t>conn.execute</a:t>
            </a:r>
            <a:r>
              <a:rPr lang="en-US" sz="1800" dirty="0">
                <a:solidFill>
                  <a:schemeClr val="dk1"/>
                </a:solidFill>
                <a:latin typeface="Arial"/>
                <a:ea typeface="Arial"/>
                <a:cs typeface="Arial"/>
                <a:sym typeface="Arial"/>
              </a:rPr>
              <a:t>("DELETE from COMPANY where ID = 2;")</a:t>
            </a:r>
            <a:endParaRPr dirty="0"/>
          </a:p>
          <a:p>
            <a:pPr marL="0" marR="0" lvl="0" indent="0" algn="l" rtl="0">
              <a:spcBef>
                <a:spcPts val="0"/>
              </a:spcBef>
              <a:spcAft>
                <a:spcPts val="0"/>
              </a:spcAft>
              <a:buNone/>
            </a:pPr>
            <a:r>
              <a:rPr lang="en-US" sz="1800" dirty="0" err="1">
                <a:solidFill>
                  <a:schemeClr val="dk1"/>
                </a:solidFill>
                <a:latin typeface="Arial"/>
                <a:ea typeface="Arial"/>
                <a:cs typeface="Arial"/>
                <a:sym typeface="Arial"/>
              </a:rPr>
              <a:t>conn.commit</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print ("Total number of rows deleted :", </a:t>
            </a:r>
            <a:r>
              <a:rPr lang="en-US" sz="1800" dirty="0" err="1">
                <a:solidFill>
                  <a:schemeClr val="dk1"/>
                </a:solidFill>
                <a:latin typeface="Arial"/>
                <a:ea typeface="Arial"/>
                <a:cs typeface="Arial"/>
                <a:sym typeface="Arial"/>
              </a:rPr>
              <a:t>conn.total_changes</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cursor = </a:t>
            </a:r>
            <a:r>
              <a:rPr lang="en-US" sz="1800" dirty="0" err="1">
                <a:solidFill>
                  <a:schemeClr val="dk1"/>
                </a:solidFill>
                <a:latin typeface="Arial"/>
                <a:ea typeface="Arial"/>
                <a:cs typeface="Arial"/>
                <a:sym typeface="Arial"/>
              </a:rPr>
              <a:t>conn.execute</a:t>
            </a:r>
            <a:r>
              <a:rPr lang="en-US" sz="1800" dirty="0">
                <a:solidFill>
                  <a:schemeClr val="dk1"/>
                </a:solidFill>
                <a:latin typeface="Arial"/>
                <a:ea typeface="Arial"/>
                <a:cs typeface="Arial"/>
                <a:sym typeface="Arial"/>
              </a:rPr>
              <a:t>("SELECT id, name, address, salary from COMPANY")</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for row in cursor:</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print ("ID = ", row[0])</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print ("NAME = ", row[1])</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print ("ADDRESS = ", row[2])</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print ("SALARY = ", row[3], "\n")</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print ("Operation done successfully")</a:t>
            </a:r>
            <a:endParaRPr dirty="0"/>
          </a:p>
          <a:p>
            <a:pPr marL="0" marR="0" lvl="0" indent="0" algn="l" rtl="0">
              <a:spcBef>
                <a:spcPts val="0"/>
              </a:spcBef>
              <a:spcAft>
                <a:spcPts val="0"/>
              </a:spcAft>
              <a:buNone/>
            </a:pPr>
            <a:r>
              <a:rPr lang="en-US" sz="1800" dirty="0" err="1">
                <a:solidFill>
                  <a:schemeClr val="dk1"/>
                </a:solidFill>
                <a:latin typeface="Arial"/>
                <a:ea typeface="Arial"/>
                <a:cs typeface="Arial"/>
                <a:sym typeface="Arial"/>
              </a:rPr>
              <a:t>conn.close</a:t>
            </a:r>
            <a:r>
              <a:rPr lang="en-US" sz="1800" dirty="0">
                <a:solidFill>
                  <a:schemeClr val="dk1"/>
                </a:solidFill>
                <a:latin typeface="Arial"/>
                <a:ea typeface="Arial"/>
                <a:cs typeface="Arial"/>
                <a:sym typeface="Arial"/>
              </a:rPr>
              <a:t>()</a:t>
            </a:r>
            <a:endParaRPr dirty="0"/>
          </a:p>
        </p:txBody>
      </p:sp>
      <p:sp>
        <p:nvSpPr>
          <p:cNvPr id="638" name="Google Shape;638;p101"/>
          <p:cNvSpPr/>
          <p:nvPr/>
        </p:nvSpPr>
        <p:spPr>
          <a:xfrm>
            <a:off x="8907564" y="1546001"/>
            <a:ext cx="3524250" cy="5078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latin typeface="Arial"/>
                <a:ea typeface="Arial"/>
                <a:cs typeface="Arial"/>
                <a:sym typeface="Arial"/>
              </a:rPr>
              <a:t>Opened database successfully</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Total number of rows deleted : 1</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ID =  1</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NAME =  Paul</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ADDRESS =  California</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SALARY =  25000.0 </a:t>
            </a:r>
            <a:endParaRPr sz="1200" dirty="0"/>
          </a:p>
          <a:p>
            <a:pPr marL="0" marR="0" lvl="0" indent="0" algn="l" rtl="0">
              <a:spcBef>
                <a:spcPts val="0"/>
              </a:spcBef>
              <a:spcAft>
                <a:spcPts val="0"/>
              </a:spcAft>
              <a:buNone/>
            </a:pPr>
            <a:endParaRPr sz="1200" dirty="0">
              <a:solidFill>
                <a:schemeClr val="dk1"/>
              </a:solidFill>
              <a:latin typeface="Arial"/>
              <a:ea typeface="Arial"/>
              <a:cs typeface="Arial"/>
              <a:sym typeface="Arial"/>
            </a:endParaRPr>
          </a:p>
          <a:p>
            <a:pPr marL="0" marR="0" lvl="0" indent="0" algn="l" rtl="0">
              <a:spcBef>
                <a:spcPts val="0"/>
              </a:spcBef>
              <a:spcAft>
                <a:spcPts val="0"/>
              </a:spcAft>
              <a:buNone/>
            </a:pPr>
            <a:r>
              <a:rPr lang="en-US" sz="1200" dirty="0">
                <a:solidFill>
                  <a:schemeClr val="dk1"/>
                </a:solidFill>
                <a:latin typeface="Arial"/>
                <a:ea typeface="Arial"/>
                <a:cs typeface="Arial"/>
                <a:sym typeface="Arial"/>
              </a:rPr>
              <a:t>ID =  3</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NAME =  Teddy</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ADDRESS =  Norway</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SALARY =  20000.0 </a:t>
            </a:r>
            <a:endParaRPr sz="1200" dirty="0"/>
          </a:p>
          <a:p>
            <a:pPr marL="0" marR="0" lvl="0" indent="0" algn="l" rtl="0">
              <a:spcBef>
                <a:spcPts val="0"/>
              </a:spcBef>
              <a:spcAft>
                <a:spcPts val="0"/>
              </a:spcAft>
              <a:buNone/>
            </a:pPr>
            <a:endParaRPr sz="1200" dirty="0">
              <a:solidFill>
                <a:schemeClr val="dk1"/>
              </a:solidFill>
              <a:latin typeface="Arial"/>
              <a:ea typeface="Arial"/>
              <a:cs typeface="Arial"/>
              <a:sym typeface="Arial"/>
            </a:endParaRPr>
          </a:p>
          <a:p>
            <a:pPr marL="0" marR="0" lvl="0" indent="0" algn="l" rtl="0">
              <a:spcBef>
                <a:spcPts val="0"/>
              </a:spcBef>
              <a:spcAft>
                <a:spcPts val="0"/>
              </a:spcAft>
              <a:buNone/>
            </a:pPr>
            <a:r>
              <a:rPr lang="en-US" sz="1200" dirty="0">
                <a:solidFill>
                  <a:schemeClr val="dk1"/>
                </a:solidFill>
                <a:latin typeface="Arial"/>
                <a:ea typeface="Arial"/>
                <a:cs typeface="Arial"/>
                <a:sym typeface="Arial"/>
              </a:rPr>
              <a:t>ID =  4</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NAME =  Mark</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ADDRESS =  Rich-Mond </a:t>
            </a:r>
            <a:endParaRPr sz="1200" dirty="0"/>
          </a:p>
          <a:p>
            <a:pPr marL="0" marR="0" lvl="0" indent="0" algn="l" rtl="0">
              <a:spcBef>
                <a:spcPts val="0"/>
              </a:spcBef>
              <a:spcAft>
                <a:spcPts val="0"/>
              </a:spcAft>
              <a:buNone/>
            </a:pPr>
            <a:r>
              <a:rPr lang="en-US" sz="1200" dirty="0">
                <a:solidFill>
                  <a:schemeClr val="dk1"/>
                </a:solidFill>
                <a:latin typeface="Arial"/>
                <a:ea typeface="Arial"/>
                <a:cs typeface="Arial"/>
                <a:sym typeface="Arial"/>
              </a:rPr>
              <a:t>SALARY =  65000.0 </a:t>
            </a:r>
            <a:endParaRPr sz="1200" dirty="0"/>
          </a:p>
          <a:p>
            <a:pPr marL="0" marR="0" lvl="0" indent="0" algn="l" rtl="0">
              <a:spcBef>
                <a:spcPts val="0"/>
              </a:spcBef>
              <a:spcAft>
                <a:spcPts val="0"/>
              </a:spcAft>
              <a:buNone/>
            </a:pPr>
            <a:endParaRPr sz="1200" dirty="0">
              <a:solidFill>
                <a:schemeClr val="dk1"/>
              </a:solidFill>
              <a:latin typeface="Arial"/>
              <a:ea typeface="Arial"/>
              <a:cs typeface="Arial"/>
              <a:sym typeface="Arial"/>
            </a:endParaRPr>
          </a:p>
          <a:p>
            <a:pPr marL="0" marR="0" lvl="0" indent="0" algn="l" rtl="0">
              <a:spcBef>
                <a:spcPts val="0"/>
              </a:spcBef>
              <a:spcAft>
                <a:spcPts val="0"/>
              </a:spcAft>
              <a:buNone/>
            </a:pPr>
            <a:r>
              <a:rPr lang="en-US" sz="1200" dirty="0">
                <a:solidFill>
                  <a:schemeClr val="dk1"/>
                </a:solidFill>
                <a:latin typeface="Arial"/>
                <a:ea typeface="Arial"/>
                <a:cs typeface="Arial"/>
                <a:sym typeface="Arial"/>
              </a:rPr>
              <a:t>Operation done successfully</a:t>
            </a:r>
            <a:endParaRPr sz="1200" dirty="0"/>
          </a:p>
        </p:txBody>
      </p:sp>
      <p:pic>
        <p:nvPicPr>
          <p:cNvPr id="2" name="Google Shape;133;p27">
            <a:extLst>
              <a:ext uri="{FF2B5EF4-FFF2-40B4-BE49-F238E27FC236}">
                <a16:creationId xmlns:a16="http://schemas.microsoft.com/office/drawing/2014/main" id="{0D1EE13A-BD8D-7405-560A-E295DC537937}"/>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5A6EA716-6D2F-FB32-3806-2A53407A0392}"/>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852CB2F6-CE15-BDA0-EB65-A337D614A12E}"/>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8" name="Google Shape;138;p29"/>
          <p:cNvSpPr txBox="1">
            <a:spLocks noGrp="1"/>
          </p:cNvSpPr>
          <p:nvPr>
            <p:ph type="body" idx="1"/>
          </p:nvPr>
        </p:nvSpPr>
        <p:spPr>
          <a:xfrm>
            <a:off x="1837232" y="2650521"/>
            <a:ext cx="7700058" cy="957261"/>
          </a:xfrm>
          <a:prstGeom prst="rect">
            <a:avLst/>
          </a:prstGeom>
          <a:noFill/>
          <a:ln>
            <a:noFill/>
          </a:ln>
        </p:spPr>
        <p:txBody>
          <a:bodyPr spcFirstLastPara="1" wrap="square" lIns="91425" tIns="45700" rIns="91425" bIns="45700" anchor="t" anchorCtr="0">
            <a:normAutofit fontScale="62500" lnSpcReduction="20000"/>
          </a:bodyPr>
          <a:lstStyle/>
          <a:p>
            <a:pPr marL="0" lvl="0" indent="0" algn="ctr" rtl="0">
              <a:lnSpc>
                <a:spcPct val="100000"/>
              </a:lnSpc>
              <a:spcBef>
                <a:spcPts val="0"/>
              </a:spcBef>
              <a:spcAft>
                <a:spcPts val="0"/>
              </a:spcAft>
              <a:buClr>
                <a:srgbClr val="013CB2"/>
              </a:buClr>
              <a:buSzPts val="5100"/>
              <a:buNone/>
            </a:pPr>
            <a:r>
              <a:rPr lang="en-US" sz="5100" b="0" dirty="0">
                <a:solidFill>
                  <a:srgbClr val="013CB2"/>
                </a:solidFill>
                <a:latin typeface="Cambria"/>
                <a:ea typeface="Cambria"/>
                <a:cs typeface="Cambria"/>
                <a:sym typeface="Cambria"/>
              </a:rPr>
              <a:t>Database access using SQLite</a:t>
            </a:r>
          </a:p>
          <a:p>
            <a:pPr marL="0" lvl="0" indent="0" algn="ctr" rtl="0">
              <a:lnSpc>
                <a:spcPct val="100000"/>
              </a:lnSpc>
              <a:spcBef>
                <a:spcPts val="0"/>
              </a:spcBef>
              <a:spcAft>
                <a:spcPts val="0"/>
              </a:spcAft>
              <a:buClr>
                <a:srgbClr val="013CB2"/>
              </a:buClr>
              <a:buSzPts val="5100"/>
              <a:buNone/>
            </a:pPr>
            <a:r>
              <a:rPr lang="en-US" sz="3500" b="0" dirty="0">
                <a:solidFill>
                  <a:srgbClr val="013CB2"/>
                </a:solidFill>
                <a:latin typeface="Cambria"/>
                <a:ea typeface="Cambria"/>
                <a:cs typeface="Cambria"/>
                <a:sym typeface="Cambria"/>
              </a:rPr>
              <a:t>Part 2</a:t>
            </a:r>
            <a:r>
              <a:rPr lang="en-US" sz="5100" b="0" dirty="0">
                <a:solidFill>
                  <a:srgbClr val="013CB2"/>
                </a:solidFill>
                <a:latin typeface="Cambria"/>
                <a:ea typeface="Cambria"/>
                <a:cs typeface="Cambria"/>
                <a:sym typeface="Cambria"/>
              </a:rPr>
              <a:t> </a:t>
            </a:r>
            <a:endParaRPr sz="2600" b="0" dirty="0">
              <a:solidFill>
                <a:srgbClr val="013CB2"/>
              </a:solidFill>
              <a:latin typeface="Cambria"/>
              <a:ea typeface="Cambria"/>
              <a:cs typeface="Cambria"/>
              <a:sym typeface="Cambria"/>
            </a:endParaRPr>
          </a:p>
        </p:txBody>
      </p:sp>
      <p:pic>
        <p:nvPicPr>
          <p:cNvPr id="2" name="Google Shape;133;p27">
            <a:extLst>
              <a:ext uri="{FF2B5EF4-FFF2-40B4-BE49-F238E27FC236}">
                <a16:creationId xmlns:a16="http://schemas.microsoft.com/office/drawing/2014/main" id="{CC77A008-DCC3-FF7E-CBD9-DE6F6265E92F}"/>
              </a:ext>
            </a:extLst>
          </p:cNvPr>
          <p:cNvPicPr preferRelativeResize="0"/>
          <p:nvPr/>
        </p:nvPicPr>
        <p:blipFill rotWithShape="1">
          <a:blip r:embed="rId3">
            <a:alphaModFix/>
          </a:blip>
          <a:srcRect/>
          <a:stretch/>
        </p:blipFill>
        <p:spPr>
          <a:xfrm>
            <a:off x="6316394" y="6389978"/>
            <a:ext cx="5875606" cy="468022"/>
          </a:xfrm>
          <a:prstGeom prst="rect">
            <a:avLst/>
          </a:prstGeom>
          <a:noFill/>
          <a:ln>
            <a:noFill/>
          </a:ln>
        </p:spPr>
      </p:pic>
      <p:pic>
        <p:nvPicPr>
          <p:cNvPr id="3" name="Google Shape;223;p39">
            <a:extLst>
              <a:ext uri="{FF2B5EF4-FFF2-40B4-BE49-F238E27FC236}">
                <a16:creationId xmlns:a16="http://schemas.microsoft.com/office/drawing/2014/main" id="{F8FF30B3-1D78-D003-44A3-568338F576A7}"/>
              </a:ext>
            </a:extLst>
          </p:cNvPr>
          <p:cNvPicPr preferRelativeResize="0"/>
          <p:nvPr/>
        </p:nvPicPr>
        <p:blipFill rotWithShape="1">
          <a:blip r:embed="rId4">
            <a:alphaModFix/>
          </a:blip>
          <a:srcRect/>
          <a:stretch/>
        </p:blipFill>
        <p:spPr>
          <a:xfrm>
            <a:off x="10070830" y="-6626"/>
            <a:ext cx="1969360" cy="832212"/>
          </a:xfrm>
          <a:prstGeom prst="rect">
            <a:avLst/>
          </a:prstGeom>
          <a:noFill/>
          <a:ln>
            <a:noFill/>
          </a:ln>
        </p:spPr>
      </p:pic>
      <p:sp>
        <p:nvSpPr>
          <p:cNvPr id="4" name="Google Shape;138;p29">
            <a:extLst>
              <a:ext uri="{FF2B5EF4-FFF2-40B4-BE49-F238E27FC236}">
                <a16:creationId xmlns:a16="http://schemas.microsoft.com/office/drawing/2014/main" id="{43132E79-3BB7-D285-F699-E3AF1E8FA836}"/>
              </a:ext>
            </a:extLst>
          </p:cNvPr>
          <p:cNvSpPr txBox="1">
            <a:spLocks/>
          </p:cNvSpPr>
          <p:nvPr/>
        </p:nvSpPr>
        <p:spPr>
          <a:xfrm>
            <a:off x="9832258" y="5655949"/>
            <a:ext cx="1563737" cy="460732"/>
          </a:xfrm>
          <a:prstGeom prst="rect">
            <a:avLst/>
          </a:prstGeom>
          <a:noFill/>
          <a:ln>
            <a:noFill/>
          </a:ln>
        </p:spPr>
        <p:txBody>
          <a:bodyPr spcFirstLastPara="1" wrap="square" lIns="91425" tIns="45700" rIns="91425" bIns="45700" anchor="t" anchorCtr="0">
            <a:normAutofit fontScale="85000" lnSpcReduction="10000"/>
          </a:bodyPr>
          <a:lstStyle>
            <a:defPPr marR="0" lvl="0" algn="l" rtl="0">
              <a:lnSpc>
                <a:spcPct val="100000"/>
              </a:lnSpc>
              <a:spcBef>
                <a:spcPts val="0"/>
              </a:spcBef>
              <a:spcAft>
                <a:spcPts val="0"/>
              </a:spcAft>
            </a:defPPr>
            <a:lvl1pPr marL="457200" marR="0" lvl="0" indent="-228600" algn="just" rtl="0">
              <a:lnSpc>
                <a:spcPct val="150000"/>
              </a:lnSpc>
              <a:spcBef>
                <a:spcPts val="1200"/>
              </a:spcBef>
              <a:spcAft>
                <a:spcPts val="0"/>
              </a:spcAft>
              <a:buClr>
                <a:schemeClr val="dk1"/>
              </a:buClr>
              <a:buSzPts val="2000"/>
              <a:buFont typeface="Noto Sans Symbols"/>
              <a:buNone/>
              <a:defRPr sz="2000" b="1" i="0" u="none" strike="noStrike" cap="none">
                <a:solidFill>
                  <a:schemeClr val="dk1"/>
                </a:solidFill>
                <a:latin typeface="Arial"/>
                <a:ea typeface="Arial"/>
                <a:cs typeface="Arial"/>
                <a:sym typeface="Arial"/>
              </a:defRPr>
            </a:lvl1pPr>
            <a:lvl2pPr marL="914400" marR="0" lvl="1" indent="-228600" algn="l" rtl="0">
              <a:lnSpc>
                <a:spcPct val="90000"/>
              </a:lnSpc>
              <a:spcBef>
                <a:spcPts val="600"/>
              </a:spcBef>
              <a:spcAft>
                <a:spcPts val="0"/>
              </a:spcAft>
              <a:buClr>
                <a:schemeClr val="accent6"/>
              </a:buClr>
              <a:buSzPts val="1800"/>
              <a:buFont typeface="Noto Sans Symbols"/>
              <a:buNone/>
              <a:defRPr sz="1800" b="0" i="0" u="none" strike="noStrike" cap="none">
                <a:solidFill>
                  <a:schemeClr val="accent6"/>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a:lnSpc>
                <a:spcPct val="100000"/>
              </a:lnSpc>
              <a:spcBef>
                <a:spcPts val="0"/>
              </a:spcBef>
              <a:buClr>
                <a:srgbClr val="013CB2"/>
              </a:buClr>
              <a:buSzPts val="5100"/>
            </a:pPr>
            <a:r>
              <a:rPr lang="en-US" sz="1800" b="0" dirty="0">
                <a:solidFill>
                  <a:srgbClr val="013CB2"/>
                </a:solidFill>
                <a:latin typeface="Cambria"/>
                <a:ea typeface="Cambria"/>
                <a:cs typeface="Cambria"/>
                <a:sym typeface="Cambria"/>
              </a:rPr>
              <a:t>Dr Venkat Raju</a:t>
            </a:r>
          </a:p>
        </p:txBody>
      </p:sp>
      <p:pic>
        <p:nvPicPr>
          <p:cNvPr id="1028" name="Picture 4" descr="Databases Services Online | Fiverr">
            <a:extLst>
              <a:ext uri="{FF2B5EF4-FFF2-40B4-BE49-F238E27FC236}">
                <a16:creationId xmlns:a16="http://schemas.microsoft.com/office/drawing/2014/main" id="{3E08E46B-AC4E-0A4D-61FF-C59A2370DA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45601" y="2304613"/>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A80583B-98C9-1037-A4EB-357DC5CF8803}"/>
              </a:ext>
            </a:extLst>
          </p:cNvPr>
          <p:cNvPicPr>
            <a:picLocks noChangeAspect="1"/>
          </p:cNvPicPr>
          <p:nvPr/>
        </p:nvPicPr>
        <p:blipFill>
          <a:blip r:embed="rId6"/>
          <a:stretch>
            <a:fillRect/>
          </a:stretch>
        </p:blipFill>
        <p:spPr>
          <a:xfrm>
            <a:off x="10042738" y="172072"/>
            <a:ext cx="2149262" cy="750770"/>
          </a:xfrm>
          <a:prstGeom prst="rect">
            <a:avLst/>
          </a:prstGeom>
        </p:spPr>
      </p:pic>
    </p:spTree>
    <p:extLst>
      <p:ext uri="{BB962C8B-B14F-4D97-AF65-F5344CB8AC3E}">
        <p14:creationId xmlns:p14="http://schemas.microsoft.com/office/powerpoint/2010/main" val="3036122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104"/>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a:solidFill>
                  <a:srgbClr val="013CB2"/>
                </a:solidFill>
              </a:rPr>
              <a:t>Parameterized queries</a:t>
            </a:r>
            <a:endParaRPr/>
          </a:p>
        </p:txBody>
      </p:sp>
      <p:sp>
        <p:nvSpPr>
          <p:cNvPr id="658" name="Google Shape;658;p104"/>
          <p:cNvSpPr txBox="1">
            <a:spLocks noGrp="1"/>
          </p:cNvSpPr>
          <p:nvPr>
            <p:ph type="body" idx="1"/>
          </p:nvPr>
        </p:nvSpPr>
        <p:spPr>
          <a:xfrm>
            <a:off x="276224" y="1215010"/>
            <a:ext cx="11520000" cy="535724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150000"/>
              </a:lnSpc>
              <a:spcBef>
                <a:spcPts val="0"/>
              </a:spcBef>
              <a:spcAft>
                <a:spcPts val="0"/>
              </a:spcAft>
              <a:buClr>
                <a:schemeClr val="dk1"/>
              </a:buClr>
              <a:buSzPct val="100000"/>
              <a:buFont typeface="Noto Sans Symbols"/>
              <a:buChar char="▪"/>
            </a:pPr>
            <a:r>
              <a:rPr lang="en-US" b="0" dirty="0"/>
              <a:t>A parameterized query is a </a:t>
            </a:r>
            <a:r>
              <a:rPr lang="en-US" dirty="0"/>
              <a:t>query in which placeholders used for parameters and the parameter values supplied at execution time</a:t>
            </a:r>
            <a:r>
              <a:rPr lang="en-US" b="0" dirty="0"/>
              <a:t>. </a:t>
            </a:r>
            <a:endParaRPr dirty="0"/>
          </a:p>
          <a:p>
            <a:pPr marL="342900" lvl="0" indent="-342900" algn="l" rtl="0">
              <a:lnSpc>
                <a:spcPct val="150000"/>
              </a:lnSpc>
              <a:spcBef>
                <a:spcPts val="1800"/>
              </a:spcBef>
              <a:spcAft>
                <a:spcPts val="0"/>
              </a:spcAft>
              <a:buClr>
                <a:schemeClr val="dk1"/>
              </a:buClr>
              <a:buSzPct val="100000"/>
              <a:buFont typeface="Noto Sans Symbols"/>
              <a:buChar char="▪"/>
            </a:pPr>
            <a:r>
              <a:rPr lang="en-US" b="0" dirty="0"/>
              <a:t>That means parameterized query gets compiled only once.</a:t>
            </a:r>
            <a:endParaRPr dirty="0"/>
          </a:p>
          <a:p>
            <a:pPr marL="342900" lvl="0" indent="-342900" algn="l" rtl="0">
              <a:lnSpc>
                <a:spcPct val="150000"/>
              </a:lnSpc>
              <a:spcBef>
                <a:spcPts val="1800"/>
              </a:spcBef>
              <a:spcAft>
                <a:spcPts val="0"/>
              </a:spcAft>
              <a:buClr>
                <a:schemeClr val="dk1"/>
              </a:buClr>
              <a:buSzPct val="100000"/>
              <a:buFont typeface="Noto Sans Symbols"/>
              <a:buChar char="▪"/>
            </a:pPr>
            <a:r>
              <a:rPr lang="en-US" dirty="0"/>
              <a:t>There are the main 4 reasons to use</a:t>
            </a:r>
            <a:endParaRPr dirty="0"/>
          </a:p>
          <a:p>
            <a:pPr marL="971550" lvl="3" indent="-285750" algn="l" rtl="0">
              <a:lnSpc>
                <a:spcPct val="150000"/>
              </a:lnSpc>
              <a:spcBef>
                <a:spcPts val="1100"/>
              </a:spcBef>
              <a:spcAft>
                <a:spcPts val="0"/>
              </a:spcAft>
              <a:buClr>
                <a:schemeClr val="dk1"/>
              </a:buClr>
              <a:buSzPct val="100000"/>
              <a:buChar char="▪"/>
            </a:pPr>
            <a:r>
              <a:rPr lang="en-US" sz="2000" dirty="0"/>
              <a:t>Improves Speed</a:t>
            </a:r>
            <a:r>
              <a:rPr lang="en-US" sz="2000" b="0" dirty="0"/>
              <a:t>: If you want to execute SQL statement/query many times, it usually reduces execution time</a:t>
            </a:r>
            <a:endParaRPr dirty="0"/>
          </a:p>
          <a:p>
            <a:pPr marL="971550" lvl="3" indent="-285750" algn="l" rtl="0">
              <a:lnSpc>
                <a:spcPct val="150000"/>
              </a:lnSpc>
              <a:spcBef>
                <a:spcPts val="500"/>
              </a:spcBef>
              <a:spcAft>
                <a:spcPts val="0"/>
              </a:spcAft>
              <a:buClr>
                <a:schemeClr val="dk1"/>
              </a:buClr>
              <a:buSzPct val="100000"/>
              <a:buChar char="▪"/>
            </a:pPr>
            <a:r>
              <a:rPr lang="en-US" sz="2000" dirty="0"/>
              <a:t>Compile Once</a:t>
            </a:r>
            <a:r>
              <a:rPr lang="en-US" sz="2000" b="0" dirty="0"/>
              <a:t>: The main advantage of using a parameterized query is that parameterized query compiled only once</a:t>
            </a:r>
            <a:endParaRPr dirty="0"/>
          </a:p>
          <a:p>
            <a:pPr marL="971550" lvl="3" indent="-285750" algn="l" rtl="0">
              <a:lnSpc>
                <a:spcPct val="150000"/>
              </a:lnSpc>
              <a:spcBef>
                <a:spcPts val="500"/>
              </a:spcBef>
              <a:spcAft>
                <a:spcPts val="0"/>
              </a:spcAft>
              <a:buClr>
                <a:schemeClr val="dk1"/>
              </a:buClr>
              <a:buSzPct val="100000"/>
              <a:buChar char="▪"/>
            </a:pPr>
            <a:r>
              <a:rPr lang="en-US" sz="2000" dirty="0"/>
              <a:t>Same Operation with Different Data</a:t>
            </a:r>
            <a:r>
              <a:rPr lang="en-US" sz="2000" b="0" dirty="0"/>
              <a:t>: if you want to execute the same query multiple times with different data. </a:t>
            </a:r>
            <a:endParaRPr dirty="0"/>
          </a:p>
          <a:p>
            <a:pPr marL="971550" lvl="3" indent="-285750" algn="l" rtl="0">
              <a:lnSpc>
                <a:spcPct val="150000"/>
              </a:lnSpc>
              <a:spcBef>
                <a:spcPts val="500"/>
              </a:spcBef>
              <a:spcAft>
                <a:spcPts val="0"/>
              </a:spcAft>
              <a:buClr>
                <a:schemeClr val="dk1"/>
              </a:buClr>
              <a:buSzPct val="100000"/>
              <a:buChar char="▪"/>
            </a:pPr>
            <a:r>
              <a:rPr lang="en-US" sz="2000" dirty="0"/>
              <a:t>Preventing SQL injection attacks.</a:t>
            </a:r>
            <a:endParaRPr sz="2000" b="0" dirty="0"/>
          </a:p>
          <a:p>
            <a:pPr marL="342900" lvl="0" indent="-225425" algn="l" rtl="0">
              <a:lnSpc>
                <a:spcPct val="150000"/>
              </a:lnSpc>
              <a:spcBef>
                <a:spcPts val="1200"/>
              </a:spcBef>
              <a:spcAft>
                <a:spcPts val="0"/>
              </a:spcAft>
              <a:buClr>
                <a:schemeClr val="dk1"/>
              </a:buClr>
              <a:buSzPct val="100000"/>
              <a:buFont typeface="Noto Sans Symbols"/>
              <a:buNone/>
            </a:pPr>
            <a:endParaRPr dirty="0"/>
          </a:p>
        </p:txBody>
      </p:sp>
      <p:pic>
        <p:nvPicPr>
          <p:cNvPr id="2" name="Google Shape;133;p27">
            <a:extLst>
              <a:ext uri="{FF2B5EF4-FFF2-40B4-BE49-F238E27FC236}">
                <a16:creationId xmlns:a16="http://schemas.microsoft.com/office/drawing/2014/main" id="{0FE06865-F452-BE45-F4EC-87FAB08F8732}"/>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AE5B7E2D-1B4D-CDB4-7365-5A34CA133F4A}"/>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EE128EA9-D635-2E07-C8AE-3BB37FB714C7}"/>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105"/>
          <p:cNvSpPr/>
          <p:nvPr/>
        </p:nvSpPr>
        <p:spPr>
          <a:xfrm>
            <a:off x="553492" y="1151929"/>
            <a:ext cx="10427792" cy="45243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import sqlite3</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conn = sqlite3.connect('LanguageDB')</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cur = conn.cursor()</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cur.execute('DROP TABLE IF EXISTS languages')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cur.execute('CREATE TABLE languages (subject TEXT, marks INTEGER)')</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cur.execute('INSERT INTO languages (subject, marks) VALUES (?, ?)',  ('C', 100))</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cur.execute('INSERT INTO languages (subject, marks) VALUES (?, ?)',  ('Java', 200))</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cur.execute('INSERT INTO languages (subject, marks) VALUES (?, ?)',  ('Python', 300))</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conn.commit()</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print('Languages:')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cur.execute('SELECT subject, marks FROM languages')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for row in cur:</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print(row)</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cur.close()</a:t>
            </a:r>
            <a:endParaRPr/>
          </a:p>
        </p:txBody>
      </p:sp>
      <p:sp>
        <p:nvSpPr>
          <p:cNvPr id="664" name="Google Shape;664;p105"/>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a:solidFill>
                  <a:srgbClr val="013CB2"/>
                </a:solidFill>
              </a:rPr>
              <a:t>Parameterized queries</a:t>
            </a:r>
            <a:endParaRPr/>
          </a:p>
        </p:txBody>
      </p:sp>
      <p:sp>
        <p:nvSpPr>
          <p:cNvPr id="665" name="Google Shape;665;p105"/>
          <p:cNvSpPr/>
          <p:nvPr/>
        </p:nvSpPr>
        <p:spPr>
          <a:xfrm>
            <a:off x="9491663" y="3429000"/>
            <a:ext cx="2509838" cy="132343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rgbClr val="013CB2"/>
                </a:solidFill>
                <a:latin typeface="Arial"/>
                <a:ea typeface="Arial"/>
                <a:cs typeface="Arial"/>
                <a:sym typeface="Arial"/>
              </a:rPr>
              <a:t>Languages:</a:t>
            </a:r>
            <a:endParaRPr/>
          </a:p>
          <a:p>
            <a:pPr marL="0" marR="0" lvl="0" indent="0" algn="l" rtl="0">
              <a:spcBef>
                <a:spcPts val="0"/>
              </a:spcBef>
              <a:spcAft>
                <a:spcPts val="0"/>
              </a:spcAft>
              <a:buNone/>
            </a:pPr>
            <a:r>
              <a:rPr lang="en-US" sz="2000">
                <a:solidFill>
                  <a:srgbClr val="013CB2"/>
                </a:solidFill>
                <a:latin typeface="Arial"/>
                <a:ea typeface="Arial"/>
                <a:cs typeface="Arial"/>
                <a:sym typeface="Arial"/>
              </a:rPr>
              <a:t>('C', 100)</a:t>
            </a:r>
            <a:endParaRPr/>
          </a:p>
          <a:p>
            <a:pPr marL="0" marR="0" lvl="0" indent="0" algn="l" rtl="0">
              <a:spcBef>
                <a:spcPts val="0"/>
              </a:spcBef>
              <a:spcAft>
                <a:spcPts val="0"/>
              </a:spcAft>
              <a:buNone/>
            </a:pPr>
            <a:r>
              <a:rPr lang="en-US" sz="2000">
                <a:solidFill>
                  <a:srgbClr val="013CB2"/>
                </a:solidFill>
                <a:latin typeface="Arial"/>
                <a:ea typeface="Arial"/>
                <a:cs typeface="Arial"/>
                <a:sym typeface="Arial"/>
              </a:rPr>
              <a:t>('Java', 200)</a:t>
            </a:r>
            <a:endParaRPr/>
          </a:p>
          <a:p>
            <a:pPr marL="0" marR="0" lvl="0" indent="0" algn="l" rtl="0">
              <a:spcBef>
                <a:spcPts val="0"/>
              </a:spcBef>
              <a:spcAft>
                <a:spcPts val="0"/>
              </a:spcAft>
              <a:buNone/>
            </a:pPr>
            <a:r>
              <a:rPr lang="en-US" sz="2000">
                <a:solidFill>
                  <a:srgbClr val="013CB2"/>
                </a:solidFill>
                <a:latin typeface="Arial"/>
                <a:ea typeface="Arial"/>
                <a:cs typeface="Arial"/>
                <a:sym typeface="Arial"/>
              </a:rPr>
              <a:t>('Python', 300)</a:t>
            </a:r>
            <a:endParaRPr/>
          </a:p>
        </p:txBody>
      </p:sp>
      <p:pic>
        <p:nvPicPr>
          <p:cNvPr id="2" name="Google Shape;133;p27">
            <a:extLst>
              <a:ext uri="{FF2B5EF4-FFF2-40B4-BE49-F238E27FC236}">
                <a16:creationId xmlns:a16="http://schemas.microsoft.com/office/drawing/2014/main" id="{C6D4F539-85A9-A28C-4580-80621322E61B}"/>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6272CA14-00FF-4B52-58D6-498662C4C52D}"/>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FBB70EF5-E481-93D2-394D-9BB6ABAE6513}"/>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102"/>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Arial"/>
              <a:buNone/>
            </a:pPr>
            <a:r>
              <a:rPr lang="en-US" sz="3200" b="0" dirty="0" err="1"/>
              <a:t>executescript</a:t>
            </a:r>
            <a:r>
              <a:rPr lang="en-US" sz="3200" b="0" dirty="0"/>
              <a:t>() - executing multiple SQL statements </a:t>
            </a:r>
            <a:endParaRPr sz="3200" dirty="0"/>
          </a:p>
        </p:txBody>
      </p:sp>
      <p:sp>
        <p:nvSpPr>
          <p:cNvPr id="644" name="Google Shape;644;p102"/>
          <p:cNvSpPr txBox="1">
            <a:spLocks noGrp="1"/>
          </p:cNvSpPr>
          <p:nvPr>
            <p:ph type="body" idx="1"/>
          </p:nvPr>
        </p:nvSpPr>
        <p:spPr>
          <a:xfrm>
            <a:off x="275492" y="1034861"/>
            <a:ext cx="11520000" cy="1093978"/>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000"/>
              <a:buFont typeface="Noto Sans Symbols"/>
              <a:buChar char="▪"/>
            </a:pPr>
            <a:r>
              <a:rPr lang="en-US" b="0"/>
              <a:t>This is a nonstandard convenience method for executing multiple SQL statements at once. It issues a COMMIT statement first, then executes the SQL script it gets as a parameter.</a:t>
            </a:r>
            <a:endParaRPr/>
          </a:p>
        </p:txBody>
      </p:sp>
      <p:sp>
        <p:nvSpPr>
          <p:cNvPr id="645" name="Google Shape;645;p102"/>
          <p:cNvSpPr/>
          <p:nvPr/>
        </p:nvSpPr>
        <p:spPr>
          <a:xfrm>
            <a:off x="930096" y="2004178"/>
            <a:ext cx="11557587" cy="4199611"/>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000" dirty="0">
                <a:solidFill>
                  <a:schemeClr val="dk1"/>
                </a:solidFill>
                <a:latin typeface="Arial"/>
                <a:ea typeface="Arial"/>
                <a:cs typeface="Arial"/>
                <a:sym typeface="Arial"/>
              </a:rPr>
              <a:t>import sqlite3</a:t>
            </a:r>
            <a:endParaRPr dirty="0"/>
          </a:p>
          <a:p>
            <a:pPr marL="0" marR="0" lvl="0" indent="0" algn="l" rtl="0">
              <a:lnSpc>
                <a:spcPct val="150000"/>
              </a:lnSpc>
              <a:spcBef>
                <a:spcPts val="0"/>
              </a:spcBef>
              <a:spcAft>
                <a:spcPts val="0"/>
              </a:spcAft>
              <a:buNone/>
            </a:pPr>
            <a:r>
              <a:rPr lang="en-US" sz="2000" dirty="0">
                <a:solidFill>
                  <a:schemeClr val="dk1"/>
                </a:solidFill>
                <a:latin typeface="Arial"/>
                <a:ea typeface="Arial"/>
                <a:cs typeface="Arial"/>
                <a:sym typeface="Arial"/>
              </a:rPr>
              <a:t>con = sqlite3.connect(":memory:")</a:t>
            </a:r>
            <a:endParaRPr dirty="0"/>
          </a:p>
          <a:p>
            <a:pPr marL="0" marR="0" lvl="0" indent="0" algn="l" rtl="0">
              <a:lnSpc>
                <a:spcPct val="150000"/>
              </a:lnSpc>
              <a:spcBef>
                <a:spcPts val="0"/>
              </a:spcBef>
              <a:spcAft>
                <a:spcPts val="0"/>
              </a:spcAft>
              <a:buNone/>
            </a:pPr>
            <a:r>
              <a:rPr lang="en-US" sz="2000" dirty="0">
                <a:solidFill>
                  <a:schemeClr val="dk1"/>
                </a:solidFill>
                <a:latin typeface="Arial"/>
                <a:ea typeface="Arial"/>
                <a:cs typeface="Arial"/>
                <a:sym typeface="Arial"/>
              </a:rPr>
              <a:t>cur = </a:t>
            </a:r>
            <a:r>
              <a:rPr lang="en-US" sz="2000" dirty="0" err="1">
                <a:solidFill>
                  <a:schemeClr val="dk1"/>
                </a:solidFill>
                <a:latin typeface="Arial"/>
                <a:ea typeface="Arial"/>
                <a:cs typeface="Arial"/>
                <a:sym typeface="Arial"/>
              </a:rPr>
              <a:t>con.cursor</a:t>
            </a:r>
            <a:r>
              <a:rPr lang="en-US" sz="2000" dirty="0">
                <a:solidFill>
                  <a:schemeClr val="dk1"/>
                </a:solidFill>
                <a:latin typeface="Arial"/>
                <a:ea typeface="Arial"/>
                <a:cs typeface="Arial"/>
                <a:sym typeface="Arial"/>
              </a:rPr>
              <a:t>()</a:t>
            </a:r>
            <a:endParaRPr dirty="0"/>
          </a:p>
          <a:p>
            <a:pPr marL="0" marR="0" lvl="0" indent="0" algn="l" rtl="0">
              <a:lnSpc>
                <a:spcPct val="150000"/>
              </a:lnSpc>
              <a:spcBef>
                <a:spcPts val="0"/>
              </a:spcBef>
              <a:spcAft>
                <a:spcPts val="0"/>
              </a:spcAft>
              <a:buNone/>
            </a:pPr>
            <a:r>
              <a:rPr lang="en-US" sz="2000" dirty="0" err="1">
                <a:solidFill>
                  <a:schemeClr val="dk1"/>
                </a:solidFill>
                <a:latin typeface="Arial"/>
                <a:ea typeface="Arial"/>
                <a:cs typeface="Arial"/>
                <a:sym typeface="Arial"/>
              </a:rPr>
              <a:t>cur.executescript</a:t>
            </a:r>
            <a:r>
              <a:rPr lang="en-US" sz="2000" dirty="0">
                <a:solidFill>
                  <a:schemeClr val="dk1"/>
                </a:solidFill>
                <a:latin typeface="Arial"/>
                <a:ea typeface="Arial"/>
                <a:cs typeface="Arial"/>
                <a:sym typeface="Arial"/>
              </a:rPr>
              <a:t>("""</a:t>
            </a:r>
            <a:endParaRPr dirty="0"/>
          </a:p>
          <a:p>
            <a:pPr marL="0" marR="0" lvl="0" indent="0" algn="l" rtl="0">
              <a:lnSpc>
                <a:spcPct val="150000"/>
              </a:lnSpc>
              <a:spcBef>
                <a:spcPts val="0"/>
              </a:spcBef>
              <a:spcAft>
                <a:spcPts val="0"/>
              </a:spcAft>
              <a:buNone/>
            </a:pPr>
            <a:r>
              <a:rPr lang="en-US" sz="2000" dirty="0">
                <a:solidFill>
                  <a:schemeClr val="dk1"/>
                </a:solidFill>
                <a:latin typeface="Arial"/>
                <a:ea typeface="Arial"/>
                <a:cs typeface="Arial"/>
                <a:sym typeface="Arial"/>
              </a:rPr>
              <a:t>    create table samples(</a:t>
            </a:r>
            <a:r>
              <a:rPr lang="en-US" sz="2000" dirty="0" err="1">
                <a:solidFill>
                  <a:schemeClr val="dk1"/>
                </a:solidFill>
                <a:latin typeface="Arial"/>
                <a:ea typeface="Arial"/>
                <a:cs typeface="Arial"/>
                <a:sym typeface="Arial"/>
              </a:rPr>
              <a:t>id,value</a:t>
            </a:r>
            <a:r>
              <a:rPr lang="en-US" sz="2000" dirty="0">
                <a:solidFill>
                  <a:schemeClr val="dk1"/>
                </a:solidFill>
                <a:latin typeface="Arial"/>
                <a:ea typeface="Arial"/>
                <a:cs typeface="Arial"/>
                <a:sym typeface="Arial"/>
              </a:rPr>
              <a:t>);</a:t>
            </a:r>
            <a:endParaRPr dirty="0"/>
          </a:p>
          <a:p>
            <a:pPr marL="0" marR="0" lvl="0" indent="0" algn="l" rtl="0">
              <a:lnSpc>
                <a:spcPct val="150000"/>
              </a:lnSpc>
              <a:spcBef>
                <a:spcPts val="0"/>
              </a:spcBef>
              <a:spcAft>
                <a:spcPts val="0"/>
              </a:spcAft>
              <a:buNone/>
            </a:pPr>
            <a:r>
              <a:rPr lang="en-US" sz="2000" dirty="0">
                <a:solidFill>
                  <a:schemeClr val="dk1"/>
                </a:solidFill>
                <a:latin typeface="Arial"/>
                <a:ea typeface="Arial"/>
                <a:cs typeface="Arial"/>
                <a:sym typeface="Arial"/>
              </a:rPr>
              <a:t>    insert into samples(id, value)  values ('123','abcdef');</a:t>
            </a:r>
            <a:endParaRPr dirty="0"/>
          </a:p>
          <a:p>
            <a:pPr marL="0" marR="0" lvl="0" indent="0" algn="l" rtl="0">
              <a:lnSpc>
                <a:spcPct val="150000"/>
              </a:lnSpc>
              <a:spcBef>
                <a:spcPts val="0"/>
              </a:spcBef>
              <a:spcAft>
                <a:spcPts val="0"/>
              </a:spcAft>
              <a:buNone/>
            </a:pPr>
            <a:r>
              <a:rPr lang="en-US" sz="2000" dirty="0">
                <a:solidFill>
                  <a:schemeClr val="dk1"/>
                </a:solidFill>
                <a:latin typeface="Arial"/>
                <a:ea typeface="Arial"/>
                <a:cs typeface="Arial"/>
                <a:sym typeface="Arial"/>
              </a:rPr>
              <a:t>    """)</a:t>
            </a:r>
            <a:endParaRPr dirty="0"/>
          </a:p>
          <a:p>
            <a:pPr marL="0" marR="0" lvl="0" indent="0" algn="l" rtl="0">
              <a:lnSpc>
                <a:spcPct val="150000"/>
              </a:lnSpc>
              <a:spcBef>
                <a:spcPts val="0"/>
              </a:spcBef>
              <a:spcAft>
                <a:spcPts val="0"/>
              </a:spcAft>
              <a:buNone/>
            </a:pPr>
            <a:r>
              <a:rPr lang="en-US" sz="2000" dirty="0" err="1">
                <a:solidFill>
                  <a:schemeClr val="dk1"/>
                </a:solidFill>
                <a:latin typeface="Arial"/>
                <a:ea typeface="Arial"/>
                <a:cs typeface="Arial"/>
                <a:sym typeface="Arial"/>
              </a:rPr>
              <a:t>cur.execute</a:t>
            </a:r>
            <a:r>
              <a:rPr lang="en-US" sz="2000" dirty="0">
                <a:solidFill>
                  <a:schemeClr val="dk1"/>
                </a:solidFill>
                <a:latin typeface="Arial"/>
                <a:ea typeface="Arial"/>
                <a:cs typeface="Arial"/>
                <a:sym typeface="Arial"/>
              </a:rPr>
              <a:t>("SELECT * from samples")</a:t>
            </a:r>
            <a:endParaRPr dirty="0"/>
          </a:p>
          <a:p>
            <a:pPr marL="0" marR="0" lvl="0" indent="0" algn="l" rtl="0">
              <a:lnSpc>
                <a:spcPct val="150000"/>
              </a:lnSpc>
              <a:spcBef>
                <a:spcPts val="0"/>
              </a:spcBef>
              <a:spcAft>
                <a:spcPts val="0"/>
              </a:spcAft>
              <a:buNone/>
            </a:pPr>
            <a:r>
              <a:rPr lang="en-US" sz="2000" dirty="0">
                <a:solidFill>
                  <a:schemeClr val="dk1"/>
                </a:solidFill>
                <a:latin typeface="Arial"/>
                <a:ea typeface="Arial"/>
                <a:cs typeface="Arial"/>
                <a:sym typeface="Arial"/>
              </a:rPr>
              <a:t>print (</a:t>
            </a:r>
            <a:r>
              <a:rPr lang="en-US" sz="2000" dirty="0" err="1">
                <a:solidFill>
                  <a:schemeClr val="dk1"/>
                </a:solidFill>
                <a:latin typeface="Arial"/>
                <a:ea typeface="Arial"/>
                <a:cs typeface="Arial"/>
                <a:sym typeface="Arial"/>
              </a:rPr>
              <a:t>cur.fetchone</a:t>
            </a:r>
            <a:r>
              <a:rPr lang="en-US" sz="2000" dirty="0">
                <a:solidFill>
                  <a:schemeClr val="dk1"/>
                </a:solidFill>
                <a:latin typeface="Arial"/>
                <a:ea typeface="Arial"/>
                <a:cs typeface="Arial"/>
                <a:sym typeface="Arial"/>
              </a:rPr>
              <a:t>())</a:t>
            </a:r>
            <a:endParaRPr dirty="0"/>
          </a:p>
        </p:txBody>
      </p:sp>
      <p:pic>
        <p:nvPicPr>
          <p:cNvPr id="646" name="Google Shape;646;p102"/>
          <p:cNvPicPr preferRelativeResize="0"/>
          <p:nvPr/>
        </p:nvPicPr>
        <p:blipFill rotWithShape="1">
          <a:blip r:embed="rId3">
            <a:alphaModFix/>
          </a:blip>
          <a:srcRect/>
          <a:stretch/>
        </p:blipFill>
        <p:spPr>
          <a:xfrm>
            <a:off x="7707773" y="2410133"/>
            <a:ext cx="4288298" cy="3014662"/>
          </a:xfrm>
          <a:prstGeom prst="rect">
            <a:avLst/>
          </a:prstGeom>
          <a:noFill/>
          <a:ln>
            <a:noFill/>
          </a:ln>
        </p:spPr>
      </p:pic>
      <p:pic>
        <p:nvPicPr>
          <p:cNvPr id="2" name="Google Shape;133;p27">
            <a:extLst>
              <a:ext uri="{FF2B5EF4-FFF2-40B4-BE49-F238E27FC236}">
                <a16:creationId xmlns:a16="http://schemas.microsoft.com/office/drawing/2014/main" id="{2ACA1B18-5F3C-572F-E3D2-E584F01AF1FF}"/>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C8D7823A-D4E0-E90A-4401-5651CEAE7CE2}"/>
              </a:ext>
            </a:extLst>
          </p:cNvPr>
          <p:cNvPicPr preferRelativeResize="0"/>
          <p:nvPr/>
        </p:nvPicPr>
        <p:blipFill rotWithShape="1">
          <a:blip r:embed="rId5">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151FB82D-310F-E0C3-08F1-A6451746E894}"/>
              </a:ext>
            </a:extLst>
          </p:cNvPr>
          <p:cNvPicPr>
            <a:picLocks noChangeAspect="1"/>
          </p:cNvPicPr>
          <p:nvPr/>
        </p:nvPicPr>
        <p:blipFill>
          <a:blip r:embed="rId6"/>
          <a:stretch>
            <a:fillRect/>
          </a:stretch>
        </p:blipFill>
        <p:spPr>
          <a:xfrm>
            <a:off x="10042738" y="172072"/>
            <a:ext cx="2149262" cy="75077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106"/>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Arial"/>
              <a:buNone/>
            </a:pPr>
            <a:r>
              <a:rPr lang="en-US" dirty="0">
                <a:solidFill>
                  <a:schemeClr val="accent1"/>
                </a:solidFill>
              </a:rPr>
              <a:t>Consider database as </a:t>
            </a:r>
            <a:r>
              <a:rPr lang="en-US" dirty="0" err="1">
                <a:solidFill>
                  <a:schemeClr val="accent1"/>
                </a:solidFill>
              </a:rPr>
              <a:t>emp.db</a:t>
            </a:r>
            <a:endParaRPr dirty="0"/>
          </a:p>
        </p:txBody>
      </p:sp>
      <p:sp>
        <p:nvSpPr>
          <p:cNvPr id="672" name="Google Shape;672;p106"/>
          <p:cNvSpPr/>
          <p:nvPr/>
        </p:nvSpPr>
        <p:spPr>
          <a:xfrm>
            <a:off x="1379716" y="1821666"/>
            <a:ext cx="4424363" cy="2814617"/>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000">
                <a:solidFill>
                  <a:schemeClr val="dk1"/>
                </a:solidFill>
                <a:latin typeface="Arial"/>
                <a:ea typeface="Arial"/>
                <a:cs typeface="Arial"/>
                <a:sym typeface="Arial"/>
              </a:rPr>
              <a:t>emp10.db</a:t>
            </a:r>
            <a:endParaRPr/>
          </a:p>
          <a:p>
            <a:pPr marL="0" marR="0" lvl="0" indent="0" algn="l" rtl="0">
              <a:lnSpc>
                <a:spcPct val="150000"/>
              </a:lnSpc>
              <a:spcBef>
                <a:spcPts val="0"/>
              </a:spcBef>
              <a:spcAft>
                <a:spcPts val="0"/>
              </a:spcAft>
              <a:buNone/>
            </a:pPr>
            <a:endParaRPr sz="20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2000">
                <a:solidFill>
                  <a:schemeClr val="dk1"/>
                </a:solidFill>
                <a:latin typeface="Arial"/>
                <a:ea typeface="Arial"/>
                <a:cs typeface="Arial"/>
                <a:sym typeface="Arial"/>
              </a:rPr>
              <a:t>(1, 'Paul', 32, 'California', 20000.0)</a:t>
            </a:r>
            <a:endParaRPr/>
          </a:p>
          <a:p>
            <a:pPr marL="0" marR="0" lvl="0" indent="0" algn="l" rtl="0">
              <a:lnSpc>
                <a:spcPct val="150000"/>
              </a:lnSpc>
              <a:spcBef>
                <a:spcPts val="0"/>
              </a:spcBef>
              <a:spcAft>
                <a:spcPts val="0"/>
              </a:spcAft>
              <a:buNone/>
            </a:pPr>
            <a:r>
              <a:rPr lang="en-US" sz="2000">
                <a:solidFill>
                  <a:schemeClr val="dk1"/>
                </a:solidFill>
                <a:latin typeface="Arial"/>
                <a:ea typeface="Arial"/>
                <a:cs typeface="Arial"/>
                <a:sym typeface="Arial"/>
              </a:rPr>
              <a:t>(2, 'Allen', 25, 'Texas', 15000.0)</a:t>
            </a:r>
            <a:endParaRPr/>
          </a:p>
          <a:p>
            <a:pPr marL="0" marR="0" lvl="0" indent="0" algn="l" rtl="0">
              <a:lnSpc>
                <a:spcPct val="150000"/>
              </a:lnSpc>
              <a:spcBef>
                <a:spcPts val="0"/>
              </a:spcBef>
              <a:spcAft>
                <a:spcPts val="0"/>
              </a:spcAft>
              <a:buNone/>
            </a:pPr>
            <a:r>
              <a:rPr lang="en-US" sz="2000">
                <a:solidFill>
                  <a:schemeClr val="dk1"/>
                </a:solidFill>
                <a:latin typeface="Arial"/>
                <a:ea typeface="Arial"/>
                <a:cs typeface="Arial"/>
                <a:sym typeface="Arial"/>
              </a:rPr>
              <a:t>(3, 'Teddy', 23, 'Norway', 20000.0)</a:t>
            </a:r>
            <a:endParaRPr/>
          </a:p>
          <a:p>
            <a:pPr marL="0" marR="0" lvl="0" indent="0" algn="l" rtl="0">
              <a:lnSpc>
                <a:spcPct val="150000"/>
              </a:lnSpc>
              <a:spcBef>
                <a:spcPts val="0"/>
              </a:spcBef>
              <a:spcAft>
                <a:spcPts val="0"/>
              </a:spcAft>
              <a:buNone/>
            </a:pPr>
            <a:r>
              <a:rPr lang="en-US" sz="2000">
                <a:solidFill>
                  <a:schemeClr val="dk1"/>
                </a:solidFill>
                <a:latin typeface="Arial"/>
                <a:ea typeface="Arial"/>
                <a:cs typeface="Arial"/>
                <a:sym typeface="Arial"/>
              </a:rPr>
              <a:t>(4, 'Mark', 25, 'Rich-Mond ', 65000.0)</a:t>
            </a:r>
            <a:endParaRPr/>
          </a:p>
        </p:txBody>
      </p:sp>
      <p:pic>
        <p:nvPicPr>
          <p:cNvPr id="2" name="Google Shape;133;p27">
            <a:extLst>
              <a:ext uri="{FF2B5EF4-FFF2-40B4-BE49-F238E27FC236}">
                <a16:creationId xmlns:a16="http://schemas.microsoft.com/office/drawing/2014/main" id="{CA005BEC-D8C1-FB19-1DD2-EB32F53BBF81}"/>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36E9E347-8048-2948-9138-18CFCB21F314}"/>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15BA21BD-394F-4096-6485-D7714D694FC3}"/>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107"/>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select with where clause</a:t>
            </a:r>
            <a:endParaRPr/>
          </a:p>
        </p:txBody>
      </p:sp>
      <p:sp>
        <p:nvSpPr>
          <p:cNvPr id="678" name="Google Shape;678;p107"/>
          <p:cNvSpPr/>
          <p:nvPr/>
        </p:nvSpPr>
        <p:spPr>
          <a:xfrm>
            <a:off x="1376362" y="1582340"/>
            <a:ext cx="7325185" cy="39532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import sqlite3 as lite</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con = </a:t>
            </a:r>
            <a:r>
              <a:rPr lang="en-US" sz="1800" dirty="0" err="1">
                <a:solidFill>
                  <a:schemeClr val="dk1"/>
                </a:solidFill>
                <a:latin typeface="Arial"/>
                <a:ea typeface="Arial"/>
                <a:cs typeface="Arial"/>
                <a:sym typeface="Arial"/>
              </a:rPr>
              <a:t>lite.connect</a:t>
            </a:r>
            <a:r>
              <a:rPr lang="en-US" sz="1800" dirty="0">
                <a:solidFill>
                  <a:schemeClr val="dk1"/>
                </a:solidFill>
                <a:latin typeface="Arial"/>
                <a:ea typeface="Arial"/>
                <a:cs typeface="Arial"/>
                <a:sym typeface="Arial"/>
              </a:rPr>
              <a:t>('emp10.db')</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with con:</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cur = </a:t>
            </a:r>
            <a:r>
              <a:rPr lang="en-US" sz="1800" dirty="0" err="1">
                <a:solidFill>
                  <a:schemeClr val="dk1"/>
                </a:solidFill>
                <a:latin typeface="Arial"/>
                <a:ea typeface="Arial"/>
                <a:cs typeface="Arial"/>
                <a:sym typeface="Arial"/>
              </a:rPr>
              <a:t>con.cursor</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cur.execute</a:t>
            </a:r>
            <a:r>
              <a:rPr lang="en-US" sz="1800" dirty="0">
                <a:solidFill>
                  <a:schemeClr val="dk1"/>
                </a:solidFill>
                <a:latin typeface="Arial"/>
                <a:ea typeface="Arial"/>
                <a:cs typeface="Arial"/>
                <a:sym typeface="Arial"/>
              </a:rPr>
              <a:t>("SELECT * FROM COMPANY where ID=1")</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rows = </a:t>
            </a:r>
            <a:r>
              <a:rPr lang="en-US" sz="1800" dirty="0" err="1">
                <a:solidFill>
                  <a:schemeClr val="dk1"/>
                </a:solidFill>
                <a:latin typeface="Arial"/>
                <a:ea typeface="Arial"/>
                <a:cs typeface="Arial"/>
                <a:sym typeface="Arial"/>
              </a:rPr>
              <a:t>cur.fetchall</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for row in rows:</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print (row)</a:t>
            </a:r>
            <a:endParaRPr dirty="0"/>
          </a:p>
        </p:txBody>
      </p:sp>
      <p:sp>
        <p:nvSpPr>
          <p:cNvPr id="679" name="Google Shape;679;p107"/>
          <p:cNvSpPr/>
          <p:nvPr/>
        </p:nvSpPr>
        <p:spPr>
          <a:xfrm>
            <a:off x="7802829" y="5463649"/>
            <a:ext cx="459499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 'Paul', 32, 'California', 20000.0)</a:t>
            </a:r>
            <a:endParaRPr sz="1800">
              <a:solidFill>
                <a:schemeClr val="dk1"/>
              </a:solidFill>
              <a:latin typeface="Arial"/>
              <a:ea typeface="Arial"/>
              <a:cs typeface="Arial"/>
              <a:sym typeface="Arial"/>
            </a:endParaRPr>
          </a:p>
        </p:txBody>
      </p:sp>
      <p:pic>
        <p:nvPicPr>
          <p:cNvPr id="2" name="Google Shape;133;p27">
            <a:extLst>
              <a:ext uri="{FF2B5EF4-FFF2-40B4-BE49-F238E27FC236}">
                <a16:creationId xmlns:a16="http://schemas.microsoft.com/office/drawing/2014/main" id="{AE8E3BF6-39DE-5FA1-7CA3-35E445D3C46D}"/>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0F4C26D1-D32E-1BC4-33AB-C791C7B96698}"/>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F9B7BDD9-CD8D-3E1B-765E-FA6E87A05588}"/>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108"/>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select with where clause</a:t>
            </a:r>
            <a:endParaRPr/>
          </a:p>
        </p:txBody>
      </p:sp>
      <p:sp>
        <p:nvSpPr>
          <p:cNvPr id="685" name="Google Shape;685;p108"/>
          <p:cNvSpPr/>
          <p:nvPr/>
        </p:nvSpPr>
        <p:spPr>
          <a:xfrm>
            <a:off x="733425" y="1767006"/>
            <a:ext cx="8440072" cy="393570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import sqlite3 as lite</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con = </a:t>
            </a:r>
            <a:r>
              <a:rPr lang="en-US" sz="1800" dirty="0" err="1">
                <a:solidFill>
                  <a:schemeClr val="dk1"/>
                </a:solidFill>
                <a:latin typeface="Arial"/>
                <a:ea typeface="Arial"/>
                <a:cs typeface="Arial"/>
                <a:sym typeface="Arial"/>
              </a:rPr>
              <a:t>lite.connect</a:t>
            </a:r>
            <a:r>
              <a:rPr lang="en-US" sz="1800" dirty="0">
                <a:solidFill>
                  <a:schemeClr val="dk1"/>
                </a:solidFill>
                <a:latin typeface="Arial"/>
                <a:ea typeface="Arial"/>
                <a:cs typeface="Arial"/>
                <a:sym typeface="Arial"/>
              </a:rPr>
              <a:t>('emp0.db')</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with con:</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cur = </a:t>
            </a:r>
            <a:r>
              <a:rPr lang="en-US" sz="1800" dirty="0" err="1">
                <a:solidFill>
                  <a:schemeClr val="dk1"/>
                </a:solidFill>
                <a:latin typeface="Arial"/>
                <a:ea typeface="Arial"/>
                <a:cs typeface="Arial"/>
                <a:sym typeface="Arial"/>
              </a:rPr>
              <a:t>con.cursor</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cur.execute</a:t>
            </a:r>
            <a:r>
              <a:rPr lang="en-US" sz="1800" dirty="0">
                <a:solidFill>
                  <a:schemeClr val="dk1"/>
                </a:solidFill>
                <a:latin typeface="Arial"/>
                <a:ea typeface="Arial"/>
                <a:cs typeface="Arial"/>
                <a:sym typeface="Arial"/>
              </a:rPr>
              <a:t>("SELECT * FROM COMPANY where NAME='Paul'")</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rows = </a:t>
            </a:r>
            <a:r>
              <a:rPr lang="en-US" sz="1800" dirty="0" err="1">
                <a:solidFill>
                  <a:schemeClr val="dk1"/>
                </a:solidFill>
                <a:latin typeface="Arial"/>
                <a:ea typeface="Arial"/>
                <a:cs typeface="Arial"/>
                <a:sym typeface="Arial"/>
              </a:rPr>
              <a:t>cur.fetchall</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for row in rows:</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print (row)</a:t>
            </a:r>
            <a:endParaRPr dirty="0"/>
          </a:p>
        </p:txBody>
      </p:sp>
      <p:sp>
        <p:nvSpPr>
          <p:cNvPr id="686" name="Google Shape;686;p108"/>
          <p:cNvSpPr/>
          <p:nvPr/>
        </p:nvSpPr>
        <p:spPr>
          <a:xfrm>
            <a:off x="7796890" y="5135917"/>
            <a:ext cx="460687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(1, 'Paul', 32, 'California', 25000.0)</a:t>
            </a:r>
            <a:endParaRPr sz="1800" dirty="0">
              <a:solidFill>
                <a:schemeClr val="dk1"/>
              </a:solidFill>
              <a:latin typeface="Arial"/>
              <a:ea typeface="Arial"/>
              <a:cs typeface="Arial"/>
              <a:sym typeface="Arial"/>
            </a:endParaRPr>
          </a:p>
        </p:txBody>
      </p:sp>
      <p:pic>
        <p:nvPicPr>
          <p:cNvPr id="2" name="Google Shape;133;p27">
            <a:extLst>
              <a:ext uri="{FF2B5EF4-FFF2-40B4-BE49-F238E27FC236}">
                <a16:creationId xmlns:a16="http://schemas.microsoft.com/office/drawing/2014/main" id="{76174C6F-C61A-EB43-FA69-FEA4F0C2398C}"/>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FAC62D20-E902-9190-37C6-68439997E6F3}"/>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3F3C755E-D6B9-AFC9-FB2A-9C6A058D6E24}"/>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109"/>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select with where clause</a:t>
            </a:r>
            <a:endParaRPr/>
          </a:p>
        </p:txBody>
      </p:sp>
      <p:sp>
        <p:nvSpPr>
          <p:cNvPr id="692" name="Google Shape;692;p109"/>
          <p:cNvSpPr/>
          <p:nvPr/>
        </p:nvSpPr>
        <p:spPr>
          <a:xfrm>
            <a:off x="747711" y="1740310"/>
            <a:ext cx="9025554" cy="353534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import sqlite3 as lite</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con = </a:t>
            </a:r>
            <a:r>
              <a:rPr lang="en-US" sz="1800" dirty="0" err="1">
                <a:solidFill>
                  <a:schemeClr val="dk1"/>
                </a:solidFill>
                <a:latin typeface="Arial"/>
                <a:ea typeface="Arial"/>
                <a:cs typeface="Arial"/>
                <a:sym typeface="Arial"/>
              </a:rPr>
              <a:t>lite.connect</a:t>
            </a:r>
            <a:r>
              <a:rPr lang="en-US" sz="1800" dirty="0">
                <a:solidFill>
                  <a:schemeClr val="dk1"/>
                </a:solidFill>
                <a:latin typeface="Arial"/>
                <a:ea typeface="Arial"/>
                <a:cs typeface="Arial"/>
                <a:sym typeface="Arial"/>
              </a:rPr>
              <a:t>('emp10.db')</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with con:</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cur = </a:t>
            </a:r>
            <a:r>
              <a:rPr lang="en-US" sz="1800" dirty="0" err="1">
                <a:solidFill>
                  <a:schemeClr val="dk1"/>
                </a:solidFill>
                <a:latin typeface="Arial"/>
                <a:ea typeface="Arial"/>
                <a:cs typeface="Arial"/>
                <a:sym typeface="Arial"/>
              </a:rPr>
              <a:t>con.cursor</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cur.execute</a:t>
            </a:r>
            <a:r>
              <a:rPr lang="en-US" sz="1800" dirty="0">
                <a:solidFill>
                  <a:schemeClr val="dk1"/>
                </a:solidFill>
                <a:latin typeface="Arial"/>
                <a:ea typeface="Arial"/>
                <a:cs typeface="Arial"/>
                <a:sym typeface="Arial"/>
              </a:rPr>
              <a:t>("SELECT * FROM COMPANY where SALARY &gt;=30000")</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rows = </a:t>
            </a:r>
            <a:r>
              <a:rPr lang="en-US" sz="1800" dirty="0" err="1">
                <a:solidFill>
                  <a:schemeClr val="dk1"/>
                </a:solidFill>
                <a:latin typeface="Arial"/>
                <a:ea typeface="Arial"/>
                <a:cs typeface="Arial"/>
                <a:sym typeface="Arial"/>
              </a:rPr>
              <a:t>cur.fetchall</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for row in rows:</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print (row)</a:t>
            </a:r>
            <a:endParaRPr dirty="0"/>
          </a:p>
        </p:txBody>
      </p:sp>
      <p:sp>
        <p:nvSpPr>
          <p:cNvPr id="693" name="Google Shape;693;p109"/>
          <p:cNvSpPr/>
          <p:nvPr/>
        </p:nvSpPr>
        <p:spPr>
          <a:xfrm>
            <a:off x="7793761" y="5169309"/>
            <a:ext cx="4613132"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(4, 'Mark', 25, 'Rich-Mond ', 65000.0)</a:t>
            </a:r>
            <a:endParaRPr dirty="0"/>
          </a:p>
        </p:txBody>
      </p:sp>
      <p:pic>
        <p:nvPicPr>
          <p:cNvPr id="2" name="Google Shape;133;p27">
            <a:extLst>
              <a:ext uri="{FF2B5EF4-FFF2-40B4-BE49-F238E27FC236}">
                <a16:creationId xmlns:a16="http://schemas.microsoft.com/office/drawing/2014/main" id="{5E861471-C8BC-14AD-15DC-DCA6CC904BA6}"/>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7F2EF7D3-F568-2DFB-37EB-0D9FFFCD32ED}"/>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4E703E20-E278-68D3-375A-B3F2070B20D4}"/>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110"/>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select with </a:t>
            </a:r>
            <a:r>
              <a:rPr lang="en-US" i="1"/>
              <a:t>order by </a:t>
            </a:r>
            <a:r>
              <a:rPr lang="en-US"/>
              <a:t>clause</a:t>
            </a:r>
            <a:endParaRPr/>
          </a:p>
        </p:txBody>
      </p:sp>
      <p:sp>
        <p:nvSpPr>
          <p:cNvPr id="699" name="Google Shape;699;p110"/>
          <p:cNvSpPr/>
          <p:nvPr/>
        </p:nvSpPr>
        <p:spPr>
          <a:xfrm>
            <a:off x="947737" y="1739502"/>
            <a:ext cx="8324082" cy="369331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import sqlite3 as lite</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con = </a:t>
            </a:r>
            <a:r>
              <a:rPr lang="en-US" sz="1800" dirty="0" err="1">
                <a:solidFill>
                  <a:schemeClr val="dk1"/>
                </a:solidFill>
                <a:latin typeface="Arial"/>
                <a:ea typeface="Arial"/>
                <a:cs typeface="Arial"/>
                <a:sym typeface="Arial"/>
              </a:rPr>
              <a:t>lite.connect</a:t>
            </a:r>
            <a:r>
              <a:rPr lang="en-US" sz="1800" dirty="0">
                <a:solidFill>
                  <a:schemeClr val="dk1"/>
                </a:solidFill>
                <a:latin typeface="Arial"/>
                <a:ea typeface="Arial"/>
                <a:cs typeface="Arial"/>
                <a:sym typeface="Arial"/>
              </a:rPr>
              <a:t>('emp10.db')</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with con:</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cur = </a:t>
            </a:r>
            <a:r>
              <a:rPr lang="en-US" sz="1800" dirty="0" err="1">
                <a:solidFill>
                  <a:schemeClr val="dk1"/>
                </a:solidFill>
                <a:latin typeface="Arial"/>
                <a:ea typeface="Arial"/>
                <a:cs typeface="Arial"/>
                <a:sym typeface="Arial"/>
              </a:rPr>
              <a:t>con.cursor</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cur.execute</a:t>
            </a:r>
            <a:r>
              <a:rPr lang="en-US" sz="1800" dirty="0">
                <a:solidFill>
                  <a:schemeClr val="dk1"/>
                </a:solidFill>
                <a:latin typeface="Arial"/>
                <a:ea typeface="Arial"/>
                <a:cs typeface="Arial"/>
                <a:sym typeface="Arial"/>
              </a:rPr>
              <a:t>("SELECT * FROM COMPANY ORDER BY  SALARY")</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rows = </a:t>
            </a:r>
            <a:r>
              <a:rPr lang="en-US" sz="1800" dirty="0" err="1">
                <a:solidFill>
                  <a:schemeClr val="dk1"/>
                </a:solidFill>
                <a:latin typeface="Arial"/>
                <a:ea typeface="Arial"/>
                <a:cs typeface="Arial"/>
                <a:sym typeface="Arial"/>
              </a:rPr>
              <a:t>cur.fetchall</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for row in rows:</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print (row)</a:t>
            </a:r>
            <a:endParaRPr dirty="0"/>
          </a:p>
        </p:txBody>
      </p:sp>
      <p:sp>
        <p:nvSpPr>
          <p:cNvPr id="700" name="Google Shape;700;p110"/>
          <p:cNvSpPr/>
          <p:nvPr/>
        </p:nvSpPr>
        <p:spPr>
          <a:xfrm>
            <a:off x="7043737" y="4711233"/>
            <a:ext cx="4710113" cy="12003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(2, 'Allen', 25, 'Texas', 15000.0)</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(1, 'Paul', 32, 'California', 20000.0)</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(3, 'Teddy', 23, 'Norway', 20000.0)</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(4, 'Mark', 25, 'Rich-Mond ', 65000.0)</a:t>
            </a:r>
            <a:endParaRPr dirty="0"/>
          </a:p>
        </p:txBody>
      </p:sp>
      <p:pic>
        <p:nvPicPr>
          <p:cNvPr id="2" name="Google Shape;133;p27">
            <a:extLst>
              <a:ext uri="{FF2B5EF4-FFF2-40B4-BE49-F238E27FC236}">
                <a16:creationId xmlns:a16="http://schemas.microsoft.com/office/drawing/2014/main" id="{CF44892A-7E59-92E0-B14C-6F0F476706B4}"/>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9F1DAB64-DC2D-2DBD-079B-7751F790FD38}"/>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0B184274-8D29-B75D-ED02-29715FA9D0C3}"/>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111"/>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sz="3200" dirty="0"/>
              <a:t>select with where clause (like operator)</a:t>
            </a:r>
            <a:endParaRPr sz="3200" dirty="0"/>
          </a:p>
        </p:txBody>
      </p:sp>
      <p:sp>
        <p:nvSpPr>
          <p:cNvPr id="706" name="Google Shape;706;p111"/>
          <p:cNvSpPr/>
          <p:nvPr/>
        </p:nvSpPr>
        <p:spPr>
          <a:xfrm>
            <a:off x="833437" y="1562517"/>
            <a:ext cx="10070537" cy="463180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import sqlite3 as lite</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con = </a:t>
            </a:r>
            <a:r>
              <a:rPr lang="en-US" sz="1800" dirty="0" err="1">
                <a:solidFill>
                  <a:schemeClr val="dk1"/>
                </a:solidFill>
                <a:latin typeface="Arial"/>
                <a:ea typeface="Arial"/>
                <a:cs typeface="Arial"/>
                <a:sym typeface="Arial"/>
              </a:rPr>
              <a:t>lite.connect</a:t>
            </a:r>
            <a:r>
              <a:rPr lang="en-US" sz="1800" dirty="0">
                <a:solidFill>
                  <a:schemeClr val="dk1"/>
                </a:solidFill>
                <a:latin typeface="Arial"/>
                <a:ea typeface="Arial"/>
                <a:cs typeface="Arial"/>
                <a:sym typeface="Arial"/>
              </a:rPr>
              <a:t>('emp10.db')</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with con:</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cur = </a:t>
            </a:r>
            <a:r>
              <a:rPr lang="en-US" sz="1800" dirty="0" err="1">
                <a:solidFill>
                  <a:schemeClr val="dk1"/>
                </a:solidFill>
                <a:latin typeface="Arial"/>
                <a:ea typeface="Arial"/>
                <a:cs typeface="Arial"/>
                <a:sym typeface="Arial"/>
              </a:rPr>
              <a:t>con.cursor</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cur.execute</a:t>
            </a:r>
            <a:r>
              <a:rPr lang="en-US" sz="1800" dirty="0">
                <a:solidFill>
                  <a:schemeClr val="dk1"/>
                </a:solidFill>
                <a:latin typeface="Arial"/>
                <a:ea typeface="Arial"/>
                <a:cs typeface="Arial"/>
                <a:sym typeface="Arial"/>
              </a:rPr>
              <a:t>("SELECT * FROM COMPANY WHERE NAME LIKE 'a%'")</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rows = </a:t>
            </a:r>
            <a:r>
              <a:rPr lang="en-US" sz="1800" dirty="0" err="1">
                <a:solidFill>
                  <a:schemeClr val="dk1"/>
                </a:solidFill>
                <a:latin typeface="Arial"/>
                <a:ea typeface="Arial"/>
                <a:cs typeface="Arial"/>
                <a:sym typeface="Arial"/>
              </a:rPr>
              <a:t>cur.fetchall</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for row in rows:</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print (row)</a:t>
            </a:r>
            <a:endParaRPr dirty="0"/>
          </a:p>
        </p:txBody>
      </p:sp>
      <p:sp>
        <p:nvSpPr>
          <p:cNvPr id="707" name="Google Shape;707;p111"/>
          <p:cNvSpPr/>
          <p:nvPr/>
        </p:nvSpPr>
        <p:spPr>
          <a:xfrm>
            <a:off x="7216877" y="5110817"/>
            <a:ext cx="4141686"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(2, 'Allen', 25, 'Texas', 15000.0)</a:t>
            </a:r>
            <a:endParaRPr dirty="0"/>
          </a:p>
        </p:txBody>
      </p:sp>
      <p:pic>
        <p:nvPicPr>
          <p:cNvPr id="2" name="Google Shape;133;p27">
            <a:extLst>
              <a:ext uri="{FF2B5EF4-FFF2-40B4-BE49-F238E27FC236}">
                <a16:creationId xmlns:a16="http://schemas.microsoft.com/office/drawing/2014/main" id="{08316C52-E852-3BF5-7216-AEFC08BA8143}"/>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D2A71702-DE3C-C2D5-01E1-61764FF483D0}"/>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23F0445D-E0FB-7524-125A-336F5A57C314}"/>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112"/>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select with where clause (max())</a:t>
            </a:r>
            <a:endParaRPr/>
          </a:p>
        </p:txBody>
      </p:sp>
      <p:sp>
        <p:nvSpPr>
          <p:cNvPr id="713" name="Google Shape;713;p112"/>
          <p:cNvSpPr/>
          <p:nvPr/>
        </p:nvSpPr>
        <p:spPr>
          <a:xfrm>
            <a:off x="876299" y="1443840"/>
            <a:ext cx="8926461" cy="503561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import sqlite3 as lite</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con = </a:t>
            </a:r>
            <a:r>
              <a:rPr lang="en-US" sz="1800" dirty="0" err="1">
                <a:solidFill>
                  <a:schemeClr val="dk1"/>
                </a:solidFill>
                <a:latin typeface="Arial"/>
                <a:ea typeface="Arial"/>
                <a:cs typeface="Arial"/>
                <a:sym typeface="Arial"/>
              </a:rPr>
              <a:t>lite.connect</a:t>
            </a:r>
            <a:r>
              <a:rPr lang="en-US" sz="1800" dirty="0">
                <a:solidFill>
                  <a:schemeClr val="dk1"/>
                </a:solidFill>
                <a:latin typeface="Arial"/>
                <a:ea typeface="Arial"/>
                <a:cs typeface="Arial"/>
                <a:sym typeface="Arial"/>
              </a:rPr>
              <a:t>('emp10.db')</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with con:</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cur = </a:t>
            </a:r>
            <a:r>
              <a:rPr lang="en-US" sz="1800" dirty="0" err="1">
                <a:solidFill>
                  <a:schemeClr val="dk1"/>
                </a:solidFill>
                <a:latin typeface="Arial"/>
                <a:ea typeface="Arial"/>
                <a:cs typeface="Arial"/>
                <a:sym typeface="Arial"/>
              </a:rPr>
              <a:t>con.cursor</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cur.execute</a:t>
            </a:r>
            <a:r>
              <a:rPr lang="en-US" sz="1800" dirty="0">
                <a:solidFill>
                  <a:schemeClr val="dk1"/>
                </a:solidFill>
                <a:latin typeface="Arial"/>
                <a:ea typeface="Arial"/>
                <a:cs typeface="Arial"/>
                <a:sym typeface="Arial"/>
              </a:rPr>
              <a:t>("SELECT MAX(salary) FROM COMPANY")</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rows = </a:t>
            </a:r>
            <a:r>
              <a:rPr lang="en-US" sz="1800" dirty="0" err="1">
                <a:solidFill>
                  <a:schemeClr val="dk1"/>
                </a:solidFill>
                <a:latin typeface="Arial"/>
                <a:ea typeface="Arial"/>
                <a:cs typeface="Arial"/>
                <a:sym typeface="Arial"/>
              </a:rPr>
              <a:t>cur.fetchall</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for row in rows:</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print (row)</a:t>
            </a:r>
            <a:endParaRPr dirty="0"/>
          </a:p>
        </p:txBody>
      </p:sp>
      <p:sp>
        <p:nvSpPr>
          <p:cNvPr id="714" name="Google Shape;714;p112"/>
          <p:cNvSpPr/>
          <p:nvPr/>
        </p:nvSpPr>
        <p:spPr>
          <a:xfrm>
            <a:off x="8286750" y="3805388"/>
            <a:ext cx="1700213" cy="307777"/>
          </a:xfrm>
          <a:prstGeom prst="rect">
            <a:avLst/>
          </a:prstGeom>
          <a:solidFill>
            <a:srgbClr val="FFFFF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(65000.0,)</a:t>
            </a:r>
            <a:r>
              <a:rPr lang="en-US" sz="2000" b="0" i="0" u="none" strike="noStrike" cap="none">
                <a:solidFill>
                  <a:schemeClr val="dk1"/>
                </a:solidFill>
                <a:latin typeface="Arial"/>
                <a:ea typeface="Arial"/>
                <a:cs typeface="Arial"/>
                <a:sym typeface="Arial"/>
              </a:rPr>
              <a:t> </a:t>
            </a:r>
            <a:endParaRPr/>
          </a:p>
        </p:txBody>
      </p:sp>
      <p:pic>
        <p:nvPicPr>
          <p:cNvPr id="2" name="Google Shape;133;p27">
            <a:extLst>
              <a:ext uri="{FF2B5EF4-FFF2-40B4-BE49-F238E27FC236}">
                <a16:creationId xmlns:a16="http://schemas.microsoft.com/office/drawing/2014/main" id="{31D90D5B-5EB4-C5F7-44CA-18F4F1B3D046}"/>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40E5B9EC-CD54-97F8-F9AE-892D899051E7}"/>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8FDF5452-9952-386D-84B0-28A246503FDC}"/>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8" name="Google Shape;138;p29"/>
          <p:cNvSpPr txBox="1">
            <a:spLocks noGrp="1"/>
          </p:cNvSpPr>
          <p:nvPr>
            <p:ph type="body" idx="1"/>
          </p:nvPr>
        </p:nvSpPr>
        <p:spPr>
          <a:xfrm>
            <a:off x="1137816" y="3044468"/>
            <a:ext cx="9719723" cy="169959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accent1"/>
              </a:buClr>
              <a:buSzPts val="4400"/>
              <a:buNone/>
            </a:pPr>
            <a:r>
              <a:rPr lang="en-US" sz="3800" dirty="0">
                <a:solidFill>
                  <a:schemeClr val="accent1"/>
                </a:solidFill>
              </a:rPr>
              <a:t>Working with JOINS </a:t>
            </a:r>
            <a:endParaRPr lang="en-US" sz="3800" dirty="0"/>
          </a:p>
        </p:txBody>
      </p:sp>
      <p:pic>
        <p:nvPicPr>
          <p:cNvPr id="2" name="Google Shape;133;p27">
            <a:extLst>
              <a:ext uri="{FF2B5EF4-FFF2-40B4-BE49-F238E27FC236}">
                <a16:creationId xmlns:a16="http://schemas.microsoft.com/office/drawing/2014/main" id="{CC77A008-DCC3-FF7E-CBD9-DE6F6265E92F}"/>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073B3FAC-C415-0228-87C8-CF9674967928}"/>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B6EECA8F-D491-AE0F-3456-74A114FCB8E9}"/>
              </a:ext>
            </a:extLst>
          </p:cNvPr>
          <p:cNvPicPr>
            <a:picLocks noChangeAspect="1"/>
          </p:cNvPicPr>
          <p:nvPr/>
        </p:nvPicPr>
        <p:blipFill>
          <a:blip r:embed="rId5"/>
          <a:stretch>
            <a:fillRect/>
          </a:stretch>
        </p:blipFill>
        <p:spPr>
          <a:xfrm>
            <a:off x="10042738" y="172072"/>
            <a:ext cx="2149262" cy="750770"/>
          </a:xfrm>
          <a:prstGeom prst="rect">
            <a:avLst/>
          </a:prstGeom>
        </p:spPr>
      </p:pic>
    </p:spTree>
    <p:extLst>
      <p:ext uri="{BB962C8B-B14F-4D97-AF65-F5344CB8AC3E}">
        <p14:creationId xmlns:p14="http://schemas.microsoft.com/office/powerpoint/2010/main" val="42143809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114"/>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Arial"/>
              <a:buNone/>
            </a:pPr>
            <a:r>
              <a:rPr lang="en-US">
                <a:solidFill>
                  <a:schemeClr val="accent1"/>
                </a:solidFill>
              </a:rPr>
              <a:t>Working with Joins using SQLite</a:t>
            </a:r>
            <a:endParaRPr/>
          </a:p>
        </p:txBody>
      </p:sp>
      <p:sp>
        <p:nvSpPr>
          <p:cNvPr id="727" name="Google Shape;727;p114"/>
          <p:cNvSpPr txBox="1">
            <a:spLocks noGrp="1"/>
          </p:cNvSpPr>
          <p:nvPr>
            <p:ph type="body" idx="1"/>
          </p:nvPr>
        </p:nvSpPr>
        <p:spPr>
          <a:xfrm>
            <a:off x="275492" y="1373836"/>
            <a:ext cx="11481079" cy="4635078"/>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000"/>
              <a:buFont typeface="Noto Sans Symbols"/>
              <a:buChar char="▪"/>
            </a:pPr>
            <a:r>
              <a:rPr lang="en-US" b="0" dirty="0"/>
              <a:t>SQLite JOINS are used to retrieve data from multiple tables.</a:t>
            </a:r>
            <a:endParaRPr dirty="0"/>
          </a:p>
          <a:p>
            <a:pPr marL="342900" lvl="0" indent="-342900" algn="l" rtl="0">
              <a:lnSpc>
                <a:spcPct val="150000"/>
              </a:lnSpc>
              <a:spcBef>
                <a:spcPts val="1800"/>
              </a:spcBef>
              <a:spcAft>
                <a:spcPts val="0"/>
              </a:spcAft>
              <a:buClr>
                <a:schemeClr val="dk1"/>
              </a:buClr>
              <a:buSzPts val="2000"/>
              <a:buFont typeface="Noto Sans Symbols"/>
              <a:buChar char="▪"/>
            </a:pPr>
            <a:r>
              <a:rPr lang="en-US" b="0" dirty="0"/>
              <a:t> An SQLite JOIN is performed whenever two or more tables are joined in a SQL statement.</a:t>
            </a:r>
            <a:endParaRPr dirty="0"/>
          </a:p>
          <a:p>
            <a:pPr marL="342900" lvl="0" indent="-342900" algn="l" rtl="0">
              <a:lnSpc>
                <a:spcPct val="150000"/>
              </a:lnSpc>
              <a:spcBef>
                <a:spcPts val="1800"/>
              </a:spcBef>
              <a:spcAft>
                <a:spcPts val="0"/>
              </a:spcAft>
              <a:buClr>
                <a:schemeClr val="dk1"/>
              </a:buClr>
              <a:buSzPts val="2000"/>
              <a:buFont typeface="Noto Sans Symbols"/>
              <a:buChar char="▪"/>
            </a:pPr>
            <a:r>
              <a:rPr lang="en-US" b="0" dirty="0"/>
              <a:t>There are different types of SQLite joins: </a:t>
            </a:r>
            <a:endParaRPr dirty="0"/>
          </a:p>
          <a:p>
            <a:pPr marL="914400" lvl="3" indent="-285750" algn="l" rtl="0">
              <a:lnSpc>
                <a:spcPct val="150000"/>
              </a:lnSpc>
              <a:spcBef>
                <a:spcPts val="1100"/>
              </a:spcBef>
              <a:spcAft>
                <a:spcPts val="0"/>
              </a:spcAft>
              <a:buClr>
                <a:schemeClr val="dk1"/>
              </a:buClr>
              <a:buSzPts val="1800"/>
              <a:buChar char="▪"/>
            </a:pPr>
            <a:r>
              <a:rPr lang="en-US" b="0" dirty="0"/>
              <a:t>INNER JOIN (or sometimes called simple join)</a:t>
            </a:r>
            <a:endParaRPr dirty="0"/>
          </a:p>
          <a:p>
            <a:pPr marL="914400" lvl="3" indent="-285750" algn="l" rtl="0">
              <a:lnSpc>
                <a:spcPct val="150000"/>
              </a:lnSpc>
              <a:spcBef>
                <a:spcPts val="500"/>
              </a:spcBef>
              <a:spcAft>
                <a:spcPts val="0"/>
              </a:spcAft>
              <a:buClr>
                <a:schemeClr val="dk1"/>
              </a:buClr>
              <a:buSzPts val="1800"/>
              <a:buChar char="▪"/>
            </a:pPr>
            <a:r>
              <a:rPr lang="en-US" b="0" dirty="0"/>
              <a:t>LEFT OUTER JOIN (or sometimes called LEFT JOIN)</a:t>
            </a:r>
            <a:endParaRPr dirty="0"/>
          </a:p>
          <a:p>
            <a:pPr marL="914400" lvl="3" indent="-285750" algn="l" rtl="0">
              <a:lnSpc>
                <a:spcPct val="150000"/>
              </a:lnSpc>
              <a:spcBef>
                <a:spcPts val="500"/>
              </a:spcBef>
              <a:spcAft>
                <a:spcPts val="0"/>
              </a:spcAft>
              <a:buClr>
                <a:schemeClr val="dk1"/>
              </a:buClr>
              <a:buSzPts val="1800"/>
              <a:buChar char="▪"/>
            </a:pPr>
            <a:r>
              <a:rPr lang="en-US" b="0" dirty="0"/>
              <a:t>CROSS JOIN</a:t>
            </a:r>
            <a:endParaRPr dirty="0"/>
          </a:p>
          <a:p>
            <a:pPr marL="914400" lvl="3" indent="-171450" algn="l" rtl="0">
              <a:lnSpc>
                <a:spcPct val="150000"/>
              </a:lnSpc>
              <a:spcBef>
                <a:spcPts val="500"/>
              </a:spcBef>
              <a:spcAft>
                <a:spcPts val="0"/>
              </a:spcAft>
              <a:buClr>
                <a:schemeClr val="dk1"/>
              </a:buClr>
              <a:buSzPts val="1800"/>
              <a:buNone/>
            </a:pPr>
            <a:endParaRPr dirty="0"/>
          </a:p>
          <a:p>
            <a:pPr marL="228600" lvl="1" indent="-228600" algn="l" rtl="0">
              <a:lnSpc>
                <a:spcPct val="150000"/>
              </a:lnSpc>
              <a:spcBef>
                <a:spcPts val="500"/>
              </a:spcBef>
              <a:spcAft>
                <a:spcPts val="0"/>
              </a:spcAft>
              <a:buClr>
                <a:schemeClr val="dk1"/>
              </a:buClr>
              <a:buSzPts val="1800"/>
              <a:buChar char="▪"/>
            </a:pPr>
            <a:r>
              <a:rPr lang="en-US" b="1" dirty="0">
                <a:solidFill>
                  <a:schemeClr val="dk1"/>
                </a:solidFill>
              </a:rPr>
              <a:t>Note :  SQLite doesn’t directly support the RIGHT JOIN and FULL OUTER JOIN.</a:t>
            </a:r>
            <a:endParaRPr dirty="0"/>
          </a:p>
          <a:p>
            <a:pPr marL="342900" lvl="0" indent="-215900" algn="l" rtl="0">
              <a:lnSpc>
                <a:spcPct val="150000"/>
              </a:lnSpc>
              <a:spcBef>
                <a:spcPts val="1200"/>
              </a:spcBef>
              <a:spcAft>
                <a:spcPts val="0"/>
              </a:spcAft>
              <a:buClr>
                <a:schemeClr val="dk1"/>
              </a:buClr>
              <a:buSzPts val="2000"/>
              <a:buFont typeface="Noto Sans Symbols"/>
              <a:buNone/>
            </a:pPr>
            <a:endParaRPr sz="2000" dirty="0">
              <a:solidFill>
                <a:schemeClr val="dk1"/>
              </a:solidFill>
            </a:endParaRPr>
          </a:p>
        </p:txBody>
      </p:sp>
      <p:pic>
        <p:nvPicPr>
          <p:cNvPr id="2" name="Google Shape;133;p27">
            <a:extLst>
              <a:ext uri="{FF2B5EF4-FFF2-40B4-BE49-F238E27FC236}">
                <a16:creationId xmlns:a16="http://schemas.microsoft.com/office/drawing/2014/main" id="{E4FBF243-2E1F-FE66-9232-B81996780F3D}"/>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9220E71D-FD7A-0462-1A75-9A2881073D34}"/>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2D27636B-DCFE-0340-7516-8D855CCAF15E}"/>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115"/>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Inner Join</a:t>
            </a:r>
            <a:endParaRPr/>
          </a:p>
        </p:txBody>
      </p:sp>
      <p:sp>
        <p:nvSpPr>
          <p:cNvPr id="733" name="Google Shape;733;p115"/>
          <p:cNvSpPr txBox="1">
            <a:spLocks noGrp="1"/>
          </p:cNvSpPr>
          <p:nvPr>
            <p:ph type="body" idx="1"/>
          </p:nvPr>
        </p:nvSpPr>
        <p:spPr>
          <a:xfrm>
            <a:off x="276224" y="1215010"/>
            <a:ext cx="11520000" cy="570928"/>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000"/>
              <a:buFont typeface="Noto Sans Symbols"/>
              <a:buChar char="▪"/>
            </a:pPr>
            <a:r>
              <a:rPr lang="en-US" b="0"/>
              <a:t>SQLite INNER JOINS return all rows from multiple tables where the join condition is met.</a:t>
            </a:r>
            <a:endParaRPr/>
          </a:p>
        </p:txBody>
      </p:sp>
      <p:sp>
        <p:nvSpPr>
          <p:cNvPr id="734" name="Google Shape;734;p115"/>
          <p:cNvSpPr/>
          <p:nvPr/>
        </p:nvSpPr>
        <p:spPr>
          <a:xfrm>
            <a:off x="647700" y="1980909"/>
            <a:ext cx="6096000" cy="175432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syntax for the INNER JOIN in SQLite is:</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SELECT columns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FROM table1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INNER JOIN table2</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ON table1.column = table2.column;</a:t>
            </a:r>
            <a:endParaRPr/>
          </a:p>
        </p:txBody>
      </p:sp>
      <p:pic>
        <p:nvPicPr>
          <p:cNvPr id="735" name="Google Shape;735;p115" descr="SQLite"/>
          <p:cNvPicPr preferRelativeResize="0"/>
          <p:nvPr/>
        </p:nvPicPr>
        <p:blipFill rotWithShape="1">
          <a:blip r:embed="rId3">
            <a:alphaModFix/>
          </a:blip>
          <a:srcRect/>
          <a:stretch/>
        </p:blipFill>
        <p:spPr>
          <a:xfrm>
            <a:off x="6443662" y="1995411"/>
            <a:ext cx="2686050" cy="1611630"/>
          </a:xfrm>
          <a:prstGeom prst="rect">
            <a:avLst/>
          </a:prstGeom>
          <a:noFill/>
          <a:ln>
            <a:noFill/>
          </a:ln>
        </p:spPr>
      </p:pic>
      <p:sp>
        <p:nvSpPr>
          <p:cNvPr id="736" name="Google Shape;736;p115"/>
          <p:cNvSpPr/>
          <p:nvPr/>
        </p:nvSpPr>
        <p:spPr>
          <a:xfrm>
            <a:off x="6036224" y="3665549"/>
            <a:ext cx="4627014"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In this visual diagram, the SQLite INNER JOIN returns the shaded area:</a:t>
            </a:r>
            <a:endParaRPr/>
          </a:p>
        </p:txBody>
      </p:sp>
      <p:sp>
        <p:nvSpPr>
          <p:cNvPr id="737" name="Google Shape;737;p115"/>
          <p:cNvSpPr/>
          <p:nvPr/>
        </p:nvSpPr>
        <p:spPr>
          <a:xfrm>
            <a:off x="565425" y="3988714"/>
            <a:ext cx="5553074" cy="2126864"/>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SELECT employees.employee_id, employees.last_name, positions.title</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FROM employees </a:t>
            </a:r>
            <a:endParaRPr/>
          </a:p>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INNER JOIN positions</a:t>
            </a:r>
            <a:endParaRPr/>
          </a:p>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ON employees.position_id = positions.position_id;</a:t>
            </a:r>
            <a:endParaRPr/>
          </a:p>
        </p:txBody>
      </p:sp>
      <p:sp>
        <p:nvSpPr>
          <p:cNvPr id="738" name="Google Shape;738;p115"/>
          <p:cNvSpPr/>
          <p:nvPr/>
        </p:nvSpPr>
        <p:spPr>
          <a:xfrm>
            <a:off x="6495560" y="4691516"/>
            <a:ext cx="5343526" cy="12003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333333"/>
                </a:solidFill>
                <a:latin typeface="Helvetica Neue"/>
                <a:ea typeface="Helvetica Neue"/>
                <a:cs typeface="Helvetica Neue"/>
                <a:sym typeface="Helvetica Neue"/>
              </a:rPr>
              <a:t>return all rows from the </a:t>
            </a:r>
            <a:r>
              <a:rPr lang="en-US" sz="1800" i="1">
                <a:solidFill>
                  <a:srgbClr val="333333"/>
                </a:solidFill>
                <a:latin typeface="Helvetica Neue"/>
                <a:ea typeface="Helvetica Neue"/>
                <a:cs typeface="Helvetica Neue"/>
                <a:sym typeface="Helvetica Neue"/>
              </a:rPr>
              <a:t>employees</a:t>
            </a:r>
            <a:r>
              <a:rPr lang="en-US" sz="1800">
                <a:solidFill>
                  <a:srgbClr val="333333"/>
                </a:solidFill>
                <a:latin typeface="Helvetica Neue"/>
                <a:ea typeface="Helvetica Neue"/>
                <a:cs typeface="Helvetica Neue"/>
                <a:sym typeface="Helvetica Neue"/>
              </a:rPr>
              <a:t> and </a:t>
            </a:r>
            <a:r>
              <a:rPr lang="en-US" sz="1800" i="1">
                <a:solidFill>
                  <a:srgbClr val="333333"/>
                </a:solidFill>
                <a:latin typeface="Helvetica Neue"/>
                <a:ea typeface="Helvetica Neue"/>
                <a:cs typeface="Helvetica Neue"/>
                <a:sym typeface="Helvetica Neue"/>
              </a:rPr>
              <a:t>positions</a:t>
            </a:r>
            <a:r>
              <a:rPr lang="en-US" sz="1800">
                <a:solidFill>
                  <a:srgbClr val="333333"/>
                </a:solidFill>
                <a:latin typeface="Helvetica Neue"/>
                <a:ea typeface="Helvetica Neue"/>
                <a:cs typeface="Helvetica Neue"/>
                <a:sym typeface="Helvetica Neue"/>
              </a:rPr>
              <a:t> tables where there is a matching </a:t>
            </a:r>
            <a:r>
              <a:rPr lang="en-US" sz="1800" i="1">
                <a:solidFill>
                  <a:srgbClr val="333333"/>
                </a:solidFill>
                <a:latin typeface="Helvetica Neue"/>
                <a:ea typeface="Helvetica Neue"/>
                <a:cs typeface="Helvetica Neue"/>
                <a:sym typeface="Helvetica Neue"/>
              </a:rPr>
              <a:t>position_id</a:t>
            </a:r>
            <a:r>
              <a:rPr lang="en-US" sz="1800">
                <a:solidFill>
                  <a:srgbClr val="333333"/>
                </a:solidFill>
                <a:latin typeface="Helvetica Neue"/>
                <a:ea typeface="Helvetica Neue"/>
                <a:cs typeface="Helvetica Neue"/>
                <a:sym typeface="Helvetica Neue"/>
              </a:rPr>
              <a:t> value in both the </a:t>
            </a:r>
            <a:r>
              <a:rPr lang="en-US" sz="1800" i="1">
                <a:solidFill>
                  <a:srgbClr val="333333"/>
                </a:solidFill>
                <a:latin typeface="Helvetica Neue"/>
                <a:ea typeface="Helvetica Neue"/>
                <a:cs typeface="Helvetica Neue"/>
                <a:sym typeface="Helvetica Neue"/>
              </a:rPr>
              <a:t>employees</a:t>
            </a:r>
            <a:r>
              <a:rPr lang="en-US" sz="1800">
                <a:solidFill>
                  <a:srgbClr val="333333"/>
                </a:solidFill>
                <a:latin typeface="Helvetica Neue"/>
                <a:ea typeface="Helvetica Neue"/>
                <a:cs typeface="Helvetica Neue"/>
                <a:sym typeface="Helvetica Neue"/>
              </a:rPr>
              <a:t> and </a:t>
            </a:r>
            <a:r>
              <a:rPr lang="en-US" sz="1800" i="1">
                <a:solidFill>
                  <a:srgbClr val="333333"/>
                </a:solidFill>
                <a:latin typeface="Helvetica Neue"/>
                <a:ea typeface="Helvetica Neue"/>
                <a:cs typeface="Helvetica Neue"/>
                <a:sym typeface="Helvetica Neue"/>
              </a:rPr>
              <a:t>positions</a:t>
            </a:r>
            <a:r>
              <a:rPr lang="en-US" sz="1800">
                <a:solidFill>
                  <a:srgbClr val="333333"/>
                </a:solidFill>
                <a:latin typeface="Helvetica Neue"/>
                <a:ea typeface="Helvetica Neue"/>
                <a:cs typeface="Helvetica Neue"/>
                <a:sym typeface="Helvetica Neue"/>
              </a:rPr>
              <a:t> tables.</a:t>
            </a:r>
            <a:endParaRPr sz="1800">
              <a:solidFill>
                <a:schemeClr val="dk1"/>
              </a:solidFill>
              <a:latin typeface="Arial"/>
              <a:ea typeface="Arial"/>
              <a:cs typeface="Arial"/>
              <a:sym typeface="Arial"/>
            </a:endParaRPr>
          </a:p>
        </p:txBody>
      </p:sp>
      <p:pic>
        <p:nvPicPr>
          <p:cNvPr id="2" name="Google Shape;133;p27">
            <a:extLst>
              <a:ext uri="{FF2B5EF4-FFF2-40B4-BE49-F238E27FC236}">
                <a16:creationId xmlns:a16="http://schemas.microsoft.com/office/drawing/2014/main" id="{B5B24DA0-08AF-1EEB-B7D9-AD4BD23D0D9D}"/>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8AA8663F-5F35-CCB3-ACCC-C49A6A863708}"/>
              </a:ext>
            </a:extLst>
          </p:cNvPr>
          <p:cNvPicPr preferRelativeResize="0"/>
          <p:nvPr/>
        </p:nvPicPr>
        <p:blipFill rotWithShape="1">
          <a:blip r:embed="rId5">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0FD9D273-3FBB-1223-BF12-98ADFE548028}"/>
              </a:ext>
            </a:extLst>
          </p:cNvPr>
          <p:cNvPicPr>
            <a:picLocks noChangeAspect="1"/>
          </p:cNvPicPr>
          <p:nvPr/>
        </p:nvPicPr>
        <p:blipFill>
          <a:blip r:embed="rId6"/>
          <a:stretch>
            <a:fillRect/>
          </a:stretch>
        </p:blipFill>
        <p:spPr>
          <a:xfrm>
            <a:off x="10042738" y="172072"/>
            <a:ext cx="2149262" cy="75077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116"/>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Inner Join</a:t>
            </a:r>
            <a:endParaRPr/>
          </a:p>
        </p:txBody>
      </p:sp>
      <p:pic>
        <p:nvPicPr>
          <p:cNvPr id="744" name="Google Shape;744;p116"/>
          <p:cNvPicPr preferRelativeResize="0"/>
          <p:nvPr/>
        </p:nvPicPr>
        <p:blipFill rotWithShape="1">
          <a:blip r:embed="rId3">
            <a:alphaModFix/>
          </a:blip>
          <a:srcRect/>
          <a:stretch/>
        </p:blipFill>
        <p:spPr>
          <a:xfrm>
            <a:off x="590550" y="1590675"/>
            <a:ext cx="3867150" cy="1562100"/>
          </a:xfrm>
          <a:prstGeom prst="rect">
            <a:avLst/>
          </a:prstGeom>
          <a:noFill/>
          <a:ln>
            <a:noFill/>
          </a:ln>
        </p:spPr>
      </p:pic>
      <p:pic>
        <p:nvPicPr>
          <p:cNvPr id="745" name="Google Shape;745;p116"/>
          <p:cNvPicPr preferRelativeResize="0"/>
          <p:nvPr/>
        </p:nvPicPr>
        <p:blipFill rotWithShape="1">
          <a:blip r:embed="rId4">
            <a:alphaModFix/>
          </a:blip>
          <a:srcRect/>
          <a:stretch/>
        </p:blipFill>
        <p:spPr>
          <a:xfrm>
            <a:off x="4948237" y="1585912"/>
            <a:ext cx="2295525" cy="1571625"/>
          </a:xfrm>
          <a:prstGeom prst="rect">
            <a:avLst/>
          </a:prstGeom>
          <a:noFill/>
          <a:ln>
            <a:noFill/>
          </a:ln>
        </p:spPr>
      </p:pic>
      <p:pic>
        <p:nvPicPr>
          <p:cNvPr id="746" name="Google Shape;746;p116"/>
          <p:cNvPicPr preferRelativeResize="0"/>
          <p:nvPr/>
        </p:nvPicPr>
        <p:blipFill rotWithShape="1">
          <a:blip r:embed="rId5">
            <a:alphaModFix/>
          </a:blip>
          <a:srcRect/>
          <a:stretch/>
        </p:blipFill>
        <p:spPr>
          <a:xfrm>
            <a:off x="8091487" y="1719261"/>
            <a:ext cx="3381375" cy="1304925"/>
          </a:xfrm>
          <a:prstGeom prst="rect">
            <a:avLst/>
          </a:prstGeom>
          <a:noFill/>
          <a:ln>
            <a:noFill/>
          </a:ln>
        </p:spPr>
      </p:pic>
      <p:sp>
        <p:nvSpPr>
          <p:cNvPr id="747" name="Google Shape;747;p116"/>
          <p:cNvSpPr/>
          <p:nvPr/>
        </p:nvSpPr>
        <p:spPr>
          <a:xfrm>
            <a:off x="590550" y="3512999"/>
            <a:ext cx="11110914" cy="2125069"/>
          </a:xfrm>
          <a:prstGeom prst="rect">
            <a:avLst/>
          </a:prstGeom>
          <a:noFill/>
          <a:ln>
            <a:noFill/>
          </a:ln>
        </p:spPr>
        <p:txBody>
          <a:bodyPr spcFirstLastPara="1" wrap="square" lIns="91425" tIns="45700" rIns="91425" bIns="45700" anchor="t" anchorCtr="0">
            <a:noAutofit/>
          </a:bodyPr>
          <a:lstStyle/>
          <a:p>
            <a:pPr marL="285750" marR="0" lvl="0" indent="-285750" algn="l" rtl="0">
              <a:lnSpc>
                <a:spcPct val="150000"/>
              </a:lnSpc>
              <a:spcBef>
                <a:spcPts val="0"/>
              </a:spcBef>
              <a:spcAft>
                <a:spcPts val="0"/>
              </a:spcAft>
              <a:buClr>
                <a:srgbClr val="333333"/>
              </a:buClr>
              <a:buSzPts val="1800"/>
              <a:buFont typeface="Arial"/>
              <a:buChar char="•"/>
            </a:pPr>
            <a:r>
              <a:rPr lang="en-US" sz="1800">
                <a:solidFill>
                  <a:srgbClr val="333333"/>
                </a:solidFill>
                <a:latin typeface="Helvetica Neue"/>
                <a:ea typeface="Helvetica Neue"/>
                <a:cs typeface="Helvetica Neue"/>
                <a:sym typeface="Helvetica Neue"/>
              </a:rPr>
              <a:t>The row for </a:t>
            </a:r>
            <a:r>
              <a:rPr lang="en-US" sz="1800" i="1">
                <a:solidFill>
                  <a:srgbClr val="333333"/>
                </a:solidFill>
                <a:latin typeface="Helvetica Neue"/>
                <a:ea typeface="Helvetica Neue"/>
                <a:cs typeface="Helvetica Neue"/>
                <a:sym typeface="Helvetica Neue"/>
              </a:rPr>
              <a:t>employee_id</a:t>
            </a:r>
            <a:r>
              <a:rPr lang="en-US" sz="1800">
                <a:solidFill>
                  <a:srgbClr val="333333"/>
                </a:solidFill>
                <a:latin typeface="Helvetica Neue"/>
                <a:ea typeface="Helvetica Neue"/>
                <a:cs typeface="Helvetica Neue"/>
                <a:sym typeface="Helvetica Neue"/>
              </a:rPr>
              <a:t> 10003 from the </a:t>
            </a:r>
            <a:r>
              <a:rPr lang="en-US" sz="1800" i="1">
                <a:solidFill>
                  <a:srgbClr val="333333"/>
                </a:solidFill>
                <a:latin typeface="Helvetica Neue"/>
                <a:ea typeface="Helvetica Neue"/>
                <a:cs typeface="Helvetica Neue"/>
                <a:sym typeface="Helvetica Neue"/>
              </a:rPr>
              <a:t>employees</a:t>
            </a:r>
            <a:r>
              <a:rPr lang="en-US" sz="1800">
                <a:solidFill>
                  <a:srgbClr val="333333"/>
                </a:solidFill>
                <a:latin typeface="Helvetica Neue"/>
                <a:ea typeface="Helvetica Neue"/>
                <a:cs typeface="Helvetica Neue"/>
                <a:sym typeface="Helvetica Neue"/>
              </a:rPr>
              <a:t> table would be omitted, since the corresponding </a:t>
            </a:r>
            <a:r>
              <a:rPr lang="en-US" sz="1800" i="1">
                <a:solidFill>
                  <a:srgbClr val="333333"/>
                </a:solidFill>
                <a:latin typeface="Helvetica Neue"/>
                <a:ea typeface="Helvetica Neue"/>
                <a:cs typeface="Helvetica Neue"/>
                <a:sym typeface="Helvetica Neue"/>
              </a:rPr>
              <a:t>position_id</a:t>
            </a:r>
            <a:r>
              <a:rPr lang="en-US" sz="1800">
                <a:solidFill>
                  <a:srgbClr val="333333"/>
                </a:solidFill>
                <a:latin typeface="Helvetica Neue"/>
                <a:ea typeface="Helvetica Neue"/>
                <a:cs typeface="Helvetica Neue"/>
                <a:sym typeface="Helvetica Neue"/>
              </a:rPr>
              <a:t> does not exist in the </a:t>
            </a:r>
            <a:r>
              <a:rPr lang="en-US" sz="1800" i="1">
                <a:solidFill>
                  <a:srgbClr val="333333"/>
                </a:solidFill>
                <a:latin typeface="Helvetica Neue"/>
                <a:ea typeface="Helvetica Neue"/>
                <a:cs typeface="Helvetica Neue"/>
                <a:sym typeface="Helvetica Neue"/>
              </a:rPr>
              <a:t>positions</a:t>
            </a:r>
            <a:r>
              <a:rPr lang="en-US" sz="1800">
                <a:solidFill>
                  <a:srgbClr val="333333"/>
                </a:solidFill>
                <a:latin typeface="Helvetica Neue"/>
                <a:ea typeface="Helvetica Neue"/>
                <a:cs typeface="Helvetica Neue"/>
                <a:sym typeface="Helvetica Neue"/>
              </a:rPr>
              <a:t> table. </a:t>
            </a:r>
            <a:endParaRPr/>
          </a:p>
          <a:p>
            <a:pPr marL="0" marR="0" lvl="0" indent="0" algn="l" rtl="0">
              <a:lnSpc>
                <a:spcPct val="150000"/>
              </a:lnSpc>
              <a:spcBef>
                <a:spcPts val="0"/>
              </a:spcBef>
              <a:spcAft>
                <a:spcPts val="0"/>
              </a:spcAft>
              <a:buNone/>
            </a:pPr>
            <a:endParaRPr sz="1800">
              <a:solidFill>
                <a:srgbClr val="333333"/>
              </a:solidFill>
              <a:latin typeface="Helvetica Neue"/>
              <a:ea typeface="Helvetica Neue"/>
              <a:cs typeface="Helvetica Neue"/>
              <a:sym typeface="Helvetica Neue"/>
            </a:endParaRPr>
          </a:p>
          <a:p>
            <a:pPr marL="285750" marR="0" lvl="0" indent="-285750" algn="l" rtl="0">
              <a:lnSpc>
                <a:spcPct val="150000"/>
              </a:lnSpc>
              <a:spcBef>
                <a:spcPts val="0"/>
              </a:spcBef>
              <a:spcAft>
                <a:spcPts val="0"/>
              </a:spcAft>
              <a:buClr>
                <a:srgbClr val="333333"/>
              </a:buClr>
              <a:buSzPts val="1800"/>
              <a:buFont typeface="Arial"/>
              <a:buChar char="•"/>
            </a:pPr>
            <a:r>
              <a:rPr lang="en-US" sz="1800">
                <a:solidFill>
                  <a:srgbClr val="333333"/>
                </a:solidFill>
                <a:latin typeface="Helvetica Neue"/>
                <a:ea typeface="Helvetica Neue"/>
                <a:cs typeface="Helvetica Neue"/>
                <a:sym typeface="Helvetica Neue"/>
              </a:rPr>
              <a:t>The row for the </a:t>
            </a:r>
            <a:r>
              <a:rPr lang="en-US" sz="1800" i="1">
                <a:solidFill>
                  <a:srgbClr val="333333"/>
                </a:solidFill>
                <a:latin typeface="Helvetica Neue"/>
                <a:ea typeface="Helvetica Neue"/>
                <a:cs typeface="Helvetica Neue"/>
                <a:sym typeface="Helvetica Neue"/>
              </a:rPr>
              <a:t>position_id</a:t>
            </a:r>
            <a:r>
              <a:rPr lang="en-US" sz="1800">
                <a:solidFill>
                  <a:srgbClr val="333333"/>
                </a:solidFill>
                <a:latin typeface="Helvetica Neue"/>
                <a:ea typeface="Helvetica Neue"/>
                <a:cs typeface="Helvetica Neue"/>
                <a:sym typeface="Helvetica Neue"/>
              </a:rPr>
              <a:t> of 4 from the </a:t>
            </a:r>
            <a:r>
              <a:rPr lang="en-US" sz="1800" i="1">
                <a:solidFill>
                  <a:srgbClr val="333333"/>
                </a:solidFill>
                <a:latin typeface="Helvetica Neue"/>
                <a:ea typeface="Helvetica Neue"/>
                <a:cs typeface="Helvetica Neue"/>
                <a:sym typeface="Helvetica Neue"/>
              </a:rPr>
              <a:t>positions</a:t>
            </a:r>
            <a:r>
              <a:rPr lang="en-US" sz="1800">
                <a:solidFill>
                  <a:srgbClr val="333333"/>
                </a:solidFill>
                <a:latin typeface="Helvetica Neue"/>
                <a:ea typeface="Helvetica Neue"/>
                <a:cs typeface="Helvetica Neue"/>
                <a:sym typeface="Helvetica Neue"/>
              </a:rPr>
              <a:t> table would be omitted, since that </a:t>
            </a:r>
            <a:r>
              <a:rPr lang="en-US" sz="1800" i="1">
                <a:solidFill>
                  <a:srgbClr val="333333"/>
                </a:solidFill>
                <a:latin typeface="Helvetica Neue"/>
                <a:ea typeface="Helvetica Neue"/>
                <a:cs typeface="Helvetica Neue"/>
                <a:sym typeface="Helvetica Neue"/>
              </a:rPr>
              <a:t>position_id</a:t>
            </a:r>
            <a:r>
              <a:rPr lang="en-US" sz="1800">
                <a:solidFill>
                  <a:srgbClr val="333333"/>
                </a:solidFill>
                <a:latin typeface="Helvetica Neue"/>
                <a:ea typeface="Helvetica Neue"/>
                <a:cs typeface="Helvetica Neue"/>
                <a:sym typeface="Helvetica Neue"/>
              </a:rPr>
              <a:t> does not exist in the </a:t>
            </a:r>
            <a:r>
              <a:rPr lang="en-US" sz="1800" i="1">
                <a:solidFill>
                  <a:srgbClr val="333333"/>
                </a:solidFill>
                <a:latin typeface="Helvetica Neue"/>
                <a:ea typeface="Helvetica Neue"/>
                <a:cs typeface="Helvetica Neue"/>
                <a:sym typeface="Helvetica Neue"/>
              </a:rPr>
              <a:t>employees</a:t>
            </a:r>
            <a:r>
              <a:rPr lang="en-US" sz="1800">
                <a:solidFill>
                  <a:srgbClr val="333333"/>
                </a:solidFill>
                <a:latin typeface="Helvetica Neue"/>
                <a:ea typeface="Helvetica Neue"/>
                <a:cs typeface="Helvetica Neue"/>
                <a:sym typeface="Helvetica Neue"/>
              </a:rPr>
              <a:t> table.</a:t>
            </a:r>
            <a:endParaRPr sz="1800">
              <a:solidFill>
                <a:schemeClr val="dk1"/>
              </a:solidFill>
              <a:latin typeface="Arial"/>
              <a:ea typeface="Arial"/>
              <a:cs typeface="Arial"/>
              <a:sym typeface="Arial"/>
            </a:endParaRPr>
          </a:p>
        </p:txBody>
      </p:sp>
      <p:sp>
        <p:nvSpPr>
          <p:cNvPr id="748" name="Google Shape;748;p116"/>
          <p:cNvSpPr/>
          <p:nvPr/>
        </p:nvSpPr>
        <p:spPr>
          <a:xfrm>
            <a:off x="1713300" y="1130481"/>
            <a:ext cx="1364476"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i="1">
                <a:solidFill>
                  <a:srgbClr val="333333"/>
                </a:solidFill>
                <a:latin typeface="Helvetica Neue"/>
                <a:ea typeface="Helvetica Neue"/>
                <a:cs typeface="Helvetica Neue"/>
                <a:sym typeface="Helvetica Neue"/>
              </a:rPr>
              <a:t>employees</a:t>
            </a:r>
            <a:r>
              <a:rPr lang="en-US" sz="1800">
                <a:solidFill>
                  <a:srgbClr val="333333"/>
                </a:solidFill>
                <a:latin typeface="Helvetica Neue"/>
                <a:ea typeface="Helvetica Neue"/>
                <a:cs typeface="Helvetica Neue"/>
                <a:sym typeface="Helvetica Neue"/>
              </a:rPr>
              <a:t> </a:t>
            </a:r>
            <a:endParaRPr sz="1800">
              <a:solidFill>
                <a:schemeClr val="dk1"/>
              </a:solidFill>
              <a:latin typeface="Arial"/>
              <a:ea typeface="Arial"/>
              <a:cs typeface="Arial"/>
              <a:sym typeface="Arial"/>
            </a:endParaRPr>
          </a:p>
        </p:txBody>
      </p:sp>
      <p:sp>
        <p:nvSpPr>
          <p:cNvPr id="749" name="Google Shape;749;p116"/>
          <p:cNvSpPr/>
          <p:nvPr/>
        </p:nvSpPr>
        <p:spPr>
          <a:xfrm>
            <a:off x="5516353" y="1173717"/>
            <a:ext cx="1159292"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i="1">
                <a:solidFill>
                  <a:srgbClr val="333333"/>
                </a:solidFill>
                <a:latin typeface="Helvetica Neue"/>
                <a:ea typeface="Helvetica Neue"/>
                <a:cs typeface="Helvetica Neue"/>
                <a:sym typeface="Helvetica Neue"/>
              </a:rPr>
              <a:t>positions</a:t>
            </a:r>
            <a:r>
              <a:rPr lang="en-US" sz="1800">
                <a:solidFill>
                  <a:srgbClr val="333333"/>
                </a:solidFill>
                <a:latin typeface="Helvetica Neue"/>
                <a:ea typeface="Helvetica Neue"/>
                <a:cs typeface="Helvetica Neue"/>
                <a:sym typeface="Helvetica Neue"/>
              </a:rPr>
              <a:t> </a:t>
            </a:r>
            <a:endParaRPr sz="1800">
              <a:solidFill>
                <a:schemeClr val="dk1"/>
              </a:solidFill>
              <a:latin typeface="Arial"/>
              <a:ea typeface="Arial"/>
              <a:cs typeface="Arial"/>
              <a:sym typeface="Arial"/>
            </a:endParaRPr>
          </a:p>
        </p:txBody>
      </p:sp>
      <p:sp>
        <p:nvSpPr>
          <p:cNvPr id="750" name="Google Shape;750;p116"/>
          <p:cNvSpPr/>
          <p:nvPr/>
        </p:nvSpPr>
        <p:spPr>
          <a:xfrm>
            <a:off x="9012028" y="1174414"/>
            <a:ext cx="146706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333333"/>
                </a:solidFill>
                <a:latin typeface="Helvetica Neue"/>
                <a:ea typeface="Helvetica Neue"/>
                <a:cs typeface="Helvetica Neue"/>
                <a:sym typeface="Helvetica Neue"/>
              </a:rPr>
              <a:t>Result table </a:t>
            </a:r>
            <a:endParaRPr sz="1800">
              <a:solidFill>
                <a:schemeClr val="dk1"/>
              </a:solidFill>
              <a:latin typeface="Arial"/>
              <a:ea typeface="Arial"/>
              <a:cs typeface="Arial"/>
              <a:sym typeface="Arial"/>
            </a:endParaRPr>
          </a:p>
        </p:txBody>
      </p:sp>
      <p:pic>
        <p:nvPicPr>
          <p:cNvPr id="2" name="Google Shape;133;p27">
            <a:extLst>
              <a:ext uri="{FF2B5EF4-FFF2-40B4-BE49-F238E27FC236}">
                <a16:creationId xmlns:a16="http://schemas.microsoft.com/office/drawing/2014/main" id="{14337C4A-EA9F-79F4-3C86-E4633C6D9575}"/>
              </a:ext>
            </a:extLst>
          </p:cNvPr>
          <p:cNvPicPr preferRelativeResize="0"/>
          <p:nvPr/>
        </p:nvPicPr>
        <p:blipFill rotWithShape="1">
          <a:blip r:embed="rId6">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C7B7D8D3-9BE1-9B90-C3C4-B5C6BFA9A257}"/>
              </a:ext>
            </a:extLst>
          </p:cNvPr>
          <p:cNvPicPr preferRelativeResize="0"/>
          <p:nvPr/>
        </p:nvPicPr>
        <p:blipFill rotWithShape="1">
          <a:blip r:embed="rId7">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DCF64621-1C8B-B557-5F23-8A9BB219661C}"/>
              </a:ext>
            </a:extLst>
          </p:cNvPr>
          <p:cNvPicPr>
            <a:picLocks noChangeAspect="1"/>
          </p:cNvPicPr>
          <p:nvPr/>
        </p:nvPicPr>
        <p:blipFill>
          <a:blip r:embed="rId8"/>
          <a:stretch>
            <a:fillRect/>
          </a:stretch>
        </p:blipFill>
        <p:spPr>
          <a:xfrm>
            <a:off x="10042738" y="172072"/>
            <a:ext cx="2149262" cy="75077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117"/>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Implementation of inner join</a:t>
            </a:r>
            <a:endParaRPr/>
          </a:p>
        </p:txBody>
      </p:sp>
      <p:sp>
        <p:nvSpPr>
          <p:cNvPr id="756" name="Google Shape;756;p117"/>
          <p:cNvSpPr/>
          <p:nvPr/>
        </p:nvSpPr>
        <p:spPr>
          <a:xfrm>
            <a:off x="400050" y="1135946"/>
            <a:ext cx="8389989" cy="48013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 Inner Join</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import sqlite3 as lite</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con = </a:t>
            </a:r>
            <a:r>
              <a:rPr lang="en-US" sz="1800" dirty="0" err="1">
                <a:solidFill>
                  <a:schemeClr val="dk1"/>
                </a:solidFill>
                <a:latin typeface="Arial"/>
                <a:ea typeface="Arial"/>
                <a:cs typeface="Arial"/>
                <a:sym typeface="Arial"/>
              </a:rPr>
              <a:t>lite.connect</a:t>
            </a:r>
            <a:r>
              <a:rPr lang="en-US" sz="1800" dirty="0">
                <a:solidFill>
                  <a:schemeClr val="dk1"/>
                </a:solidFill>
                <a:latin typeface="Arial"/>
                <a:ea typeface="Arial"/>
                <a:cs typeface="Arial"/>
                <a:sym typeface="Arial"/>
              </a:rPr>
              <a:t>('</a:t>
            </a:r>
            <a:r>
              <a:rPr lang="en-US" sz="1800" dirty="0" err="1">
                <a:solidFill>
                  <a:schemeClr val="dk1"/>
                </a:solidFill>
                <a:latin typeface="Arial"/>
                <a:ea typeface="Arial"/>
                <a:cs typeface="Arial"/>
                <a:sym typeface="Arial"/>
              </a:rPr>
              <a:t>my.db</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with con:</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cur = </a:t>
            </a:r>
            <a:r>
              <a:rPr lang="en-US" sz="1800" dirty="0" err="1">
                <a:solidFill>
                  <a:schemeClr val="dk1"/>
                </a:solidFill>
                <a:latin typeface="Arial"/>
                <a:ea typeface="Arial"/>
                <a:cs typeface="Arial"/>
                <a:sym typeface="Arial"/>
              </a:rPr>
              <a:t>con.cursor</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cur.execute</a:t>
            </a:r>
            <a:r>
              <a:rPr lang="en-US" sz="1800" dirty="0">
                <a:solidFill>
                  <a:schemeClr val="dk1"/>
                </a:solidFill>
                <a:latin typeface="Arial"/>
                <a:ea typeface="Arial"/>
                <a:cs typeface="Arial"/>
                <a:sym typeface="Arial"/>
              </a:rPr>
              <a:t>("SELECT </a:t>
            </a:r>
            <a:r>
              <a:rPr lang="en-US" sz="1800" dirty="0" err="1">
                <a:solidFill>
                  <a:schemeClr val="dk1"/>
                </a:solidFill>
                <a:latin typeface="Arial"/>
                <a:ea typeface="Arial"/>
                <a:cs typeface="Arial"/>
                <a:sym typeface="Arial"/>
              </a:rPr>
              <a:t>employees.employee_id</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employees.last_name</a:t>
            </a:r>
            <a:r>
              <a:rPr lang="en-US" sz="1800"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positions.title</a:t>
            </a:r>
            <a:r>
              <a:rPr lang="en-US" sz="1800" dirty="0">
                <a:solidFill>
                  <a:schemeClr val="dk1"/>
                </a:solidFill>
                <a:latin typeface="Arial"/>
                <a:ea typeface="Arial"/>
                <a:cs typeface="Arial"/>
                <a:sym typeface="Arial"/>
              </a:rPr>
              <a:t> FROM  employees INNER JOIN positions ON </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employees.position_id</a:t>
            </a:r>
            <a:r>
              <a:rPr lang="en-US" sz="1800" dirty="0">
                <a:solidFill>
                  <a:schemeClr val="dk1"/>
                </a:solidFill>
                <a:latin typeface="Arial"/>
                <a:ea typeface="Arial"/>
                <a:cs typeface="Arial"/>
                <a:sym typeface="Arial"/>
              </a:rPr>
              <a:t> = </a:t>
            </a:r>
            <a:r>
              <a:rPr lang="en-US" sz="1800" dirty="0" err="1">
                <a:solidFill>
                  <a:schemeClr val="dk1"/>
                </a:solidFill>
                <a:latin typeface="Arial"/>
                <a:ea typeface="Arial"/>
                <a:cs typeface="Arial"/>
                <a:sym typeface="Arial"/>
              </a:rPr>
              <a:t>positions.position_id</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while True:</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row = </a:t>
            </a:r>
            <a:r>
              <a:rPr lang="en-US" sz="1800" dirty="0" err="1">
                <a:solidFill>
                  <a:schemeClr val="dk1"/>
                </a:solidFill>
                <a:latin typeface="Arial"/>
                <a:ea typeface="Arial"/>
                <a:cs typeface="Arial"/>
                <a:sym typeface="Arial"/>
              </a:rPr>
              <a:t>cur.fetchone</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if row == None:</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break</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        print (row[0], row[1], row[2])</a:t>
            </a:r>
            <a:endParaRPr dirty="0"/>
          </a:p>
        </p:txBody>
      </p:sp>
      <p:pic>
        <p:nvPicPr>
          <p:cNvPr id="757" name="Google Shape;757;p117"/>
          <p:cNvPicPr preferRelativeResize="0"/>
          <p:nvPr/>
        </p:nvPicPr>
        <p:blipFill rotWithShape="1">
          <a:blip r:embed="rId3">
            <a:alphaModFix/>
          </a:blip>
          <a:srcRect/>
          <a:stretch/>
        </p:blipFill>
        <p:spPr>
          <a:xfrm>
            <a:off x="8465573" y="2529924"/>
            <a:ext cx="2963906" cy="2436611"/>
          </a:xfrm>
          <a:prstGeom prst="rect">
            <a:avLst/>
          </a:prstGeom>
          <a:noFill/>
          <a:ln>
            <a:noFill/>
          </a:ln>
        </p:spPr>
      </p:pic>
      <p:pic>
        <p:nvPicPr>
          <p:cNvPr id="2" name="Google Shape;133;p27">
            <a:extLst>
              <a:ext uri="{FF2B5EF4-FFF2-40B4-BE49-F238E27FC236}">
                <a16:creationId xmlns:a16="http://schemas.microsoft.com/office/drawing/2014/main" id="{C0271D24-0D16-105A-C3BF-51D66267372C}"/>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4BC274E5-8794-D8E0-5568-6814D859BA0B}"/>
              </a:ext>
            </a:extLst>
          </p:cNvPr>
          <p:cNvPicPr preferRelativeResize="0"/>
          <p:nvPr/>
        </p:nvPicPr>
        <p:blipFill rotWithShape="1">
          <a:blip r:embed="rId5">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376890BC-3C52-9847-0909-97C49A840C57}"/>
              </a:ext>
            </a:extLst>
          </p:cNvPr>
          <p:cNvPicPr>
            <a:picLocks noChangeAspect="1"/>
          </p:cNvPicPr>
          <p:nvPr/>
        </p:nvPicPr>
        <p:blipFill>
          <a:blip r:embed="rId6"/>
          <a:stretch>
            <a:fillRect/>
          </a:stretch>
        </p:blipFill>
        <p:spPr>
          <a:xfrm>
            <a:off x="10042738" y="172072"/>
            <a:ext cx="2149262" cy="75077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118"/>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b="0"/>
              <a:t> </a:t>
            </a:r>
            <a:r>
              <a:rPr lang="en-US"/>
              <a:t>LEFT OUTER JOIN</a:t>
            </a:r>
            <a:endParaRPr/>
          </a:p>
        </p:txBody>
      </p:sp>
      <p:sp>
        <p:nvSpPr>
          <p:cNvPr id="763" name="Google Shape;763;p118"/>
          <p:cNvSpPr txBox="1">
            <a:spLocks noGrp="1"/>
          </p:cNvSpPr>
          <p:nvPr>
            <p:ph type="body" idx="1"/>
          </p:nvPr>
        </p:nvSpPr>
        <p:spPr>
          <a:xfrm>
            <a:off x="276224" y="1215010"/>
            <a:ext cx="11520000" cy="117100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000"/>
              <a:buFont typeface="Noto Sans Symbols"/>
              <a:buChar char="▪"/>
            </a:pPr>
            <a:r>
              <a:rPr lang="en-US" b="0"/>
              <a:t>Outer join returns all rows from the LEFT-hand table specified in the ON condition and only those rows from the other table where the joined fields are equal (join condition is met).</a:t>
            </a:r>
            <a:endParaRPr/>
          </a:p>
        </p:txBody>
      </p:sp>
      <p:sp>
        <p:nvSpPr>
          <p:cNvPr id="764" name="Google Shape;764;p118"/>
          <p:cNvSpPr/>
          <p:nvPr/>
        </p:nvSpPr>
        <p:spPr>
          <a:xfrm>
            <a:off x="690563" y="2394712"/>
            <a:ext cx="6096000" cy="175432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syntax for the SQLite LEFT OUTER JOIN is:</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SELECT columns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FROM table1</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LEFT [OUTER] JOIN table2</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ON table1.column = table2.column;</a:t>
            </a:r>
            <a:endParaRPr/>
          </a:p>
        </p:txBody>
      </p:sp>
      <p:pic>
        <p:nvPicPr>
          <p:cNvPr id="765" name="Google Shape;765;p118" descr="SQLite"/>
          <p:cNvPicPr preferRelativeResize="0"/>
          <p:nvPr/>
        </p:nvPicPr>
        <p:blipFill rotWithShape="1">
          <a:blip r:embed="rId3">
            <a:alphaModFix/>
          </a:blip>
          <a:srcRect/>
          <a:stretch/>
        </p:blipFill>
        <p:spPr>
          <a:xfrm>
            <a:off x="7592808" y="2637460"/>
            <a:ext cx="2657475" cy="1594485"/>
          </a:xfrm>
          <a:prstGeom prst="rect">
            <a:avLst/>
          </a:prstGeom>
          <a:noFill/>
          <a:ln>
            <a:noFill/>
          </a:ln>
        </p:spPr>
      </p:pic>
      <p:sp>
        <p:nvSpPr>
          <p:cNvPr id="766" name="Google Shape;766;p118"/>
          <p:cNvSpPr/>
          <p:nvPr/>
        </p:nvSpPr>
        <p:spPr>
          <a:xfrm>
            <a:off x="7127005" y="4577485"/>
            <a:ext cx="5595937"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333333"/>
                </a:solidFill>
                <a:latin typeface="Helvetica Neue"/>
                <a:ea typeface="Helvetica Neue"/>
                <a:cs typeface="Helvetica Neue"/>
                <a:sym typeface="Helvetica Neue"/>
              </a:rPr>
              <a:t>The SQLite LEFT OUTER JOIN would return the all records from </a:t>
            </a:r>
            <a:r>
              <a:rPr lang="en-US" sz="1800" i="1" dirty="0">
                <a:solidFill>
                  <a:srgbClr val="333333"/>
                </a:solidFill>
                <a:latin typeface="Helvetica Neue"/>
                <a:ea typeface="Helvetica Neue"/>
                <a:cs typeface="Helvetica Neue"/>
                <a:sym typeface="Helvetica Neue"/>
              </a:rPr>
              <a:t>table1</a:t>
            </a:r>
            <a:r>
              <a:rPr lang="en-US" sz="1800" dirty="0">
                <a:solidFill>
                  <a:srgbClr val="333333"/>
                </a:solidFill>
                <a:latin typeface="Helvetica Neue"/>
                <a:ea typeface="Helvetica Neue"/>
                <a:cs typeface="Helvetica Neue"/>
                <a:sym typeface="Helvetica Neue"/>
              </a:rPr>
              <a:t> and only those records from </a:t>
            </a:r>
            <a:r>
              <a:rPr lang="en-US" sz="1800" i="1" dirty="0">
                <a:solidFill>
                  <a:srgbClr val="333333"/>
                </a:solidFill>
                <a:latin typeface="Helvetica Neue"/>
                <a:ea typeface="Helvetica Neue"/>
                <a:cs typeface="Helvetica Neue"/>
                <a:sym typeface="Helvetica Neue"/>
              </a:rPr>
              <a:t>table2</a:t>
            </a:r>
            <a:r>
              <a:rPr lang="en-US" sz="1800" dirty="0">
                <a:solidFill>
                  <a:srgbClr val="333333"/>
                </a:solidFill>
                <a:latin typeface="Helvetica Neue"/>
                <a:ea typeface="Helvetica Neue"/>
                <a:cs typeface="Helvetica Neue"/>
                <a:sym typeface="Helvetica Neue"/>
              </a:rPr>
              <a:t> that intersect with </a:t>
            </a:r>
            <a:r>
              <a:rPr lang="en-US" sz="1800" i="1" dirty="0">
                <a:solidFill>
                  <a:srgbClr val="333333"/>
                </a:solidFill>
                <a:latin typeface="Helvetica Neue"/>
                <a:ea typeface="Helvetica Neue"/>
                <a:cs typeface="Helvetica Neue"/>
                <a:sym typeface="Helvetica Neue"/>
              </a:rPr>
              <a:t>table1</a:t>
            </a:r>
            <a:r>
              <a:rPr lang="en-US" sz="1800" dirty="0">
                <a:solidFill>
                  <a:srgbClr val="333333"/>
                </a:solidFill>
                <a:latin typeface="Helvetica Neue"/>
                <a:ea typeface="Helvetica Neue"/>
                <a:cs typeface="Helvetica Neue"/>
                <a:sym typeface="Helvetica Neue"/>
              </a:rPr>
              <a:t>.</a:t>
            </a:r>
            <a:endParaRPr sz="1800" dirty="0">
              <a:solidFill>
                <a:schemeClr val="dk1"/>
              </a:solidFill>
              <a:latin typeface="Arial"/>
              <a:ea typeface="Arial"/>
              <a:cs typeface="Arial"/>
              <a:sym typeface="Arial"/>
            </a:endParaRPr>
          </a:p>
        </p:txBody>
      </p:sp>
      <p:sp>
        <p:nvSpPr>
          <p:cNvPr id="767" name="Google Shape;767;p118"/>
          <p:cNvSpPr/>
          <p:nvPr/>
        </p:nvSpPr>
        <p:spPr>
          <a:xfrm>
            <a:off x="690563" y="4500638"/>
            <a:ext cx="6096000" cy="147732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SELECT employees.employee_id, employees.last_name, positions.title</a:t>
            </a: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FROM employees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LEFT OUTER JOIN positions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ON employees.position_id = positions.position_id;</a:t>
            </a:r>
            <a:endParaRPr/>
          </a:p>
        </p:txBody>
      </p:sp>
      <p:pic>
        <p:nvPicPr>
          <p:cNvPr id="2" name="Google Shape;133;p27">
            <a:extLst>
              <a:ext uri="{FF2B5EF4-FFF2-40B4-BE49-F238E27FC236}">
                <a16:creationId xmlns:a16="http://schemas.microsoft.com/office/drawing/2014/main" id="{145A95AD-BEBD-7B36-DD32-22778AA4190B}"/>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D8FA93A4-CF34-A169-5844-664203865013}"/>
              </a:ext>
            </a:extLst>
          </p:cNvPr>
          <p:cNvPicPr preferRelativeResize="0"/>
          <p:nvPr/>
        </p:nvPicPr>
        <p:blipFill rotWithShape="1">
          <a:blip r:embed="rId5">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38CEED28-ACBF-5168-E3A3-B744416809B5}"/>
              </a:ext>
            </a:extLst>
          </p:cNvPr>
          <p:cNvPicPr>
            <a:picLocks noChangeAspect="1"/>
          </p:cNvPicPr>
          <p:nvPr/>
        </p:nvPicPr>
        <p:blipFill>
          <a:blip r:embed="rId6"/>
          <a:stretch>
            <a:fillRect/>
          </a:stretch>
        </p:blipFill>
        <p:spPr>
          <a:xfrm>
            <a:off x="10042738" y="172072"/>
            <a:ext cx="2149262" cy="75077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119"/>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LEFT OUTER JOIN</a:t>
            </a:r>
            <a:endParaRPr/>
          </a:p>
        </p:txBody>
      </p:sp>
      <p:pic>
        <p:nvPicPr>
          <p:cNvPr id="773" name="Google Shape;773;p119"/>
          <p:cNvPicPr preferRelativeResize="0"/>
          <p:nvPr/>
        </p:nvPicPr>
        <p:blipFill rotWithShape="1">
          <a:blip r:embed="rId3">
            <a:alphaModFix/>
          </a:blip>
          <a:srcRect/>
          <a:stretch/>
        </p:blipFill>
        <p:spPr>
          <a:xfrm>
            <a:off x="590550" y="1590675"/>
            <a:ext cx="3867150" cy="1562100"/>
          </a:xfrm>
          <a:prstGeom prst="rect">
            <a:avLst/>
          </a:prstGeom>
          <a:noFill/>
          <a:ln>
            <a:noFill/>
          </a:ln>
        </p:spPr>
      </p:pic>
      <p:pic>
        <p:nvPicPr>
          <p:cNvPr id="774" name="Google Shape;774;p119"/>
          <p:cNvPicPr preferRelativeResize="0"/>
          <p:nvPr/>
        </p:nvPicPr>
        <p:blipFill rotWithShape="1">
          <a:blip r:embed="rId4">
            <a:alphaModFix/>
          </a:blip>
          <a:srcRect/>
          <a:stretch/>
        </p:blipFill>
        <p:spPr>
          <a:xfrm>
            <a:off x="4948237" y="1585912"/>
            <a:ext cx="2295525" cy="1571625"/>
          </a:xfrm>
          <a:prstGeom prst="rect">
            <a:avLst/>
          </a:prstGeom>
          <a:noFill/>
          <a:ln>
            <a:noFill/>
          </a:ln>
        </p:spPr>
      </p:pic>
      <p:sp>
        <p:nvSpPr>
          <p:cNvPr id="775" name="Google Shape;775;p119"/>
          <p:cNvSpPr/>
          <p:nvPr/>
        </p:nvSpPr>
        <p:spPr>
          <a:xfrm>
            <a:off x="590550" y="3512999"/>
            <a:ext cx="11110914" cy="1711366"/>
          </a:xfrm>
          <a:prstGeom prst="rect">
            <a:avLst/>
          </a:prstGeom>
          <a:noFill/>
          <a:ln>
            <a:noFill/>
          </a:ln>
        </p:spPr>
        <p:txBody>
          <a:bodyPr spcFirstLastPara="1" wrap="square" lIns="91425" tIns="45700" rIns="91425" bIns="45700" anchor="t" anchorCtr="0">
            <a:noAutofit/>
          </a:bodyPr>
          <a:lstStyle/>
          <a:p>
            <a:pPr marL="285750" marR="0" lvl="0" indent="-285750" algn="l" rtl="0">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 row for </a:t>
            </a:r>
            <a:r>
              <a:rPr lang="en-US" sz="1800" i="1">
                <a:solidFill>
                  <a:schemeClr val="dk1"/>
                </a:solidFill>
                <a:latin typeface="Arial"/>
                <a:ea typeface="Arial"/>
                <a:cs typeface="Arial"/>
                <a:sym typeface="Arial"/>
              </a:rPr>
              <a:t>employee_id</a:t>
            </a:r>
            <a:r>
              <a:rPr lang="en-US" sz="1800">
                <a:solidFill>
                  <a:schemeClr val="dk1"/>
                </a:solidFill>
                <a:latin typeface="Arial"/>
                <a:ea typeface="Arial"/>
                <a:cs typeface="Arial"/>
                <a:sym typeface="Arial"/>
              </a:rPr>
              <a:t> 10003 would be included because a LEFT OUTER JOIN was used. </a:t>
            </a:r>
            <a:endParaRPr/>
          </a:p>
          <a:p>
            <a:pPr marL="285750" marR="0" lvl="0" indent="-171450" algn="l" rtl="0">
              <a:lnSpc>
                <a:spcPct val="150000"/>
              </a:lnSpc>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a:p>
            <a:pPr marL="285750" marR="0" lvl="0" indent="-285750" algn="l" rtl="0">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However, you will notice that the </a:t>
            </a:r>
            <a:r>
              <a:rPr lang="en-US" sz="1800" i="1">
                <a:solidFill>
                  <a:schemeClr val="dk1"/>
                </a:solidFill>
                <a:latin typeface="Arial"/>
                <a:ea typeface="Arial"/>
                <a:cs typeface="Arial"/>
                <a:sym typeface="Arial"/>
              </a:rPr>
              <a:t>title</a:t>
            </a:r>
            <a:r>
              <a:rPr lang="en-US" sz="1800">
                <a:solidFill>
                  <a:schemeClr val="dk1"/>
                </a:solidFill>
                <a:latin typeface="Arial"/>
                <a:ea typeface="Arial"/>
                <a:cs typeface="Arial"/>
                <a:sym typeface="Arial"/>
              </a:rPr>
              <a:t> field for that record contains a &lt;null&gt; value since there is no corresponding row in the </a:t>
            </a:r>
            <a:r>
              <a:rPr lang="en-US" sz="1800" i="1">
                <a:solidFill>
                  <a:schemeClr val="dk1"/>
                </a:solidFill>
                <a:latin typeface="Arial"/>
                <a:ea typeface="Arial"/>
                <a:cs typeface="Arial"/>
                <a:sym typeface="Arial"/>
              </a:rPr>
              <a:t>positions</a:t>
            </a:r>
            <a:r>
              <a:rPr lang="en-US" sz="1800">
                <a:solidFill>
                  <a:schemeClr val="dk1"/>
                </a:solidFill>
                <a:latin typeface="Arial"/>
                <a:ea typeface="Arial"/>
                <a:cs typeface="Arial"/>
                <a:sym typeface="Arial"/>
              </a:rPr>
              <a:t> table.</a:t>
            </a:r>
            <a:endParaRPr/>
          </a:p>
        </p:txBody>
      </p:sp>
      <p:sp>
        <p:nvSpPr>
          <p:cNvPr id="776" name="Google Shape;776;p119"/>
          <p:cNvSpPr/>
          <p:nvPr/>
        </p:nvSpPr>
        <p:spPr>
          <a:xfrm>
            <a:off x="1713300" y="1130481"/>
            <a:ext cx="1364476"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i="1">
                <a:solidFill>
                  <a:srgbClr val="333333"/>
                </a:solidFill>
                <a:latin typeface="Helvetica Neue"/>
                <a:ea typeface="Helvetica Neue"/>
                <a:cs typeface="Helvetica Neue"/>
                <a:sym typeface="Helvetica Neue"/>
              </a:rPr>
              <a:t>employees</a:t>
            </a:r>
            <a:r>
              <a:rPr lang="en-US" sz="1800">
                <a:solidFill>
                  <a:srgbClr val="333333"/>
                </a:solidFill>
                <a:latin typeface="Helvetica Neue"/>
                <a:ea typeface="Helvetica Neue"/>
                <a:cs typeface="Helvetica Neue"/>
                <a:sym typeface="Helvetica Neue"/>
              </a:rPr>
              <a:t> </a:t>
            </a:r>
            <a:endParaRPr sz="1800">
              <a:solidFill>
                <a:schemeClr val="dk1"/>
              </a:solidFill>
              <a:latin typeface="Arial"/>
              <a:ea typeface="Arial"/>
              <a:cs typeface="Arial"/>
              <a:sym typeface="Arial"/>
            </a:endParaRPr>
          </a:p>
        </p:txBody>
      </p:sp>
      <p:sp>
        <p:nvSpPr>
          <p:cNvPr id="777" name="Google Shape;777;p119"/>
          <p:cNvSpPr/>
          <p:nvPr/>
        </p:nvSpPr>
        <p:spPr>
          <a:xfrm>
            <a:off x="5516353" y="1173717"/>
            <a:ext cx="1159292"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i="1">
                <a:solidFill>
                  <a:srgbClr val="333333"/>
                </a:solidFill>
                <a:latin typeface="Helvetica Neue"/>
                <a:ea typeface="Helvetica Neue"/>
                <a:cs typeface="Helvetica Neue"/>
                <a:sym typeface="Helvetica Neue"/>
              </a:rPr>
              <a:t>positions</a:t>
            </a:r>
            <a:r>
              <a:rPr lang="en-US" sz="1800">
                <a:solidFill>
                  <a:srgbClr val="333333"/>
                </a:solidFill>
                <a:latin typeface="Helvetica Neue"/>
                <a:ea typeface="Helvetica Neue"/>
                <a:cs typeface="Helvetica Neue"/>
                <a:sym typeface="Helvetica Neue"/>
              </a:rPr>
              <a:t> </a:t>
            </a:r>
            <a:endParaRPr sz="1800">
              <a:solidFill>
                <a:schemeClr val="dk1"/>
              </a:solidFill>
              <a:latin typeface="Arial"/>
              <a:ea typeface="Arial"/>
              <a:cs typeface="Arial"/>
              <a:sym typeface="Arial"/>
            </a:endParaRPr>
          </a:p>
        </p:txBody>
      </p:sp>
      <p:sp>
        <p:nvSpPr>
          <p:cNvPr id="778" name="Google Shape;778;p119"/>
          <p:cNvSpPr/>
          <p:nvPr/>
        </p:nvSpPr>
        <p:spPr>
          <a:xfrm>
            <a:off x="9012028" y="1174414"/>
            <a:ext cx="146706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333333"/>
                </a:solidFill>
                <a:latin typeface="Helvetica Neue"/>
                <a:ea typeface="Helvetica Neue"/>
                <a:cs typeface="Helvetica Neue"/>
                <a:sym typeface="Helvetica Neue"/>
              </a:rPr>
              <a:t>Result table </a:t>
            </a:r>
            <a:endParaRPr sz="1800">
              <a:solidFill>
                <a:schemeClr val="dk1"/>
              </a:solidFill>
              <a:latin typeface="Arial"/>
              <a:ea typeface="Arial"/>
              <a:cs typeface="Arial"/>
              <a:sym typeface="Arial"/>
            </a:endParaRPr>
          </a:p>
        </p:txBody>
      </p:sp>
      <p:pic>
        <p:nvPicPr>
          <p:cNvPr id="779" name="Google Shape;779;p119"/>
          <p:cNvPicPr preferRelativeResize="0"/>
          <p:nvPr/>
        </p:nvPicPr>
        <p:blipFill rotWithShape="1">
          <a:blip r:embed="rId5">
            <a:alphaModFix/>
          </a:blip>
          <a:srcRect/>
          <a:stretch/>
        </p:blipFill>
        <p:spPr>
          <a:xfrm>
            <a:off x="8267700" y="1649962"/>
            <a:ext cx="3333750" cy="1581150"/>
          </a:xfrm>
          <a:prstGeom prst="rect">
            <a:avLst/>
          </a:prstGeom>
          <a:noFill/>
          <a:ln>
            <a:noFill/>
          </a:ln>
        </p:spPr>
      </p:pic>
      <p:pic>
        <p:nvPicPr>
          <p:cNvPr id="2" name="Google Shape;133;p27">
            <a:extLst>
              <a:ext uri="{FF2B5EF4-FFF2-40B4-BE49-F238E27FC236}">
                <a16:creationId xmlns:a16="http://schemas.microsoft.com/office/drawing/2014/main" id="{92ED6280-FB18-8F6C-5B82-35808C87AA44}"/>
              </a:ext>
            </a:extLst>
          </p:cNvPr>
          <p:cNvPicPr preferRelativeResize="0"/>
          <p:nvPr/>
        </p:nvPicPr>
        <p:blipFill rotWithShape="1">
          <a:blip r:embed="rId6">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8E6CA56D-C2FA-47B9-F3D5-9C280DA4D2CD}"/>
              </a:ext>
            </a:extLst>
          </p:cNvPr>
          <p:cNvPicPr preferRelativeResize="0"/>
          <p:nvPr/>
        </p:nvPicPr>
        <p:blipFill rotWithShape="1">
          <a:blip r:embed="rId7">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2BFEB759-32A2-F146-81CB-472975A20D7D}"/>
              </a:ext>
            </a:extLst>
          </p:cNvPr>
          <p:cNvPicPr>
            <a:picLocks noChangeAspect="1"/>
          </p:cNvPicPr>
          <p:nvPr/>
        </p:nvPicPr>
        <p:blipFill>
          <a:blip r:embed="rId8"/>
          <a:stretch>
            <a:fillRect/>
          </a:stretch>
        </p:blipFill>
        <p:spPr>
          <a:xfrm>
            <a:off x="10042738" y="172072"/>
            <a:ext cx="2149262" cy="75077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120"/>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Implementation of LEFT OUTER JOIN</a:t>
            </a:r>
            <a:endParaRPr/>
          </a:p>
        </p:txBody>
      </p:sp>
      <p:sp>
        <p:nvSpPr>
          <p:cNvPr id="785" name="Google Shape;785;p120"/>
          <p:cNvSpPr/>
          <p:nvPr/>
        </p:nvSpPr>
        <p:spPr>
          <a:xfrm>
            <a:off x="275492" y="1263460"/>
            <a:ext cx="9940224" cy="5078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Arial"/>
                <a:ea typeface="Arial"/>
                <a:cs typeface="Arial"/>
                <a:sym typeface="Arial"/>
              </a:rPr>
              <a:t>import sqlite3 as lite</a:t>
            </a:r>
            <a:endParaRPr sz="1600"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con = </a:t>
            </a:r>
            <a:r>
              <a:rPr lang="en-US" sz="1600" dirty="0" err="1">
                <a:solidFill>
                  <a:schemeClr val="dk1"/>
                </a:solidFill>
                <a:latin typeface="Arial"/>
                <a:ea typeface="Arial"/>
                <a:cs typeface="Arial"/>
                <a:sym typeface="Arial"/>
              </a:rPr>
              <a:t>lite.connect</a:t>
            </a:r>
            <a:r>
              <a:rPr lang="en-US" sz="1600" dirty="0">
                <a:solidFill>
                  <a:schemeClr val="dk1"/>
                </a:solidFill>
                <a:latin typeface="Arial"/>
                <a:ea typeface="Arial"/>
                <a:cs typeface="Arial"/>
                <a:sym typeface="Arial"/>
              </a:rPr>
              <a:t>('</a:t>
            </a:r>
            <a:r>
              <a:rPr lang="en-US" sz="1600" dirty="0" err="1">
                <a:solidFill>
                  <a:schemeClr val="dk1"/>
                </a:solidFill>
                <a:latin typeface="Arial"/>
                <a:ea typeface="Arial"/>
                <a:cs typeface="Arial"/>
                <a:sym typeface="Arial"/>
              </a:rPr>
              <a:t>my.db</a:t>
            </a:r>
            <a:r>
              <a:rPr lang="en-US" sz="1600" dirty="0">
                <a:solidFill>
                  <a:schemeClr val="dk1"/>
                </a:solidFill>
                <a:latin typeface="Arial"/>
                <a:ea typeface="Arial"/>
                <a:cs typeface="Arial"/>
                <a:sym typeface="Arial"/>
              </a:rPr>
              <a:t>')</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with con:</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    cur = </a:t>
            </a:r>
            <a:r>
              <a:rPr lang="en-US" sz="1600" dirty="0" err="1">
                <a:solidFill>
                  <a:schemeClr val="dk1"/>
                </a:solidFill>
                <a:latin typeface="Arial"/>
                <a:ea typeface="Arial"/>
                <a:cs typeface="Arial"/>
                <a:sym typeface="Arial"/>
              </a:rPr>
              <a:t>con.cursor</a:t>
            </a:r>
            <a:r>
              <a:rPr lang="en-US" sz="1600" dirty="0">
                <a:solidFill>
                  <a:schemeClr val="dk1"/>
                </a:solidFill>
                <a:latin typeface="Arial"/>
                <a:ea typeface="Arial"/>
                <a:cs typeface="Arial"/>
                <a:sym typeface="Arial"/>
              </a:rPr>
              <a:t>()</a:t>
            </a:r>
            <a:endParaRPr sz="1600"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    </a:t>
            </a:r>
            <a:r>
              <a:rPr lang="en-US" sz="1600" dirty="0" err="1">
                <a:solidFill>
                  <a:schemeClr val="dk1"/>
                </a:solidFill>
                <a:latin typeface="Arial"/>
                <a:ea typeface="Arial"/>
                <a:cs typeface="Arial"/>
                <a:sym typeface="Arial"/>
              </a:rPr>
              <a:t>cur.execute</a:t>
            </a:r>
            <a:r>
              <a:rPr lang="en-US" sz="1600" dirty="0">
                <a:solidFill>
                  <a:schemeClr val="dk1"/>
                </a:solidFill>
                <a:latin typeface="Arial"/>
                <a:ea typeface="Arial"/>
                <a:cs typeface="Arial"/>
                <a:sym typeface="Arial"/>
              </a:rPr>
              <a:t>("SELECT </a:t>
            </a:r>
            <a:r>
              <a:rPr lang="en-US" sz="1600" dirty="0" err="1">
                <a:solidFill>
                  <a:schemeClr val="dk1"/>
                </a:solidFill>
                <a:latin typeface="Arial"/>
                <a:ea typeface="Arial"/>
                <a:cs typeface="Arial"/>
                <a:sym typeface="Arial"/>
              </a:rPr>
              <a:t>employees.employee_id</a:t>
            </a:r>
            <a:r>
              <a:rPr lang="en-US" sz="1600" dirty="0">
                <a:solidFill>
                  <a:schemeClr val="dk1"/>
                </a:solidFill>
                <a:latin typeface="Arial"/>
                <a:ea typeface="Arial"/>
                <a:cs typeface="Arial"/>
                <a:sym typeface="Arial"/>
              </a:rPr>
              <a:t>, </a:t>
            </a:r>
            <a:r>
              <a:rPr lang="en-US" sz="1600" dirty="0" err="1">
                <a:solidFill>
                  <a:schemeClr val="dk1"/>
                </a:solidFill>
                <a:latin typeface="Arial"/>
                <a:ea typeface="Arial"/>
                <a:cs typeface="Arial"/>
                <a:sym typeface="Arial"/>
              </a:rPr>
              <a:t>employees.last_name</a:t>
            </a:r>
            <a:r>
              <a:rPr lang="en-US" sz="1600" dirty="0">
                <a:solidFill>
                  <a:schemeClr val="dk1"/>
                </a:solidFill>
                <a:latin typeface="Arial"/>
                <a:ea typeface="Arial"/>
                <a:cs typeface="Arial"/>
                <a:sym typeface="Arial"/>
              </a:rPr>
              <a:t>, </a:t>
            </a:r>
            <a:r>
              <a:rPr lang="en-US" sz="1600" dirty="0" err="1">
                <a:solidFill>
                  <a:schemeClr val="dk1"/>
                </a:solidFill>
                <a:latin typeface="Arial"/>
                <a:ea typeface="Arial"/>
                <a:cs typeface="Arial"/>
                <a:sym typeface="Arial"/>
              </a:rPr>
              <a:t>positions.title</a:t>
            </a:r>
            <a:r>
              <a:rPr lang="en-US" sz="1600" dirty="0">
                <a:solidFill>
                  <a:schemeClr val="dk1"/>
                </a:solidFill>
                <a:latin typeface="Arial"/>
                <a:ea typeface="Arial"/>
                <a:cs typeface="Arial"/>
                <a:sym typeface="Arial"/>
              </a:rPr>
              <a:t> </a:t>
            </a:r>
            <a:endParaRPr sz="1600"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    </a:t>
            </a:r>
            <a:endParaRPr sz="1600"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    FROM employees LEFT OUTER JOIN positions ON </a:t>
            </a:r>
            <a:r>
              <a:rPr lang="en-US" sz="1600" dirty="0" err="1">
                <a:solidFill>
                  <a:schemeClr val="dk1"/>
                </a:solidFill>
                <a:latin typeface="Arial"/>
                <a:ea typeface="Arial"/>
                <a:cs typeface="Arial"/>
                <a:sym typeface="Arial"/>
              </a:rPr>
              <a:t>employees.position_id</a:t>
            </a:r>
            <a:r>
              <a:rPr lang="en-US" sz="1600" dirty="0">
                <a:solidFill>
                  <a:schemeClr val="dk1"/>
                </a:solidFill>
                <a:latin typeface="Arial"/>
                <a:ea typeface="Arial"/>
                <a:cs typeface="Arial"/>
                <a:sym typeface="Arial"/>
              </a:rPr>
              <a:t> = </a:t>
            </a:r>
            <a:r>
              <a:rPr lang="en-US" sz="1600" dirty="0" err="1">
                <a:solidFill>
                  <a:schemeClr val="dk1"/>
                </a:solidFill>
                <a:latin typeface="Arial"/>
                <a:ea typeface="Arial"/>
                <a:cs typeface="Arial"/>
                <a:sym typeface="Arial"/>
              </a:rPr>
              <a:t>positions.position_id</a:t>
            </a:r>
            <a:r>
              <a:rPr lang="en-US" sz="1600" dirty="0">
                <a:solidFill>
                  <a:schemeClr val="dk1"/>
                </a:solidFill>
                <a:latin typeface="Arial"/>
                <a:ea typeface="Arial"/>
                <a:cs typeface="Arial"/>
                <a:sym typeface="Arial"/>
              </a:rPr>
              <a:t>;")</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    while True:</a:t>
            </a:r>
            <a:endParaRPr sz="1600"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        row = </a:t>
            </a:r>
            <a:r>
              <a:rPr lang="en-US" sz="1600" dirty="0" err="1">
                <a:solidFill>
                  <a:schemeClr val="dk1"/>
                </a:solidFill>
                <a:latin typeface="Arial"/>
                <a:ea typeface="Arial"/>
                <a:cs typeface="Arial"/>
                <a:sym typeface="Arial"/>
              </a:rPr>
              <a:t>cur.fetchone</a:t>
            </a:r>
            <a:r>
              <a:rPr lang="en-US" sz="1600" dirty="0">
                <a:solidFill>
                  <a:schemeClr val="dk1"/>
                </a:solidFill>
                <a:latin typeface="Arial"/>
                <a:ea typeface="Arial"/>
                <a:cs typeface="Arial"/>
                <a:sym typeface="Arial"/>
              </a:rPr>
              <a:t>()</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        if row == None:</a:t>
            </a:r>
            <a:endParaRPr sz="1600"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            break</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        print (row[0], row[1], row[2])</a:t>
            </a:r>
            <a:endParaRPr sz="1600" dirty="0"/>
          </a:p>
        </p:txBody>
      </p:sp>
      <p:pic>
        <p:nvPicPr>
          <p:cNvPr id="786" name="Google Shape;786;p120"/>
          <p:cNvPicPr preferRelativeResize="0"/>
          <p:nvPr/>
        </p:nvPicPr>
        <p:blipFill rotWithShape="1">
          <a:blip r:embed="rId3">
            <a:alphaModFix/>
          </a:blip>
          <a:srcRect/>
          <a:stretch/>
        </p:blipFill>
        <p:spPr>
          <a:xfrm>
            <a:off x="7914967" y="3802616"/>
            <a:ext cx="3038167" cy="2703103"/>
          </a:xfrm>
          <a:prstGeom prst="rect">
            <a:avLst/>
          </a:prstGeom>
          <a:noFill/>
          <a:ln>
            <a:noFill/>
          </a:ln>
        </p:spPr>
      </p:pic>
      <p:pic>
        <p:nvPicPr>
          <p:cNvPr id="2" name="Google Shape;133;p27">
            <a:extLst>
              <a:ext uri="{FF2B5EF4-FFF2-40B4-BE49-F238E27FC236}">
                <a16:creationId xmlns:a16="http://schemas.microsoft.com/office/drawing/2014/main" id="{4595FE21-742A-A757-5717-4D71A11428E3}"/>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121"/>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CROSS JOIN</a:t>
            </a:r>
            <a:endParaRPr/>
          </a:p>
        </p:txBody>
      </p:sp>
      <p:sp>
        <p:nvSpPr>
          <p:cNvPr id="792" name="Google Shape;792;p121"/>
          <p:cNvSpPr txBox="1">
            <a:spLocks noGrp="1"/>
          </p:cNvSpPr>
          <p:nvPr>
            <p:ph type="body" idx="1"/>
          </p:nvPr>
        </p:nvSpPr>
        <p:spPr>
          <a:xfrm>
            <a:off x="276224" y="1215010"/>
            <a:ext cx="11520000" cy="107099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000"/>
              <a:buFont typeface="Noto Sans Symbols"/>
              <a:buChar char="▪"/>
            </a:pPr>
            <a:r>
              <a:rPr lang="en-US" b="0"/>
              <a:t>This type of join returns a combined result set with every row from the first table matched with every row from the second table. This is also called a Cartesian Product.</a:t>
            </a:r>
            <a:endParaRPr/>
          </a:p>
          <a:p>
            <a:pPr marL="342900" lvl="0" indent="-215900" algn="l" rtl="0">
              <a:lnSpc>
                <a:spcPct val="150000"/>
              </a:lnSpc>
              <a:spcBef>
                <a:spcPts val="1800"/>
              </a:spcBef>
              <a:spcAft>
                <a:spcPts val="0"/>
              </a:spcAft>
              <a:buClr>
                <a:schemeClr val="dk1"/>
              </a:buClr>
              <a:buSzPts val="2000"/>
              <a:buFont typeface="Noto Sans Symbols"/>
              <a:buNone/>
            </a:pPr>
            <a:endParaRPr/>
          </a:p>
        </p:txBody>
      </p:sp>
      <p:sp>
        <p:nvSpPr>
          <p:cNvPr id="793" name="Google Shape;793;p121"/>
          <p:cNvSpPr/>
          <p:nvPr/>
        </p:nvSpPr>
        <p:spPr>
          <a:xfrm>
            <a:off x="747712" y="2690336"/>
            <a:ext cx="4381501" cy="147732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syntax for the SQLite CROSS JOIN is:</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SELECT columns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FROM table1</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CROSS JOIN table2;</a:t>
            </a:r>
            <a:endParaRPr/>
          </a:p>
        </p:txBody>
      </p:sp>
      <p:pic>
        <p:nvPicPr>
          <p:cNvPr id="794" name="Google Shape;794;p121"/>
          <p:cNvPicPr preferRelativeResize="0"/>
          <p:nvPr/>
        </p:nvPicPr>
        <p:blipFill rotWithShape="1">
          <a:blip r:embed="rId3">
            <a:alphaModFix/>
          </a:blip>
          <a:srcRect/>
          <a:stretch/>
        </p:blipFill>
        <p:spPr>
          <a:xfrm>
            <a:off x="6405562" y="2636898"/>
            <a:ext cx="3275911" cy="1881665"/>
          </a:xfrm>
          <a:prstGeom prst="rect">
            <a:avLst/>
          </a:prstGeom>
          <a:noFill/>
          <a:ln>
            <a:noFill/>
          </a:ln>
        </p:spPr>
      </p:pic>
      <p:pic>
        <p:nvPicPr>
          <p:cNvPr id="2" name="Google Shape;133;p27">
            <a:extLst>
              <a:ext uri="{FF2B5EF4-FFF2-40B4-BE49-F238E27FC236}">
                <a16:creationId xmlns:a16="http://schemas.microsoft.com/office/drawing/2014/main" id="{F9D4C99E-C74A-0ADF-3DC2-AEF95FFB97B0}"/>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F286D98B-EC12-362D-4303-55824A711655}"/>
              </a:ext>
            </a:extLst>
          </p:cNvPr>
          <p:cNvPicPr preferRelativeResize="0"/>
          <p:nvPr/>
        </p:nvPicPr>
        <p:blipFill rotWithShape="1">
          <a:blip r:embed="rId5">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97C26A26-5B21-50B4-C87B-262F6DB73908}"/>
              </a:ext>
            </a:extLst>
          </p:cNvPr>
          <p:cNvPicPr>
            <a:picLocks noChangeAspect="1"/>
          </p:cNvPicPr>
          <p:nvPr/>
        </p:nvPicPr>
        <p:blipFill>
          <a:blip r:embed="rId6"/>
          <a:stretch>
            <a:fillRect/>
          </a:stretch>
        </p:blipFill>
        <p:spPr>
          <a:xfrm>
            <a:off x="10042738" y="172072"/>
            <a:ext cx="2149262" cy="75077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122"/>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CROSS JOIN</a:t>
            </a:r>
            <a:endParaRPr/>
          </a:p>
        </p:txBody>
      </p:sp>
      <p:pic>
        <p:nvPicPr>
          <p:cNvPr id="800" name="Google Shape;800;p122"/>
          <p:cNvPicPr preferRelativeResize="0">
            <a:picLocks noGrp="1"/>
          </p:cNvPicPr>
          <p:nvPr>
            <p:ph type="body" idx="1"/>
          </p:nvPr>
        </p:nvPicPr>
        <p:blipFill rotWithShape="1">
          <a:blip r:embed="rId3">
            <a:alphaModFix/>
          </a:blip>
          <a:srcRect/>
          <a:stretch/>
        </p:blipFill>
        <p:spPr>
          <a:xfrm>
            <a:off x="702738" y="1698624"/>
            <a:ext cx="2333625" cy="1628775"/>
          </a:xfrm>
          <a:prstGeom prst="rect">
            <a:avLst/>
          </a:prstGeom>
          <a:noFill/>
          <a:ln>
            <a:noFill/>
          </a:ln>
        </p:spPr>
      </p:pic>
      <p:pic>
        <p:nvPicPr>
          <p:cNvPr id="801" name="Google Shape;801;p122"/>
          <p:cNvPicPr preferRelativeResize="0"/>
          <p:nvPr/>
        </p:nvPicPr>
        <p:blipFill rotWithShape="1">
          <a:blip r:embed="rId4">
            <a:alphaModFix/>
          </a:blip>
          <a:srcRect/>
          <a:stretch/>
        </p:blipFill>
        <p:spPr>
          <a:xfrm>
            <a:off x="3837167" y="1951036"/>
            <a:ext cx="2876550" cy="1123950"/>
          </a:xfrm>
          <a:prstGeom prst="rect">
            <a:avLst/>
          </a:prstGeom>
          <a:noFill/>
          <a:ln>
            <a:noFill/>
          </a:ln>
        </p:spPr>
      </p:pic>
      <p:pic>
        <p:nvPicPr>
          <p:cNvPr id="802" name="Google Shape;802;p122"/>
          <p:cNvPicPr preferRelativeResize="0"/>
          <p:nvPr/>
        </p:nvPicPr>
        <p:blipFill rotWithShape="1">
          <a:blip r:embed="rId5">
            <a:alphaModFix/>
          </a:blip>
          <a:srcRect/>
          <a:stretch/>
        </p:blipFill>
        <p:spPr>
          <a:xfrm>
            <a:off x="6967538" y="1112836"/>
            <a:ext cx="5010150" cy="2800350"/>
          </a:xfrm>
          <a:prstGeom prst="rect">
            <a:avLst/>
          </a:prstGeom>
          <a:noFill/>
          <a:ln>
            <a:noFill/>
          </a:ln>
        </p:spPr>
      </p:pic>
      <p:sp>
        <p:nvSpPr>
          <p:cNvPr id="803" name="Google Shape;803;p122"/>
          <p:cNvSpPr/>
          <p:nvPr/>
        </p:nvSpPr>
        <p:spPr>
          <a:xfrm>
            <a:off x="1347786" y="4452075"/>
            <a:ext cx="10210802" cy="175432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333333"/>
                </a:solidFill>
                <a:latin typeface="Helvetica Neue"/>
                <a:ea typeface="Helvetica Neue"/>
                <a:cs typeface="Helvetica Neue"/>
                <a:sym typeface="Helvetica Neue"/>
              </a:rPr>
              <a:t>Since the </a:t>
            </a:r>
            <a:r>
              <a:rPr lang="en-US" sz="1800" i="1">
                <a:solidFill>
                  <a:srgbClr val="333333"/>
                </a:solidFill>
                <a:latin typeface="Helvetica Neue"/>
                <a:ea typeface="Helvetica Neue"/>
                <a:cs typeface="Helvetica Neue"/>
                <a:sym typeface="Helvetica Neue"/>
              </a:rPr>
              <a:t>positions</a:t>
            </a:r>
            <a:r>
              <a:rPr lang="en-US" sz="1800">
                <a:solidFill>
                  <a:srgbClr val="333333"/>
                </a:solidFill>
                <a:latin typeface="Helvetica Neue"/>
                <a:ea typeface="Helvetica Neue"/>
                <a:cs typeface="Helvetica Neue"/>
                <a:sym typeface="Helvetica Neue"/>
              </a:rPr>
              <a:t> table has 4 rows and the </a:t>
            </a:r>
            <a:r>
              <a:rPr lang="en-US" sz="1800" i="1">
                <a:solidFill>
                  <a:srgbClr val="333333"/>
                </a:solidFill>
                <a:latin typeface="Helvetica Neue"/>
                <a:ea typeface="Helvetica Neue"/>
                <a:cs typeface="Helvetica Neue"/>
                <a:sym typeface="Helvetica Neue"/>
              </a:rPr>
              <a:t>departments</a:t>
            </a:r>
            <a:r>
              <a:rPr lang="en-US" sz="1800">
                <a:solidFill>
                  <a:srgbClr val="333333"/>
                </a:solidFill>
                <a:latin typeface="Helvetica Neue"/>
                <a:ea typeface="Helvetica Neue"/>
                <a:cs typeface="Helvetica Neue"/>
                <a:sym typeface="Helvetica Neue"/>
              </a:rPr>
              <a:t> has 2 rows, the cross join will return 8 rows (because 4x2=8). </a:t>
            </a:r>
            <a:endParaRPr/>
          </a:p>
          <a:p>
            <a:pPr marL="0" marR="0" lvl="0" indent="0" algn="l" rtl="0">
              <a:spcBef>
                <a:spcPts val="0"/>
              </a:spcBef>
              <a:spcAft>
                <a:spcPts val="0"/>
              </a:spcAft>
              <a:buNone/>
            </a:pPr>
            <a:endParaRPr sz="1800">
              <a:solidFill>
                <a:srgbClr val="333333"/>
              </a:solidFill>
              <a:latin typeface="Helvetica Neue"/>
              <a:ea typeface="Helvetica Neue"/>
              <a:cs typeface="Helvetica Neue"/>
              <a:sym typeface="Helvetica Neue"/>
            </a:endParaRPr>
          </a:p>
          <a:p>
            <a:pPr marL="0" marR="0" lvl="0" indent="0" algn="l" rtl="0">
              <a:spcBef>
                <a:spcPts val="0"/>
              </a:spcBef>
              <a:spcAft>
                <a:spcPts val="0"/>
              </a:spcAft>
              <a:buNone/>
            </a:pPr>
            <a:r>
              <a:rPr lang="en-US" sz="1800">
                <a:solidFill>
                  <a:srgbClr val="333333"/>
                </a:solidFill>
                <a:latin typeface="Helvetica Neue"/>
                <a:ea typeface="Helvetica Neue"/>
                <a:cs typeface="Helvetica Neue"/>
                <a:sym typeface="Helvetica Neue"/>
              </a:rPr>
              <a:t>Each row from the </a:t>
            </a:r>
            <a:r>
              <a:rPr lang="en-US" sz="1800" i="1">
                <a:solidFill>
                  <a:srgbClr val="333333"/>
                </a:solidFill>
                <a:latin typeface="Helvetica Neue"/>
                <a:ea typeface="Helvetica Neue"/>
                <a:cs typeface="Helvetica Neue"/>
                <a:sym typeface="Helvetica Neue"/>
              </a:rPr>
              <a:t>positions</a:t>
            </a:r>
            <a:r>
              <a:rPr lang="en-US" sz="1800">
                <a:solidFill>
                  <a:srgbClr val="333333"/>
                </a:solidFill>
                <a:latin typeface="Helvetica Neue"/>
                <a:ea typeface="Helvetica Neue"/>
                <a:cs typeface="Helvetica Neue"/>
                <a:sym typeface="Helvetica Neue"/>
              </a:rPr>
              <a:t> table is matched with each row from the </a:t>
            </a:r>
            <a:r>
              <a:rPr lang="en-US" sz="1800" i="1">
                <a:solidFill>
                  <a:srgbClr val="333333"/>
                </a:solidFill>
                <a:latin typeface="Helvetica Neue"/>
                <a:ea typeface="Helvetica Neue"/>
                <a:cs typeface="Helvetica Neue"/>
                <a:sym typeface="Helvetica Neue"/>
              </a:rPr>
              <a:t>departments</a:t>
            </a:r>
            <a:r>
              <a:rPr lang="en-US" sz="1800">
                <a:solidFill>
                  <a:srgbClr val="333333"/>
                </a:solidFill>
                <a:latin typeface="Helvetica Neue"/>
                <a:ea typeface="Helvetica Neue"/>
                <a:cs typeface="Helvetica Neue"/>
                <a:sym typeface="Helvetica Neue"/>
              </a:rPr>
              <a:t> table.</a:t>
            </a:r>
            <a:endParaRPr/>
          </a:p>
          <a:p>
            <a:pPr marL="0" marR="0" lvl="0" indent="0" algn="l" rtl="0">
              <a:spcBef>
                <a:spcPts val="0"/>
              </a:spcBef>
              <a:spcAft>
                <a:spcPts val="0"/>
              </a:spcAft>
              <a:buNone/>
            </a:pPr>
            <a:br>
              <a:rPr lang="en-US" sz="1800">
                <a:solidFill>
                  <a:srgbClr val="333333"/>
                </a:solidFill>
                <a:latin typeface="Helvetica Neue"/>
                <a:ea typeface="Helvetica Neue"/>
                <a:cs typeface="Helvetica Neue"/>
                <a:sym typeface="Helvetica Neue"/>
              </a:rPr>
            </a:br>
            <a:endParaRPr sz="1800">
              <a:solidFill>
                <a:schemeClr val="dk1"/>
              </a:solidFill>
              <a:latin typeface="Arial"/>
              <a:ea typeface="Arial"/>
              <a:cs typeface="Arial"/>
              <a:sym typeface="Arial"/>
            </a:endParaRPr>
          </a:p>
        </p:txBody>
      </p:sp>
      <p:pic>
        <p:nvPicPr>
          <p:cNvPr id="2" name="Google Shape;133;p27">
            <a:extLst>
              <a:ext uri="{FF2B5EF4-FFF2-40B4-BE49-F238E27FC236}">
                <a16:creationId xmlns:a16="http://schemas.microsoft.com/office/drawing/2014/main" id="{20B41950-C3B2-3A59-66B5-99B9A29EE073}"/>
              </a:ext>
            </a:extLst>
          </p:cNvPr>
          <p:cNvPicPr preferRelativeResize="0"/>
          <p:nvPr/>
        </p:nvPicPr>
        <p:blipFill rotWithShape="1">
          <a:blip r:embed="rId6">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C776B2BC-4A8F-8E03-99A6-6DB10A347A24}"/>
              </a:ext>
            </a:extLst>
          </p:cNvPr>
          <p:cNvPicPr preferRelativeResize="0"/>
          <p:nvPr/>
        </p:nvPicPr>
        <p:blipFill rotWithShape="1">
          <a:blip r:embed="rId7">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9B91B16D-A6EC-10A3-A9AA-B6BD5544B959}"/>
              </a:ext>
            </a:extLst>
          </p:cNvPr>
          <p:cNvPicPr>
            <a:picLocks noChangeAspect="1"/>
          </p:cNvPicPr>
          <p:nvPr/>
        </p:nvPicPr>
        <p:blipFill>
          <a:blip r:embed="rId8"/>
          <a:stretch>
            <a:fillRect/>
          </a:stretch>
        </p:blipFill>
        <p:spPr>
          <a:xfrm>
            <a:off x="10042738" y="172072"/>
            <a:ext cx="2149262" cy="75077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123"/>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t>Implementation of CROSS JOIN</a:t>
            </a:r>
            <a:endParaRPr/>
          </a:p>
        </p:txBody>
      </p:sp>
      <p:sp>
        <p:nvSpPr>
          <p:cNvPr id="809" name="Google Shape;809;p123"/>
          <p:cNvSpPr/>
          <p:nvPr/>
        </p:nvSpPr>
        <p:spPr>
          <a:xfrm>
            <a:off x="633412" y="1147019"/>
            <a:ext cx="7153275" cy="48013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import sqlite3 as lite</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con = lite.connect('my.db')</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with con:</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cur = con.cursor()</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cur.execute("SELECT position_id, department_id,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department_name FROM positions CROSS JOIN departments;")</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    while True:</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        row = cur.fetchone()</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        if row == None:</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break</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        print (row[0], row[1], row[2])</a:t>
            </a:r>
            <a:endParaRPr/>
          </a:p>
        </p:txBody>
      </p:sp>
      <p:pic>
        <p:nvPicPr>
          <p:cNvPr id="810" name="Google Shape;810;p123"/>
          <p:cNvPicPr preferRelativeResize="0"/>
          <p:nvPr/>
        </p:nvPicPr>
        <p:blipFill rotWithShape="1">
          <a:blip r:embed="rId3">
            <a:alphaModFix/>
          </a:blip>
          <a:srcRect/>
          <a:stretch/>
        </p:blipFill>
        <p:spPr>
          <a:xfrm>
            <a:off x="8315325" y="1741279"/>
            <a:ext cx="1758456" cy="2716422"/>
          </a:xfrm>
          <a:prstGeom prst="rect">
            <a:avLst/>
          </a:prstGeom>
          <a:noFill/>
          <a:ln>
            <a:noFill/>
          </a:ln>
        </p:spPr>
      </p:pic>
      <p:pic>
        <p:nvPicPr>
          <p:cNvPr id="2" name="Google Shape;133;p27">
            <a:extLst>
              <a:ext uri="{FF2B5EF4-FFF2-40B4-BE49-F238E27FC236}">
                <a16:creationId xmlns:a16="http://schemas.microsoft.com/office/drawing/2014/main" id="{D0EEE6C1-F015-C7ED-9F49-4FF1BD1B088D}"/>
              </a:ext>
            </a:extLst>
          </p:cNvPr>
          <p:cNvPicPr preferRelativeResize="0"/>
          <p:nvPr/>
        </p:nvPicPr>
        <p:blipFill rotWithShape="1">
          <a:blip r:embed="rId4">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629D9925-21D9-E393-5D98-25B9008A8E2A}"/>
              </a:ext>
            </a:extLst>
          </p:cNvPr>
          <p:cNvPicPr preferRelativeResize="0"/>
          <p:nvPr/>
        </p:nvPicPr>
        <p:blipFill rotWithShape="1">
          <a:blip r:embed="rId5">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C8E4A12E-554E-3058-E88E-46D5EE39C3C0}"/>
              </a:ext>
            </a:extLst>
          </p:cNvPr>
          <p:cNvPicPr>
            <a:picLocks noChangeAspect="1"/>
          </p:cNvPicPr>
          <p:nvPr/>
        </p:nvPicPr>
        <p:blipFill>
          <a:blip r:embed="rId6"/>
          <a:stretch>
            <a:fillRect/>
          </a:stretch>
        </p:blipFill>
        <p:spPr>
          <a:xfrm>
            <a:off x="10042738" y="172072"/>
            <a:ext cx="2149262" cy="75077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8" name="Google Shape;138;p29"/>
          <p:cNvSpPr txBox="1">
            <a:spLocks noGrp="1"/>
          </p:cNvSpPr>
          <p:nvPr>
            <p:ph type="body" idx="1"/>
          </p:nvPr>
        </p:nvSpPr>
        <p:spPr>
          <a:xfrm>
            <a:off x="1236138" y="2090739"/>
            <a:ext cx="9719723" cy="169959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accent1"/>
              </a:buClr>
              <a:buSzPts val="4400"/>
              <a:buNone/>
            </a:pPr>
            <a:r>
              <a:rPr lang="en-US" sz="3800" dirty="0">
                <a:solidFill>
                  <a:schemeClr val="accent1"/>
                </a:solidFill>
              </a:rPr>
              <a:t>Transactions using SQLite</a:t>
            </a:r>
            <a:endParaRPr lang="en-US" sz="3800" dirty="0"/>
          </a:p>
        </p:txBody>
      </p:sp>
      <p:pic>
        <p:nvPicPr>
          <p:cNvPr id="2" name="Google Shape;133;p27">
            <a:extLst>
              <a:ext uri="{FF2B5EF4-FFF2-40B4-BE49-F238E27FC236}">
                <a16:creationId xmlns:a16="http://schemas.microsoft.com/office/drawing/2014/main" id="{CC77A008-DCC3-FF7E-CBD9-DE6F6265E92F}"/>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654C8B7C-0E49-9D49-501C-AA20DF4B2261}"/>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A6034562-783A-7019-A812-D12329EC0673}"/>
              </a:ext>
            </a:extLst>
          </p:cNvPr>
          <p:cNvPicPr>
            <a:picLocks noChangeAspect="1"/>
          </p:cNvPicPr>
          <p:nvPr/>
        </p:nvPicPr>
        <p:blipFill>
          <a:blip r:embed="rId5"/>
          <a:stretch>
            <a:fillRect/>
          </a:stretch>
        </p:blipFill>
        <p:spPr>
          <a:xfrm>
            <a:off x="10042738" y="172072"/>
            <a:ext cx="2149262" cy="750770"/>
          </a:xfrm>
          <a:prstGeom prst="rect">
            <a:avLst/>
          </a:prstGeom>
        </p:spPr>
      </p:pic>
    </p:spTree>
    <p:extLst>
      <p:ext uri="{BB962C8B-B14F-4D97-AF65-F5344CB8AC3E}">
        <p14:creationId xmlns:p14="http://schemas.microsoft.com/office/powerpoint/2010/main" val="15853163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125"/>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Arial"/>
              <a:buNone/>
            </a:pPr>
            <a:r>
              <a:rPr lang="en-US">
                <a:solidFill>
                  <a:schemeClr val="accent1"/>
                </a:solidFill>
              </a:rPr>
              <a:t>Transactions</a:t>
            </a:r>
            <a:endParaRPr/>
          </a:p>
        </p:txBody>
      </p:sp>
      <p:sp>
        <p:nvSpPr>
          <p:cNvPr id="822" name="Google Shape;822;p125"/>
          <p:cNvSpPr txBox="1">
            <a:spLocks noGrp="1"/>
          </p:cNvSpPr>
          <p:nvPr>
            <p:ph type="body" idx="1"/>
          </p:nvPr>
        </p:nvSpPr>
        <p:spPr>
          <a:xfrm>
            <a:off x="276224" y="1215010"/>
            <a:ext cx="11520000" cy="49680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000"/>
              <a:buFont typeface="Noto Sans Symbols"/>
              <a:buChar char="▪"/>
            </a:pPr>
            <a:r>
              <a:rPr lang="en-US" b="0" dirty="0"/>
              <a:t>SQLite is a transactional database that all changes and queries are atomic, consistent, isolated, and durable (ACID).</a:t>
            </a:r>
            <a:endParaRPr dirty="0"/>
          </a:p>
          <a:p>
            <a:pPr marL="342900" lvl="0" indent="-342900" algn="l" rtl="0">
              <a:lnSpc>
                <a:spcPct val="150000"/>
              </a:lnSpc>
              <a:spcBef>
                <a:spcPts val="1800"/>
              </a:spcBef>
              <a:spcAft>
                <a:spcPts val="0"/>
              </a:spcAft>
              <a:buClr>
                <a:schemeClr val="dk1"/>
              </a:buClr>
              <a:buSzPts val="2000"/>
              <a:buFont typeface="Noto Sans Symbols"/>
              <a:buChar char="▪"/>
            </a:pPr>
            <a:r>
              <a:rPr lang="en-US" b="0" dirty="0"/>
              <a:t>SQLite guarantees all the transactions are ACID compliant even if the transaction is interrupted by a program crash, operation system dump, or power failure to the computer.</a:t>
            </a:r>
            <a:endParaRPr dirty="0"/>
          </a:p>
          <a:p>
            <a:pPr marL="342900" lvl="0" indent="-342900" algn="l" rtl="0">
              <a:lnSpc>
                <a:spcPct val="150000"/>
              </a:lnSpc>
              <a:spcBef>
                <a:spcPts val="1800"/>
              </a:spcBef>
              <a:spcAft>
                <a:spcPts val="0"/>
              </a:spcAft>
              <a:buClr>
                <a:schemeClr val="dk1"/>
              </a:buClr>
              <a:buSzPts val="2000"/>
              <a:buFont typeface="Noto Sans Symbols"/>
              <a:buChar char="▪"/>
            </a:pPr>
            <a:r>
              <a:rPr lang="en-US" b="0" dirty="0"/>
              <a:t>The following commands are used to control transactions.</a:t>
            </a:r>
            <a:endParaRPr dirty="0"/>
          </a:p>
          <a:p>
            <a:pPr marL="1428750" lvl="4" indent="-342900" algn="l" rtl="0">
              <a:lnSpc>
                <a:spcPct val="150000"/>
              </a:lnSpc>
              <a:spcBef>
                <a:spcPts val="1100"/>
              </a:spcBef>
              <a:spcAft>
                <a:spcPts val="0"/>
              </a:spcAft>
              <a:buClr>
                <a:schemeClr val="dk1"/>
              </a:buClr>
              <a:buSzPts val="2000"/>
              <a:buChar char="▪"/>
            </a:pPr>
            <a:r>
              <a:rPr lang="en-US" sz="2000" dirty="0"/>
              <a:t>COMMIT − to save the changes.</a:t>
            </a:r>
            <a:endParaRPr dirty="0"/>
          </a:p>
          <a:p>
            <a:pPr marL="1428750" lvl="4" indent="-342900" algn="l" rtl="0">
              <a:lnSpc>
                <a:spcPct val="150000"/>
              </a:lnSpc>
              <a:spcBef>
                <a:spcPts val="500"/>
              </a:spcBef>
              <a:spcAft>
                <a:spcPts val="0"/>
              </a:spcAft>
              <a:buClr>
                <a:schemeClr val="dk1"/>
              </a:buClr>
              <a:buSzPts val="2000"/>
              <a:buChar char="▪"/>
            </a:pPr>
            <a:r>
              <a:rPr lang="en-US" sz="2000" dirty="0"/>
              <a:t>ROLLBACK − to roll back the changes.</a:t>
            </a:r>
            <a:endParaRPr dirty="0"/>
          </a:p>
        </p:txBody>
      </p:sp>
      <p:pic>
        <p:nvPicPr>
          <p:cNvPr id="2" name="Google Shape;133;p27">
            <a:extLst>
              <a:ext uri="{FF2B5EF4-FFF2-40B4-BE49-F238E27FC236}">
                <a16:creationId xmlns:a16="http://schemas.microsoft.com/office/drawing/2014/main" id="{6A0D2866-CA4C-1B80-A0E5-780E863642F5}"/>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98D5CE2C-C7F6-A61C-BD26-F40D0532A387}"/>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635E62E3-BE1C-89BE-299B-331E3C2636CF}"/>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126"/>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Arial"/>
              <a:buNone/>
            </a:pPr>
            <a:r>
              <a:rPr lang="en-US">
                <a:solidFill>
                  <a:schemeClr val="accent1"/>
                </a:solidFill>
              </a:rPr>
              <a:t>ACID properties</a:t>
            </a:r>
            <a:endParaRPr/>
          </a:p>
        </p:txBody>
      </p:sp>
      <p:sp>
        <p:nvSpPr>
          <p:cNvPr id="828" name="Google Shape;828;p126"/>
          <p:cNvSpPr txBox="1">
            <a:spLocks noGrp="1"/>
          </p:cNvSpPr>
          <p:nvPr>
            <p:ph type="body" idx="1"/>
          </p:nvPr>
        </p:nvSpPr>
        <p:spPr>
          <a:xfrm>
            <a:off x="276224" y="1215010"/>
            <a:ext cx="11520000" cy="5257228"/>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lnSpc>
                <a:spcPct val="150000"/>
              </a:lnSpc>
              <a:spcBef>
                <a:spcPts val="0"/>
              </a:spcBef>
              <a:spcAft>
                <a:spcPts val="0"/>
              </a:spcAft>
              <a:buClr>
                <a:schemeClr val="dk1"/>
              </a:buClr>
              <a:buSzPct val="100000"/>
              <a:buFont typeface="Noto Sans Symbols"/>
              <a:buChar char="▪"/>
            </a:pPr>
            <a:r>
              <a:rPr lang="en-US"/>
              <a:t>Atomicity</a:t>
            </a:r>
            <a:endParaRPr/>
          </a:p>
          <a:p>
            <a:pPr marL="914400" lvl="3" indent="-285750" algn="l" rtl="0">
              <a:lnSpc>
                <a:spcPct val="150000"/>
              </a:lnSpc>
              <a:spcBef>
                <a:spcPts val="1100"/>
              </a:spcBef>
              <a:spcAft>
                <a:spcPts val="0"/>
              </a:spcAft>
              <a:buClr>
                <a:schemeClr val="dk1"/>
              </a:buClr>
              <a:buSzPct val="100000"/>
              <a:buChar char="▪"/>
            </a:pPr>
            <a:r>
              <a:rPr lang="en-US" sz="2000" b="1"/>
              <a:t>A</a:t>
            </a:r>
            <a:r>
              <a:rPr lang="en-US" sz="2000"/>
              <a:t>tomic: a transaction should be atomic.  It means that a change cannot be broken down into smaller ones. </a:t>
            </a:r>
            <a:endParaRPr/>
          </a:p>
          <a:p>
            <a:pPr marL="914400" lvl="3" indent="-285750" algn="l" rtl="0">
              <a:lnSpc>
                <a:spcPct val="150000"/>
              </a:lnSpc>
              <a:spcBef>
                <a:spcPts val="500"/>
              </a:spcBef>
              <a:spcAft>
                <a:spcPts val="0"/>
              </a:spcAft>
              <a:buClr>
                <a:schemeClr val="dk1"/>
              </a:buClr>
              <a:buSzPct val="100000"/>
              <a:buChar char="▪"/>
            </a:pPr>
            <a:r>
              <a:rPr lang="en-US" sz="2000"/>
              <a:t>When you commit a transaction, either the entire transaction is applied or not.</a:t>
            </a:r>
            <a:endParaRPr/>
          </a:p>
          <a:p>
            <a:pPr marL="342900" lvl="0" indent="-342900" algn="l" rtl="0">
              <a:lnSpc>
                <a:spcPct val="150000"/>
              </a:lnSpc>
              <a:spcBef>
                <a:spcPts val="1200"/>
              </a:spcBef>
              <a:spcAft>
                <a:spcPts val="0"/>
              </a:spcAft>
              <a:buClr>
                <a:schemeClr val="dk1"/>
              </a:buClr>
              <a:buSzPct val="100000"/>
              <a:buFont typeface="Noto Sans Symbols"/>
              <a:buChar char="▪"/>
            </a:pPr>
            <a:r>
              <a:rPr lang="en-US"/>
              <a:t>Consistent</a:t>
            </a:r>
            <a:r>
              <a:rPr lang="en-US" b="0"/>
              <a:t>: </a:t>
            </a:r>
            <a:endParaRPr/>
          </a:p>
          <a:p>
            <a:pPr marL="971550" lvl="3" indent="-342900" algn="l" rtl="0">
              <a:lnSpc>
                <a:spcPct val="150000"/>
              </a:lnSpc>
              <a:spcBef>
                <a:spcPts val="1100"/>
              </a:spcBef>
              <a:spcAft>
                <a:spcPts val="0"/>
              </a:spcAft>
              <a:buClr>
                <a:schemeClr val="dk1"/>
              </a:buClr>
              <a:buSzPct val="100000"/>
              <a:buChar char="▪"/>
            </a:pPr>
            <a:r>
              <a:rPr lang="en-US" sz="2000" b="0"/>
              <a:t>when the transaction is committed or rolled back, it is important that the transaction must keep the database consistent.</a:t>
            </a:r>
            <a:endParaRPr/>
          </a:p>
          <a:p>
            <a:pPr marL="228600" lvl="1" indent="-228600" algn="l" rtl="0">
              <a:lnSpc>
                <a:spcPct val="150000"/>
              </a:lnSpc>
              <a:spcBef>
                <a:spcPts val="500"/>
              </a:spcBef>
              <a:spcAft>
                <a:spcPts val="0"/>
              </a:spcAft>
              <a:buClr>
                <a:schemeClr val="dk1"/>
              </a:buClr>
              <a:buSzPct val="100000"/>
              <a:buChar char="▪"/>
            </a:pPr>
            <a:r>
              <a:rPr lang="en-US" sz="2000">
                <a:solidFill>
                  <a:schemeClr val="dk1"/>
                </a:solidFill>
              </a:rPr>
              <a:t>  </a:t>
            </a:r>
            <a:r>
              <a:rPr lang="en-US" sz="2000" b="1">
                <a:solidFill>
                  <a:schemeClr val="dk1"/>
                </a:solidFill>
              </a:rPr>
              <a:t>Isolation</a:t>
            </a:r>
            <a:endParaRPr/>
          </a:p>
          <a:p>
            <a:pPr marL="971550" lvl="3" indent="-342900" algn="l" rtl="0">
              <a:lnSpc>
                <a:spcPct val="150000"/>
              </a:lnSpc>
              <a:spcBef>
                <a:spcPts val="500"/>
              </a:spcBef>
              <a:spcAft>
                <a:spcPts val="0"/>
              </a:spcAft>
              <a:buClr>
                <a:schemeClr val="dk1"/>
              </a:buClr>
              <a:buSzPct val="100000"/>
              <a:buChar char="▪"/>
            </a:pPr>
            <a:r>
              <a:rPr lang="en-US" sz="2000"/>
              <a:t>In case if two transactions executing concurrently only respective transaction results will appear to the client, not other client's transaction results.</a:t>
            </a:r>
            <a:endParaRPr/>
          </a:p>
          <a:p>
            <a:pPr marL="285750" lvl="1" indent="-285750" algn="l" rtl="0">
              <a:lnSpc>
                <a:spcPct val="150000"/>
              </a:lnSpc>
              <a:spcBef>
                <a:spcPts val="500"/>
              </a:spcBef>
              <a:spcAft>
                <a:spcPts val="0"/>
              </a:spcAft>
              <a:buClr>
                <a:schemeClr val="dk1"/>
              </a:buClr>
              <a:buSzPct val="100000"/>
              <a:buChar char="▪"/>
            </a:pPr>
            <a:r>
              <a:rPr lang="en-US" sz="2000" b="1">
                <a:solidFill>
                  <a:schemeClr val="dk1"/>
                </a:solidFill>
              </a:rPr>
              <a:t>Durability</a:t>
            </a:r>
            <a:endParaRPr/>
          </a:p>
          <a:p>
            <a:pPr marL="971550" lvl="3" indent="-342900" algn="l" rtl="0">
              <a:lnSpc>
                <a:spcPct val="150000"/>
              </a:lnSpc>
              <a:spcBef>
                <a:spcPts val="500"/>
              </a:spcBef>
              <a:spcAft>
                <a:spcPts val="0"/>
              </a:spcAft>
              <a:buClr>
                <a:schemeClr val="dk1"/>
              </a:buClr>
              <a:buSzPct val="100000"/>
              <a:buChar char="▪"/>
            </a:pPr>
            <a:r>
              <a:rPr lang="en-US" sz="2000"/>
              <a:t>Durability means once the transaction committed successfully then it is guaranteed that all the changes committed permanently to the database </a:t>
            </a:r>
            <a:endParaRPr/>
          </a:p>
        </p:txBody>
      </p:sp>
      <p:pic>
        <p:nvPicPr>
          <p:cNvPr id="2" name="Google Shape;133;p27">
            <a:extLst>
              <a:ext uri="{FF2B5EF4-FFF2-40B4-BE49-F238E27FC236}">
                <a16:creationId xmlns:a16="http://schemas.microsoft.com/office/drawing/2014/main" id="{3FC01A8A-87F4-53B6-F6F6-895FAEAECCD7}"/>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2E026CD3-A6D9-9094-4242-B6796B0AE126}"/>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6EEEDC25-F8E9-C741-CD77-A787BD6A6351}"/>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127"/>
          <p:cNvSpPr txBox="1">
            <a:spLocks noGrp="1"/>
          </p:cNvSpPr>
          <p:nvPr>
            <p:ph type="title"/>
          </p:nvPr>
        </p:nvSpPr>
        <p:spPr>
          <a:xfrm>
            <a:off x="275492" y="95489"/>
            <a:ext cx="10800000" cy="9393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sz="3800" dirty="0"/>
              <a:t>Creating a Transaction and rollback()</a:t>
            </a:r>
            <a:endParaRPr sz="3800" dirty="0"/>
          </a:p>
        </p:txBody>
      </p:sp>
      <p:sp>
        <p:nvSpPr>
          <p:cNvPr id="834" name="Google Shape;834;p127"/>
          <p:cNvSpPr/>
          <p:nvPr/>
        </p:nvSpPr>
        <p:spPr>
          <a:xfrm>
            <a:off x="433386" y="1192023"/>
            <a:ext cx="8759775" cy="5078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Arial"/>
                <a:ea typeface="Arial"/>
                <a:cs typeface="Arial"/>
                <a:sym typeface="Arial"/>
              </a:rPr>
              <a:t>import sqlite3 as lite</a:t>
            </a:r>
            <a:endParaRPr sz="1600"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import sys</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con = </a:t>
            </a:r>
            <a:r>
              <a:rPr lang="en-US" sz="1600" dirty="0" err="1">
                <a:solidFill>
                  <a:schemeClr val="dk1"/>
                </a:solidFill>
                <a:latin typeface="Arial"/>
                <a:ea typeface="Arial"/>
                <a:cs typeface="Arial"/>
                <a:sym typeface="Arial"/>
              </a:rPr>
              <a:t>lite.connect</a:t>
            </a:r>
            <a:r>
              <a:rPr lang="en-US" sz="1600" dirty="0">
                <a:solidFill>
                  <a:schemeClr val="dk1"/>
                </a:solidFill>
                <a:latin typeface="Arial"/>
                <a:ea typeface="Arial"/>
                <a:cs typeface="Arial"/>
                <a:sym typeface="Arial"/>
              </a:rPr>
              <a:t>('</a:t>
            </a:r>
            <a:r>
              <a:rPr lang="en-US" sz="1600" dirty="0" err="1">
                <a:solidFill>
                  <a:schemeClr val="dk1"/>
                </a:solidFill>
                <a:latin typeface="Arial"/>
                <a:ea typeface="Arial"/>
                <a:cs typeface="Arial"/>
                <a:sym typeface="Arial"/>
              </a:rPr>
              <a:t>test.db</a:t>
            </a:r>
            <a:r>
              <a:rPr lang="en-US" sz="1600" dirty="0">
                <a:solidFill>
                  <a:schemeClr val="dk1"/>
                </a:solidFill>
                <a:latin typeface="Arial"/>
                <a:ea typeface="Arial"/>
                <a:cs typeface="Arial"/>
                <a:sym typeface="Arial"/>
              </a:rPr>
              <a:t>')</a:t>
            </a:r>
            <a:endParaRPr sz="1600"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#con = </a:t>
            </a:r>
            <a:r>
              <a:rPr lang="en-US" sz="1600" dirty="0" err="1">
                <a:solidFill>
                  <a:schemeClr val="dk1"/>
                </a:solidFill>
                <a:latin typeface="Arial"/>
                <a:ea typeface="Arial"/>
                <a:cs typeface="Arial"/>
                <a:sym typeface="Arial"/>
              </a:rPr>
              <a:t>lite.connect</a:t>
            </a:r>
            <a:r>
              <a:rPr lang="en-US" sz="1600" dirty="0">
                <a:solidFill>
                  <a:schemeClr val="dk1"/>
                </a:solidFill>
                <a:latin typeface="Arial"/>
                <a:ea typeface="Arial"/>
                <a:cs typeface="Arial"/>
                <a:sym typeface="Arial"/>
              </a:rPr>
              <a:t>('</a:t>
            </a:r>
            <a:r>
              <a:rPr lang="en-US" sz="1600" dirty="0" err="1">
                <a:solidFill>
                  <a:schemeClr val="dk1"/>
                </a:solidFill>
                <a:latin typeface="Arial"/>
                <a:ea typeface="Arial"/>
                <a:cs typeface="Arial"/>
                <a:sym typeface="Arial"/>
              </a:rPr>
              <a:t>test.db</a:t>
            </a:r>
            <a:r>
              <a:rPr lang="en-US" sz="1600" dirty="0">
                <a:solidFill>
                  <a:schemeClr val="dk1"/>
                </a:solidFill>
                <a:latin typeface="Arial"/>
                <a:ea typeface="Arial"/>
                <a:cs typeface="Arial"/>
                <a:sym typeface="Arial"/>
              </a:rPr>
              <a:t>', </a:t>
            </a:r>
            <a:r>
              <a:rPr lang="en-US" sz="1600" dirty="0" err="1">
                <a:solidFill>
                  <a:schemeClr val="dk1"/>
                </a:solidFill>
                <a:latin typeface="Arial"/>
                <a:ea typeface="Arial"/>
                <a:cs typeface="Arial"/>
                <a:sym typeface="Arial"/>
              </a:rPr>
              <a:t>isolation_level</a:t>
            </a:r>
            <a:r>
              <a:rPr lang="en-US" sz="1600" dirty="0">
                <a:solidFill>
                  <a:schemeClr val="dk1"/>
                </a:solidFill>
                <a:latin typeface="Arial"/>
                <a:ea typeface="Arial"/>
                <a:cs typeface="Arial"/>
                <a:sym typeface="Arial"/>
              </a:rPr>
              <a:t>=None)</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cur = </a:t>
            </a:r>
            <a:r>
              <a:rPr lang="en-US" sz="1600" dirty="0" err="1">
                <a:solidFill>
                  <a:schemeClr val="dk1"/>
                </a:solidFill>
                <a:latin typeface="Arial"/>
                <a:ea typeface="Arial"/>
                <a:cs typeface="Arial"/>
                <a:sym typeface="Arial"/>
              </a:rPr>
              <a:t>con.cursor</a:t>
            </a:r>
            <a:r>
              <a:rPr lang="en-US" sz="1600" dirty="0">
                <a:solidFill>
                  <a:schemeClr val="dk1"/>
                </a:solidFill>
                <a:latin typeface="Arial"/>
                <a:ea typeface="Arial"/>
                <a:cs typeface="Arial"/>
                <a:sym typeface="Arial"/>
              </a:rPr>
              <a:t>()</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err="1">
                <a:solidFill>
                  <a:schemeClr val="dk1"/>
                </a:solidFill>
                <a:latin typeface="Arial"/>
                <a:ea typeface="Arial"/>
                <a:cs typeface="Arial"/>
                <a:sym typeface="Arial"/>
              </a:rPr>
              <a:t>cur.execute</a:t>
            </a:r>
            <a:r>
              <a:rPr lang="en-US" sz="1600" dirty="0">
                <a:solidFill>
                  <a:schemeClr val="dk1"/>
                </a:solidFill>
                <a:latin typeface="Arial"/>
                <a:ea typeface="Arial"/>
                <a:cs typeface="Arial"/>
                <a:sym typeface="Arial"/>
              </a:rPr>
              <a:t>("CREATE TABLE temp(id INTEGER PRIMARY KEY, name TEXT)")</a:t>
            </a:r>
            <a:endParaRPr sz="1600" dirty="0"/>
          </a:p>
          <a:p>
            <a:pPr marL="0" marR="0" lvl="0" indent="0" algn="l" rtl="0">
              <a:spcBef>
                <a:spcPts val="0"/>
              </a:spcBef>
              <a:spcAft>
                <a:spcPts val="0"/>
              </a:spcAft>
              <a:buNone/>
            </a:pPr>
            <a:r>
              <a:rPr lang="en-US" sz="1600" dirty="0" err="1">
                <a:solidFill>
                  <a:schemeClr val="dk1"/>
                </a:solidFill>
                <a:latin typeface="Arial"/>
                <a:ea typeface="Arial"/>
                <a:cs typeface="Arial"/>
                <a:sym typeface="Arial"/>
              </a:rPr>
              <a:t>cur.execute</a:t>
            </a:r>
            <a:r>
              <a:rPr lang="en-US" sz="1600" dirty="0">
                <a:solidFill>
                  <a:schemeClr val="dk1"/>
                </a:solidFill>
                <a:latin typeface="Arial"/>
                <a:ea typeface="Arial"/>
                <a:cs typeface="Arial"/>
                <a:sym typeface="Arial"/>
              </a:rPr>
              <a:t>("INSERT INTO temp(name) VALUES ('Tom')")</a:t>
            </a:r>
            <a:endParaRPr sz="1600" dirty="0"/>
          </a:p>
          <a:p>
            <a:pPr marL="0" marR="0" lvl="0" indent="0" algn="l" rtl="0">
              <a:spcBef>
                <a:spcPts val="0"/>
              </a:spcBef>
              <a:spcAft>
                <a:spcPts val="0"/>
              </a:spcAft>
              <a:buNone/>
            </a:pPr>
            <a:r>
              <a:rPr lang="en-US" sz="1600" dirty="0" err="1">
                <a:solidFill>
                  <a:schemeClr val="dk1"/>
                </a:solidFill>
                <a:latin typeface="Arial"/>
                <a:ea typeface="Arial"/>
                <a:cs typeface="Arial"/>
                <a:sym typeface="Arial"/>
              </a:rPr>
              <a:t>cur.execute</a:t>
            </a:r>
            <a:r>
              <a:rPr lang="en-US" sz="1600" dirty="0">
                <a:solidFill>
                  <a:schemeClr val="dk1"/>
                </a:solidFill>
                <a:latin typeface="Arial"/>
                <a:ea typeface="Arial"/>
                <a:cs typeface="Arial"/>
                <a:sym typeface="Arial"/>
              </a:rPr>
              <a:t>("INSERT INTO temp(name) VALUES ('Rebecca')")</a:t>
            </a:r>
            <a:endParaRPr sz="1600" dirty="0"/>
          </a:p>
          <a:p>
            <a:pPr marL="0" marR="0" lvl="0" indent="0" algn="l" rtl="0">
              <a:spcBef>
                <a:spcPts val="0"/>
              </a:spcBef>
              <a:spcAft>
                <a:spcPts val="0"/>
              </a:spcAft>
              <a:buNone/>
            </a:pPr>
            <a:r>
              <a:rPr lang="en-US" sz="1600" dirty="0" err="1">
                <a:solidFill>
                  <a:schemeClr val="dk1"/>
                </a:solidFill>
                <a:latin typeface="Arial"/>
                <a:ea typeface="Arial"/>
                <a:cs typeface="Arial"/>
                <a:sym typeface="Arial"/>
              </a:rPr>
              <a:t>cur.execute</a:t>
            </a:r>
            <a:r>
              <a:rPr lang="en-US" sz="1600" dirty="0">
                <a:solidFill>
                  <a:schemeClr val="dk1"/>
                </a:solidFill>
                <a:latin typeface="Arial"/>
                <a:ea typeface="Arial"/>
                <a:cs typeface="Arial"/>
                <a:sym typeface="Arial"/>
              </a:rPr>
              <a:t>("INSERT INTO temp(name) VALUES ('Jim')")</a:t>
            </a:r>
            <a:endParaRPr sz="1600" dirty="0"/>
          </a:p>
          <a:p>
            <a:pPr marL="0" marR="0" lvl="0" indent="0" algn="l" rtl="0">
              <a:spcBef>
                <a:spcPts val="0"/>
              </a:spcBef>
              <a:spcAft>
                <a:spcPts val="0"/>
              </a:spcAft>
              <a:buNone/>
            </a:pPr>
            <a:r>
              <a:rPr lang="en-US" sz="1600" dirty="0" err="1">
                <a:solidFill>
                  <a:schemeClr val="dk1"/>
                </a:solidFill>
                <a:latin typeface="Arial"/>
                <a:ea typeface="Arial"/>
                <a:cs typeface="Arial"/>
                <a:sym typeface="Arial"/>
              </a:rPr>
              <a:t>cur.execute</a:t>
            </a:r>
            <a:r>
              <a:rPr lang="en-US" sz="1600" dirty="0">
                <a:solidFill>
                  <a:schemeClr val="dk1"/>
                </a:solidFill>
                <a:latin typeface="Arial"/>
                <a:ea typeface="Arial"/>
                <a:cs typeface="Arial"/>
                <a:sym typeface="Arial"/>
              </a:rPr>
              <a:t>("INSERT INTO temp(name) VALUES ('Robert')")</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#con.commit()</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err="1">
                <a:solidFill>
                  <a:schemeClr val="dk1"/>
                </a:solidFill>
                <a:latin typeface="Arial"/>
                <a:ea typeface="Arial"/>
                <a:cs typeface="Arial"/>
                <a:sym typeface="Arial"/>
              </a:rPr>
              <a:t>con.rollback</a:t>
            </a:r>
            <a:r>
              <a:rPr lang="en-US" sz="1600" dirty="0">
                <a:solidFill>
                  <a:schemeClr val="dk1"/>
                </a:solidFill>
                <a:latin typeface="Arial"/>
                <a:ea typeface="Arial"/>
                <a:cs typeface="Arial"/>
                <a:sym typeface="Arial"/>
              </a:rPr>
              <a:t>()</a:t>
            </a:r>
            <a:endParaRPr sz="1600" dirty="0"/>
          </a:p>
          <a:p>
            <a:pPr marL="0" marR="0" lvl="0" indent="0" algn="l" rtl="0">
              <a:spcBef>
                <a:spcPts val="0"/>
              </a:spcBef>
              <a:spcAft>
                <a:spcPts val="0"/>
              </a:spcAft>
              <a:buNone/>
            </a:pPr>
            <a:r>
              <a:rPr lang="en-US" sz="1600" dirty="0" err="1">
                <a:solidFill>
                  <a:schemeClr val="dk1"/>
                </a:solidFill>
                <a:latin typeface="Arial"/>
                <a:ea typeface="Arial"/>
                <a:cs typeface="Arial"/>
                <a:sym typeface="Arial"/>
              </a:rPr>
              <a:t>con.close</a:t>
            </a:r>
            <a:r>
              <a:rPr lang="en-US" sz="1600" dirty="0">
                <a:solidFill>
                  <a:schemeClr val="dk1"/>
                </a:solidFill>
                <a:latin typeface="Arial"/>
                <a:ea typeface="Arial"/>
                <a:cs typeface="Arial"/>
                <a:sym typeface="Arial"/>
              </a:rPr>
              <a:t>()</a:t>
            </a:r>
            <a:endParaRPr sz="1600" dirty="0"/>
          </a:p>
        </p:txBody>
      </p:sp>
      <p:sp>
        <p:nvSpPr>
          <p:cNvPr id="835" name="Google Shape;835;p127"/>
          <p:cNvSpPr/>
          <p:nvPr/>
        </p:nvSpPr>
        <p:spPr>
          <a:xfrm>
            <a:off x="7929563" y="1192023"/>
            <a:ext cx="4233861" cy="48013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Arial"/>
                <a:ea typeface="Arial"/>
                <a:cs typeface="Arial"/>
                <a:sym typeface="Arial"/>
              </a:rPr>
              <a:t>import sqlite3 as lite</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con = </a:t>
            </a:r>
            <a:r>
              <a:rPr lang="en-US" sz="1600" dirty="0" err="1">
                <a:solidFill>
                  <a:schemeClr val="dk1"/>
                </a:solidFill>
                <a:latin typeface="Arial"/>
                <a:ea typeface="Arial"/>
                <a:cs typeface="Arial"/>
                <a:sym typeface="Arial"/>
              </a:rPr>
              <a:t>lite.connect</a:t>
            </a:r>
            <a:r>
              <a:rPr lang="en-US" sz="1600" dirty="0">
                <a:solidFill>
                  <a:schemeClr val="dk1"/>
                </a:solidFill>
                <a:latin typeface="Arial"/>
                <a:ea typeface="Arial"/>
                <a:cs typeface="Arial"/>
                <a:sym typeface="Arial"/>
              </a:rPr>
              <a:t>('</a:t>
            </a:r>
            <a:r>
              <a:rPr lang="en-US" sz="1600" dirty="0" err="1">
                <a:solidFill>
                  <a:schemeClr val="dk1"/>
                </a:solidFill>
                <a:latin typeface="Arial"/>
                <a:ea typeface="Arial"/>
                <a:cs typeface="Arial"/>
                <a:sym typeface="Arial"/>
              </a:rPr>
              <a:t>test.db</a:t>
            </a:r>
            <a:r>
              <a:rPr lang="en-US" sz="1600" dirty="0">
                <a:solidFill>
                  <a:schemeClr val="dk1"/>
                </a:solidFill>
                <a:latin typeface="Arial"/>
                <a:ea typeface="Arial"/>
                <a:cs typeface="Arial"/>
                <a:sym typeface="Arial"/>
              </a:rPr>
              <a:t>')</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with con:</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    cur = </a:t>
            </a:r>
            <a:r>
              <a:rPr lang="en-US" sz="1600" dirty="0" err="1">
                <a:solidFill>
                  <a:schemeClr val="dk1"/>
                </a:solidFill>
                <a:latin typeface="Arial"/>
                <a:ea typeface="Arial"/>
                <a:cs typeface="Arial"/>
                <a:sym typeface="Arial"/>
              </a:rPr>
              <a:t>con.cursor</a:t>
            </a:r>
            <a:r>
              <a:rPr lang="en-US" sz="1600" dirty="0">
                <a:solidFill>
                  <a:schemeClr val="dk1"/>
                </a:solidFill>
                <a:latin typeface="Arial"/>
                <a:ea typeface="Arial"/>
                <a:cs typeface="Arial"/>
                <a:sym typeface="Arial"/>
              </a:rPr>
              <a:t>()</a:t>
            </a:r>
            <a:endParaRPr sz="1600"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    </a:t>
            </a:r>
            <a:r>
              <a:rPr lang="en-US" sz="1600" dirty="0" err="1">
                <a:solidFill>
                  <a:schemeClr val="dk1"/>
                </a:solidFill>
                <a:latin typeface="Arial"/>
                <a:ea typeface="Arial"/>
                <a:cs typeface="Arial"/>
                <a:sym typeface="Arial"/>
              </a:rPr>
              <a:t>cur.execute</a:t>
            </a:r>
            <a:r>
              <a:rPr lang="en-US" sz="1600" dirty="0">
                <a:solidFill>
                  <a:schemeClr val="dk1"/>
                </a:solidFill>
                <a:latin typeface="Arial"/>
                <a:ea typeface="Arial"/>
                <a:cs typeface="Arial"/>
                <a:sym typeface="Arial"/>
              </a:rPr>
              <a:t>("SELECT * FROM temp")</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    while True:</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        row = </a:t>
            </a:r>
            <a:r>
              <a:rPr lang="en-US" sz="1600" dirty="0" err="1">
                <a:solidFill>
                  <a:schemeClr val="dk1"/>
                </a:solidFill>
                <a:latin typeface="Arial"/>
                <a:ea typeface="Arial"/>
                <a:cs typeface="Arial"/>
                <a:sym typeface="Arial"/>
              </a:rPr>
              <a:t>cur.fetchone</a:t>
            </a:r>
            <a:r>
              <a:rPr lang="en-US" sz="1600" dirty="0">
                <a:solidFill>
                  <a:schemeClr val="dk1"/>
                </a:solidFill>
                <a:latin typeface="Arial"/>
                <a:ea typeface="Arial"/>
                <a:cs typeface="Arial"/>
                <a:sym typeface="Arial"/>
              </a:rPr>
              <a:t>()</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        if row == None:</a:t>
            </a:r>
            <a:endParaRPr sz="1600"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            break</a:t>
            </a:r>
            <a:endParaRPr sz="1600" dirty="0"/>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        print (row[0], row[1])</a:t>
            </a:r>
            <a:endParaRPr sz="1600" dirty="0"/>
          </a:p>
        </p:txBody>
      </p:sp>
      <p:pic>
        <p:nvPicPr>
          <p:cNvPr id="2" name="Google Shape;133;p27">
            <a:extLst>
              <a:ext uri="{FF2B5EF4-FFF2-40B4-BE49-F238E27FC236}">
                <a16:creationId xmlns:a16="http://schemas.microsoft.com/office/drawing/2014/main" id="{053BBD54-424F-94C2-8241-37D75922870E}"/>
              </a:ext>
            </a:extLst>
          </p:cNvPr>
          <p:cNvPicPr preferRelativeResize="0"/>
          <p:nvPr/>
        </p:nvPicPr>
        <p:blipFill rotWithShape="1">
          <a:blip r:embed="rId3">
            <a:alphaModFix/>
          </a:blip>
          <a:srcRect/>
          <a:stretch/>
        </p:blipFill>
        <p:spPr>
          <a:xfrm>
            <a:off x="6316394" y="6390303"/>
            <a:ext cx="5875606" cy="468022"/>
          </a:xfrm>
          <a:prstGeom prst="rect">
            <a:avLst/>
          </a:prstGeom>
          <a:noFill/>
          <a:ln>
            <a:noFill/>
          </a:ln>
        </p:spPr>
      </p:pic>
      <p:pic>
        <p:nvPicPr>
          <p:cNvPr id="3" name="Google Shape;223;p39">
            <a:extLst>
              <a:ext uri="{FF2B5EF4-FFF2-40B4-BE49-F238E27FC236}">
                <a16:creationId xmlns:a16="http://schemas.microsoft.com/office/drawing/2014/main" id="{DDE21B0C-827C-4239-D6C0-DC06DA64F64A}"/>
              </a:ext>
            </a:extLst>
          </p:cNvPr>
          <p:cNvPicPr preferRelativeResize="0"/>
          <p:nvPr/>
        </p:nvPicPr>
        <p:blipFill rotWithShape="1">
          <a:blip r:embed="rId4">
            <a:alphaModFix/>
          </a:blip>
          <a:srcRect/>
          <a:stretch/>
        </p:blipFill>
        <p:spPr>
          <a:xfrm>
            <a:off x="10100327" y="131351"/>
            <a:ext cx="1969360" cy="832212"/>
          </a:xfrm>
          <a:prstGeom prst="rect">
            <a:avLst/>
          </a:prstGeom>
          <a:noFill/>
          <a:ln>
            <a:noFill/>
          </a:ln>
        </p:spPr>
      </p:pic>
      <p:pic>
        <p:nvPicPr>
          <p:cNvPr id="4" name="Picture 3">
            <a:extLst>
              <a:ext uri="{FF2B5EF4-FFF2-40B4-BE49-F238E27FC236}">
                <a16:creationId xmlns:a16="http://schemas.microsoft.com/office/drawing/2014/main" id="{48CE5F98-29E7-8342-182D-55B47B6CAA9D}"/>
              </a:ext>
            </a:extLst>
          </p:cNvPr>
          <p:cNvPicPr>
            <a:picLocks noChangeAspect="1"/>
          </p:cNvPicPr>
          <p:nvPr/>
        </p:nvPicPr>
        <p:blipFill>
          <a:blip r:embed="rId5"/>
          <a:stretch>
            <a:fillRect/>
          </a:stretch>
        </p:blipFill>
        <p:spPr>
          <a:xfrm>
            <a:off x="10042738" y="172072"/>
            <a:ext cx="2149262" cy="750770"/>
          </a:xfrm>
          <a:prstGeom prst="rect">
            <a:avLst/>
          </a:prstGeom>
        </p:spPr>
      </p:pic>
    </p:spTree>
  </p:cSld>
  <p:clrMapOvr>
    <a:masterClrMapping/>
  </p:clrMapOvr>
</p:sld>
</file>

<file path=ppt/theme/theme1.xml><?xml version="1.0" encoding="utf-8"?>
<a:theme xmlns:a="http://schemas.openxmlformats.org/drawingml/2006/main" name="1_GRE LivePrep 02">
  <a:themeElements>
    <a:clrScheme name="GRE LivePrep">
      <a:dk1>
        <a:srgbClr val="000000"/>
      </a:dk1>
      <a:lt1>
        <a:srgbClr val="FFFFFF"/>
      </a:lt1>
      <a:dk2>
        <a:srgbClr val="44546A"/>
      </a:dk2>
      <a:lt2>
        <a:srgbClr val="E7E6E6"/>
      </a:lt2>
      <a:accent1>
        <a:srgbClr val="013CB2"/>
      </a:accent1>
      <a:accent2>
        <a:srgbClr val="ED7D31"/>
      </a:accent2>
      <a:accent3>
        <a:srgbClr val="A5A5A5"/>
      </a:accent3>
      <a:accent4>
        <a:srgbClr val="FFF14E"/>
      </a:accent4>
      <a:accent5>
        <a:srgbClr val="ECF2FE"/>
      </a:accent5>
      <a:accent6>
        <a:srgbClr val="4679A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TotalTime>
  <Words>4350</Words>
  <Application>Microsoft Office PowerPoint</Application>
  <PresentationFormat>Widescreen</PresentationFormat>
  <Paragraphs>599</Paragraphs>
  <Slides>53</Slides>
  <Notes>52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Cambria</vt:lpstr>
      <vt:lpstr>Times New Roman</vt:lpstr>
      <vt:lpstr>Noto Sans Symbols</vt:lpstr>
      <vt:lpstr>Calibri</vt:lpstr>
      <vt:lpstr>Helvetica Neue</vt:lpstr>
      <vt:lpstr>Arial</vt:lpstr>
      <vt:lpstr>1_GRE LivePrep 02</vt:lpstr>
      <vt:lpstr>PowerPoint Presentation</vt:lpstr>
      <vt:lpstr>Data</vt:lpstr>
      <vt:lpstr>Numerous kinds of data</vt:lpstr>
      <vt:lpstr>Database</vt:lpstr>
      <vt:lpstr>Various Database systems</vt:lpstr>
      <vt:lpstr>Relational Databases</vt:lpstr>
      <vt:lpstr>Working with Databases</vt:lpstr>
      <vt:lpstr>Working with Databases</vt:lpstr>
      <vt:lpstr>SQLite database </vt:lpstr>
      <vt:lpstr>ACID properties</vt:lpstr>
      <vt:lpstr>ACID properties</vt:lpstr>
      <vt:lpstr>How to get start with databases</vt:lpstr>
      <vt:lpstr>How to work with SQLite</vt:lpstr>
      <vt:lpstr>Steps to work with SQLite</vt:lpstr>
      <vt:lpstr>Steps to work with SQLite</vt:lpstr>
      <vt:lpstr>Creating Tables in SQLite</vt:lpstr>
      <vt:lpstr>Database cursors</vt:lpstr>
      <vt:lpstr>Creating Tables in SQLite</vt:lpstr>
      <vt:lpstr>PowerPoint Presentation</vt:lpstr>
      <vt:lpstr>CURD operations using SQLite</vt:lpstr>
      <vt:lpstr>Insert data into SQLite</vt:lpstr>
      <vt:lpstr>Select data from SQLite</vt:lpstr>
      <vt:lpstr>Cursor methods</vt:lpstr>
      <vt:lpstr>Select data from SQLite</vt:lpstr>
      <vt:lpstr>Retrieving one record at a time</vt:lpstr>
      <vt:lpstr>Update SQLite data</vt:lpstr>
      <vt:lpstr>Deleting data from SQLite</vt:lpstr>
      <vt:lpstr>PowerPoint Presentation</vt:lpstr>
      <vt:lpstr>Parameterized queries</vt:lpstr>
      <vt:lpstr>Parameterized queries</vt:lpstr>
      <vt:lpstr>executescript() - executing multiple SQL statements </vt:lpstr>
      <vt:lpstr>Consider database as emp.db</vt:lpstr>
      <vt:lpstr>select with where clause</vt:lpstr>
      <vt:lpstr>select with where clause</vt:lpstr>
      <vt:lpstr>select with where clause</vt:lpstr>
      <vt:lpstr>select with order by clause</vt:lpstr>
      <vt:lpstr>select with where clause (like operator)</vt:lpstr>
      <vt:lpstr>select with where clause (max())</vt:lpstr>
      <vt:lpstr>PowerPoint Presentation</vt:lpstr>
      <vt:lpstr>Working with Joins using SQLite</vt:lpstr>
      <vt:lpstr>Inner Join</vt:lpstr>
      <vt:lpstr>Inner Join</vt:lpstr>
      <vt:lpstr>Implementation of inner join</vt:lpstr>
      <vt:lpstr> LEFT OUTER JOIN</vt:lpstr>
      <vt:lpstr>LEFT OUTER JOIN</vt:lpstr>
      <vt:lpstr>Implementation of LEFT OUTER JOIN</vt:lpstr>
      <vt:lpstr>CROSS JOIN</vt:lpstr>
      <vt:lpstr>CROSS JOIN</vt:lpstr>
      <vt:lpstr>Implementation of CROSS JOIN</vt:lpstr>
      <vt:lpstr>PowerPoint Presentation</vt:lpstr>
      <vt:lpstr>Transactions</vt:lpstr>
      <vt:lpstr>ACID properties</vt:lpstr>
      <vt:lpstr>Creating a Transaction and rollback()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Ganapathi Raju</cp:lastModifiedBy>
  <cp:revision>44</cp:revision>
  <dcterms:modified xsi:type="dcterms:W3CDTF">2025-09-15T08:32:43Z</dcterms:modified>
</cp:coreProperties>
</file>