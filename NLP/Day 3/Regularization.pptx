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257" r:id="rId4"/>
    <p:sldId id="258" r:id="rId5"/>
    <p:sldId id="259" r:id="rId6"/>
    <p:sldId id="260" r:id="rId7"/>
    <p:sldId id="261" r:id="rId8"/>
    <p:sldId id="262" r:id="rId9"/>
    <p:sldId id="263" r:id="rId10"/>
    <p:sldId id="264" r:id="rId11"/>
    <p:sldId id="265" r:id="rId12"/>
    <p:sldId id="266" r:id="rId13"/>
    <p:sldId id="267" r:id="rId14"/>
    <p:sldId id="270" r:id="rId15"/>
    <p:sldId id="268" r:id="rId16"/>
    <p:sldId id="269" r:id="rId17"/>
    <p:sldId id="271" r:id="rId18"/>
    <p:sldId id="272" r:id="rId19"/>
    <p:sldId id="273" r:id="rId20"/>
    <p:sldId id="274"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58E18F-9F99-48B1-B9A7-DEDA89148350}"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279912D-D2D9-4C07-840A-FC610E20A722}">
      <dgm:prSet/>
      <dgm:spPr/>
      <dgm:t>
        <a:bodyPr/>
        <a:lstStyle/>
        <a:p>
          <a:pPr>
            <a:lnSpc>
              <a:spcPct val="100000"/>
            </a:lnSpc>
            <a:defRPr cap="all"/>
          </a:pPr>
          <a:r>
            <a:rPr lang="en-US" b="0" i="0" dirty="0"/>
            <a:t>In the case of student A, things did not change much and he still randomly answers questions correctly ~50% of the time.</a:t>
          </a:r>
          <a:endParaRPr lang="en-US" dirty="0"/>
        </a:p>
      </dgm:t>
    </dgm:pt>
    <dgm:pt modelId="{7EDBE419-73AE-4C41-8C9E-14E12CF620D1}" type="parTrans" cxnId="{86C9D99C-7723-4791-9CC0-0F7ABB2F5FD6}">
      <dgm:prSet/>
      <dgm:spPr/>
      <dgm:t>
        <a:bodyPr/>
        <a:lstStyle/>
        <a:p>
          <a:endParaRPr lang="en-US"/>
        </a:p>
      </dgm:t>
    </dgm:pt>
    <dgm:pt modelId="{E1AF5977-BDB6-4F2C-909B-A689596B2380}" type="sibTrans" cxnId="{86C9D99C-7723-4791-9CC0-0F7ABB2F5FD6}">
      <dgm:prSet/>
      <dgm:spPr/>
      <dgm:t>
        <a:bodyPr/>
        <a:lstStyle/>
        <a:p>
          <a:endParaRPr lang="en-US"/>
        </a:p>
      </dgm:t>
    </dgm:pt>
    <dgm:pt modelId="{5B629AD4-897F-4AAD-8732-327E265E59DF}">
      <dgm:prSet/>
      <dgm:spPr/>
      <dgm:t>
        <a:bodyPr/>
        <a:lstStyle/>
        <a:p>
          <a:pPr>
            <a:lnSpc>
              <a:spcPct val="100000"/>
            </a:lnSpc>
            <a:defRPr cap="all"/>
          </a:pPr>
          <a:r>
            <a:rPr lang="en-US" b="0" i="0" dirty="0"/>
            <a:t>In the case of Student B, his score dropped significantly. Can you guess why? This is because he always memorized the problems that were taught in the class but this monthly test contained questions which he has never seen before. Therefore, his performance went down significantly</a:t>
          </a:r>
          <a:endParaRPr lang="en-US" dirty="0"/>
        </a:p>
      </dgm:t>
    </dgm:pt>
    <dgm:pt modelId="{0CCF1CF5-3C47-404B-99B0-87DE8447FB0F}" type="parTrans" cxnId="{8165DE2C-4129-4616-8ADA-FDA4750C084B}">
      <dgm:prSet/>
      <dgm:spPr/>
      <dgm:t>
        <a:bodyPr/>
        <a:lstStyle/>
        <a:p>
          <a:endParaRPr lang="en-US"/>
        </a:p>
      </dgm:t>
    </dgm:pt>
    <dgm:pt modelId="{0C4FB2A5-58B9-4934-A52F-8D1387E7AC81}" type="sibTrans" cxnId="{8165DE2C-4129-4616-8ADA-FDA4750C084B}">
      <dgm:prSet/>
      <dgm:spPr/>
      <dgm:t>
        <a:bodyPr/>
        <a:lstStyle/>
        <a:p>
          <a:endParaRPr lang="en-US"/>
        </a:p>
      </dgm:t>
    </dgm:pt>
    <dgm:pt modelId="{672C04EA-55F7-4DF5-AE8C-3C24D76E5EA5}">
      <dgm:prSet/>
      <dgm:spPr/>
      <dgm:t>
        <a:bodyPr/>
        <a:lstStyle/>
        <a:p>
          <a:pPr>
            <a:lnSpc>
              <a:spcPct val="100000"/>
            </a:lnSpc>
            <a:defRPr cap="all"/>
          </a:pPr>
          <a:r>
            <a:rPr lang="en-US" b="0" i="0" dirty="0"/>
            <a:t>In the case of Student C, the score remained more or less the same. This is because she focused on learning the problem-solving approach and therefore was able to apply the concepts she learned to solve the unknown questions</a:t>
          </a:r>
          <a:endParaRPr lang="en-US" dirty="0"/>
        </a:p>
      </dgm:t>
    </dgm:pt>
    <dgm:pt modelId="{9C0C48A4-6CC2-4426-A835-04FB0F02DBE0}" type="parTrans" cxnId="{AB99B969-7046-42CB-AE02-6E5A844CCD1F}">
      <dgm:prSet/>
      <dgm:spPr/>
      <dgm:t>
        <a:bodyPr/>
        <a:lstStyle/>
        <a:p>
          <a:endParaRPr lang="en-US"/>
        </a:p>
      </dgm:t>
    </dgm:pt>
    <dgm:pt modelId="{44F20C7C-663E-4EC0-B916-D4DBE5575D8C}" type="sibTrans" cxnId="{AB99B969-7046-42CB-AE02-6E5A844CCD1F}">
      <dgm:prSet/>
      <dgm:spPr/>
      <dgm:t>
        <a:bodyPr/>
        <a:lstStyle/>
        <a:p>
          <a:endParaRPr lang="en-US"/>
        </a:p>
      </dgm:t>
    </dgm:pt>
    <dgm:pt modelId="{54F9A4D6-78BC-4F6C-9949-3DEB3FA64F3E}" type="pres">
      <dgm:prSet presAssocID="{7A58E18F-9F99-48B1-B9A7-DEDA89148350}" presName="root" presStyleCnt="0">
        <dgm:presLayoutVars>
          <dgm:dir/>
          <dgm:resizeHandles val="exact"/>
        </dgm:presLayoutVars>
      </dgm:prSet>
      <dgm:spPr/>
    </dgm:pt>
    <dgm:pt modelId="{05817AD9-EC6D-4DED-856B-9CC82B306268}" type="pres">
      <dgm:prSet presAssocID="{D279912D-D2D9-4C07-840A-FC610E20A722}" presName="compNode" presStyleCnt="0"/>
      <dgm:spPr/>
    </dgm:pt>
    <dgm:pt modelId="{2A4D54DE-8573-403E-951F-B4164B2620CC}" type="pres">
      <dgm:prSet presAssocID="{D279912D-D2D9-4C07-840A-FC610E20A722}" presName="iconBgRect" presStyleLbl="bgShp" presStyleIdx="0" presStyleCnt="3"/>
      <dgm:spPr>
        <a:prstGeom prst="round2DiagRect">
          <a:avLst>
            <a:gd name="adj1" fmla="val 29727"/>
            <a:gd name="adj2" fmla="val 0"/>
          </a:avLst>
        </a:prstGeom>
      </dgm:spPr>
    </dgm:pt>
    <dgm:pt modelId="{1FAB06AF-D4BB-40BA-9936-7E46A84A03D6}" type="pres">
      <dgm:prSet presAssocID="{D279912D-D2D9-4C07-840A-FC610E20A72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fused Person"/>
        </a:ext>
      </dgm:extLst>
    </dgm:pt>
    <dgm:pt modelId="{88C274A3-084B-4C38-81CE-99D84ACA8FFA}" type="pres">
      <dgm:prSet presAssocID="{D279912D-D2D9-4C07-840A-FC610E20A722}" presName="spaceRect" presStyleCnt="0"/>
      <dgm:spPr/>
    </dgm:pt>
    <dgm:pt modelId="{DDD0B1E9-0848-4367-9524-0BC1B00D5E2B}" type="pres">
      <dgm:prSet presAssocID="{D279912D-D2D9-4C07-840A-FC610E20A722}" presName="textRect" presStyleLbl="revTx" presStyleIdx="0" presStyleCnt="3">
        <dgm:presLayoutVars>
          <dgm:chMax val="1"/>
          <dgm:chPref val="1"/>
        </dgm:presLayoutVars>
      </dgm:prSet>
      <dgm:spPr/>
    </dgm:pt>
    <dgm:pt modelId="{218A6237-1354-4982-92A6-5FF1D8E2177A}" type="pres">
      <dgm:prSet presAssocID="{E1AF5977-BDB6-4F2C-909B-A689596B2380}" presName="sibTrans" presStyleCnt="0"/>
      <dgm:spPr/>
    </dgm:pt>
    <dgm:pt modelId="{064241BE-467C-4090-8512-FE5DACC1DC67}" type="pres">
      <dgm:prSet presAssocID="{5B629AD4-897F-4AAD-8732-327E265E59DF}" presName="compNode" presStyleCnt="0"/>
      <dgm:spPr/>
    </dgm:pt>
    <dgm:pt modelId="{764E0D04-3254-4BAD-81A4-E206BDB86D19}" type="pres">
      <dgm:prSet presAssocID="{5B629AD4-897F-4AAD-8732-327E265E59DF}" presName="iconBgRect" presStyleLbl="bgShp" presStyleIdx="1" presStyleCnt="3"/>
      <dgm:spPr>
        <a:prstGeom prst="round2DiagRect">
          <a:avLst>
            <a:gd name="adj1" fmla="val 29727"/>
            <a:gd name="adj2" fmla="val 0"/>
          </a:avLst>
        </a:prstGeom>
      </dgm:spPr>
    </dgm:pt>
    <dgm:pt modelId="{D22083FE-E79F-4C3B-9943-8D76EBDCB683}" type="pres">
      <dgm:prSet presAssocID="{5B629AD4-897F-4AAD-8732-327E265E59D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otes"/>
        </a:ext>
      </dgm:extLst>
    </dgm:pt>
    <dgm:pt modelId="{258E9E55-06B5-4562-B54A-4CE1F0BA2D48}" type="pres">
      <dgm:prSet presAssocID="{5B629AD4-897F-4AAD-8732-327E265E59DF}" presName="spaceRect" presStyleCnt="0"/>
      <dgm:spPr/>
    </dgm:pt>
    <dgm:pt modelId="{6ECD037B-028C-4D18-A24B-4CAAE74C986F}" type="pres">
      <dgm:prSet presAssocID="{5B629AD4-897F-4AAD-8732-327E265E59DF}" presName="textRect" presStyleLbl="revTx" presStyleIdx="1" presStyleCnt="3">
        <dgm:presLayoutVars>
          <dgm:chMax val="1"/>
          <dgm:chPref val="1"/>
        </dgm:presLayoutVars>
      </dgm:prSet>
      <dgm:spPr/>
    </dgm:pt>
    <dgm:pt modelId="{6ABADA1F-FD97-40CA-B9C0-57B4F26506CD}" type="pres">
      <dgm:prSet presAssocID="{0C4FB2A5-58B9-4934-A52F-8D1387E7AC81}" presName="sibTrans" presStyleCnt="0"/>
      <dgm:spPr/>
    </dgm:pt>
    <dgm:pt modelId="{E138B687-504A-41C3-8F47-EBF06EE1E0FC}" type="pres">
      <dgm:prSet presAssocID="{672C04EA-55F7-4DF5-AE8C-3C24D76E5EA5}" presName="compNode" presStyleCnt="0"/>
      <dgm:spPr/>
    </dgm:pt>
    <dgm:pt modelId="{E69E92A3-D3F4-4710-8CB3-85C8E61870CC}" type="pres">
      <dgm:prSet presAssocID="{672C04EA-55F7-4DF5-AE8C-3C24D76E5EA5}" presName="iconBgRect" presStyleLbl="bgShp" presStyleIdx="2" presStyleCnt="3"/>
      <dgm:spPr>
        <a:prstGeom prst="round2DiagRect">
          <a:avLst>
            <a:gd name="adj1" fmla="val 29727"/>
            <a:gd name="adj2" fmla="val 0"/>
          </a:avLst>
        </a:prstGeom>
      </dgm:spPr>
    </dgm:pt>
    <dgm:pt modelId="{41398945-4C3F-4EAB-9219-4B1EEDD63BF8}" type="pres">
      <dgm:prSet presAssocID="{672C04EA-55F7-4DF5-AE8C-3C24D76E5EA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ssroom"/>
        </a:ext>
      </dgm:extLst>
    </dgm:pt>
    <dgm:pt modelId="{BF7BD191-1079-461F-A0AA-8D2E876D93F8}" type="pres">
      <dgm:prSet presAssocID="{672C04EA-55F7-4DF5-AE8C-3C24D76E5EA5}" presName="spaceRect" presStyleCnt="0"/>
      <dgm:spPr/>
    </dgm:pt>
    <dgm:pt modelId="{9E232B0E-518C-46C8-86EC-D558054AF662}" type="pres">
      <dgm:prSet presAssocID="{672C04EA-55F7-4DF5-AE8C-3C24D76E5EA5}" presName="textRect" presStyleLbl="revTx" presStyleIdx="2" presStyleCnt="3">
        <dgm:presLayoutVars>
          <dgm:chMax val="1"/>
          <dgm:chPref val="1"/>
        </dgm:presLayoutVars>
      </dgm:prSet>
      <dgm:spPr/>
    </dgm:pt>
  </dgm:ptLst>
  <dgm:cxnLst>
    <dgm:cxn modelId="{8165DE2C-4129-4616-8ADA-FDA4750C084B}" srcId="{7A58E18F-9F99-48B1-B9A7-DEDA89148350}" destId="{5B629AD4-897F-4AAD-8732-327E265E59DF}" srcOrd="1" destOrd="0" parTransId="{0CCF1CF5-3C47-404B-99B0-87DE8447FB0F}" sibTransId="{0C4FB2A5-58B9-4934-A52F-8D1387E7AC81}"/>
    <dgm:cxn modelId="{BA3CC332-06EE-411E-ADC0-B54698F1E6BD}" type="presOf" srcId="{7A58E18F-9F99-48B1-B9A7-DEDA89148350}" destId="{54F9A4D6-78BC-4F6C-9949-3DEB3FA64F3E}" srcOrd="0" destOrd="0" presId="urn:microsoft.com/office/officeart/2018/5/layout/IconLeafLabelList"/>
    <dgm:cxn modelId="{AB99B969-7046-42CB-AE02-6E5A844CCD1F}" srcId="{7A58E18F-9F99-48B1-B9A7-DEDA89148350}" destId="{672C04EA-55F7-4DF5-AE8C-3C24D76E5EA5}" srcOrd="2" destOrd="0" parTransId="{9C0C48A4-6CC2-4426-A835-04FB0F02DBE0}" sibTransId="{44F20C7C-663E-4EC0-B916-D4DBE5575D8C}"/>
    <dgm:cxn modelId="{86C9D99C-7723-4791-9CC0-0F7ABB2F5FD6}" srcId="{7A58E18F-9F99-48B1-B9A7-DEDA89148350}" destId="{D279912D-D2D9-4C07-840A-FC610E20A722}" srcOrd="0" destOrd="0" parTransId="{7EDBE419-73AE-4C41-8C9E-14E12CF620D1}" sibTransId="{E1AF5977-BDB6-4F2C-909B-A689596B2380}"/>
    <dgm:cxn modelId="{94B343B5-C250-4930-9839-207064D7CCC0}" type="presOf" srcId="{D279912D-D2D9-4C07-840A-FC610E20A722}" destId="{DDD0B1E9-0848-4367-9524-0BC1B00D5E2B}" srcOrd="0" destOrd="0" presId="urn:microsoft.com/office/officeart/2018/5/layout/IconLeafLabelList"/>
    <dgm:cxn modelId="{CC843CC8-B012-478F-BD36-92F007CD8FE1}" type="presOf" srcId="{672C04EA-55F7-4DF5-AE8C-3C24D76E5EA5}" destId="{9E232B0E-518C-46C8-86EC-D558054AF662}" srcOrd="0" destOrd="0" presId="urn:microsoft.com/office/officeart/2018/5/layout/IconLeafLabelList"/>
    <dgm:cxn modelId="{518A3CDA-9B6D-42BD-B85E-27CC74E4F3D1}" type="presOf" srcId="{5B629AD4-897F-4AAD-8732-327E265E59DF}" destId="{6ECD037B-028C-4D18-A24B-4CAAE74C986F}" srcOrd="0" destOrd="0" presId="urn:microsoft.com/office/officeart/2018/5/layout/IconLeafLabelList"/>
    <dgm:cxn modelId="{67113641-1129-4ED2-A0F2-3BE66F515C77}" type="presParOf" srcId="{54F9A4D6-78BC-4F6C-9949-3DEB3FA64F3E}" destId="{05817AD9-EC6D-4DED-856B-9CC82B306268}" srcOrd="0" destOrd="0" presId="urn:microsoft.com/office/officeart/2018/5/layout/IconLeafLabelList"/>
    <dgm:cxn modelId="{35FAB469-E3A0-474A-BDAA-8CD87B8D5640}" type="presParOf" srcId="{05817AD9-EC6D-4DED-856B-9CC82B306268}" destId="{2A4D54DE-8573-403E-951F-B4164B2620CC}" srcOrd="0" destOrd="0" presId="urn:microsoft.com/office/officeart/2018/5/layout/IconLeafLabelList"/>
    <dgm:cxn modelId="{6046014B-49FE-4FF9-8C99-9620A664FFB8}" type="presParOf" srcId="{05817AD9-EC6D-4DED-856B-9CC82B306268}" destId="{1FAB06AF-D4BB-40BA-9936-7E46A84A03D6}" srcOrd="1" destOrd="0" presId="urn:microsoft.com/office/officeart/2018/5/layout/IconLeafLabelList"/>
    <dgm:cxn modelId="{2CB76068-8B62-49C9-A394-E3F2197C464E}" type="presParOf" srcId="{05817AD9-EC6D-4DED-856B-9CC82B306268}" destId="{88C274A3-084B-4C38-81CE-99D84ACA8FFA}" srcOrd="2" destOrd="0" presId="urn:microsoft.com/office/officeart/2018/5/layout/IconLeafLabelList"/>
    <dgm:cxn modelId="{7242BBC6-073B-497C-A152-FE1D6800FC90}" type="presParOf" srcId="{05817AD9-EC6D-4DED-856B-9CC82B306268}" destId="{DDD0B1E9-0848-4367-9524-0BC1B00D5E2B}" srcOrd="3" destOrd="0" presId="urn:microsoft.com/office/officeart/2018/5/layout/IconLeafLabelList"/>
    <dgm:cxn modelId="{AFD6C470-FC3D-44F7-9D8B-85F84AE7270F}" type="presParOf" srcId="{54F9A4D6-78BC-4F6C-9949-3DEB3FA64F3E}" destId="{218A6237-1354-4982-92A6-5FF1D8E2177A}" srcOrd="1" destOrd="0" presId="urn:microsoft.com/office/officeart/2018/5/layout/IconLeafLabelList"/>
    <dgm:cxn modelId="{B5B16F0F-F5B3-485D-9D26-757A57719FC3}" type="presParOf" srcId="{54F9A4D6-78BC-4F6C-9949-3DEB3FA64F3E}" destId="{064241BE-467C-4090-8512-FE5DACC1DC67}" srcOrd="2" destOrd="0" presId="urn:microsoft.com/office/officeart/2018/5/layout/IconLeafLabelList"/>
    <dgm:cxn modelId="{FB3F9433-ABFE-4523-AD42-A5BD82DE803A}" type="presParOf" srcId="{064241BE-467C-4090-8512-FE5DACC1DC67}" destId="{764E0D04-3254-4BAD-81A4-E206BDB86D19}" srcOrd="0" destOrd="0" presId="urn:microsoft.com/office/officeart/2018/5/layout/IconLeafLabelList"/>
    <dgm:cxn modelId="{DB359937-A103-4764-9ADD-6F8FAE34FAB5}" type="presParOf" srcId="{064241BE-467C-4090-8512-FE5DACC1DC67}" destId="{D22083FE-E79F-4C3B-9943-8D76EBDCB683}" srcOrd="1" destOrd="0" presId="urn:microsoft.com/office/officeart/2018/5/layout/IconLeafLabelList"/>
    <dgm:cxn modelId="{5FF5B773-BD57-444D-8966-2ACF80EDF517}" type="presParOf" srcId="{064241BE-467C-4090-8512-FE5DACC1DC67}" destId="{258E9E55-06B5-4562-B54A-4CE1F0BA2D48}" srcOrd="2" destOrd="0" presId="urn:microsoft.com/office/officeart/2018/5/layout/IconLeafLabelList"/>
    <dgm:cxn modelId="{80C2F300-194D-49D7-B7B1-3C53CE2F5E62}" type="presParOf" srcId="{064241BE-467C-4090-8512-FE5DACC1DC67}" destId="{6ECD037B-028C-4D18-A24B-4CAAE74C986F}" srcOrd="3" destOrd="0" presId="urn:microsoft.com/office/officeart/2018/5/layout/IconLeafLabelList"/>
    <dgm:cxn modelId="{22EEA412-9C9D-4EEB-A1BF-9DD7DCD33F26}" type="presParOf" srcId="{54F9A4D6-78BC-4F6C-9949-3DEB3FA64F3E}" destId="{6ABADA1F-FD97-40CA-B9C0-57B4F26506CD}" srcOrd="3" destOrd="0" presId="urn:microsoft.com/office/officeart/2018/5/layout/IconLeafLabelList"/>
    <dgm:cxn modelId="{ECA96E47-A7F3-4E77-ACE7-2A40F64D8C85}" type="presParOf" srcId="{54F9A4D6-78BC-4F6C-9949-3DEB3FA64F3E}" destId="{E138B687-504A-41C3-8F47-EBF06EE1E0FC}" srcOrd="4" destOrd="0" presId="urn:microsoft.com/office/officeart/2018/5/layout/IconLeafLabelList"/>
    <dgm:cxn modelId="{527D61CD-C0ED-4923-B963-A15457132BD0}" type="presParOf" srcId="{E138B687-504A-41C3-8F47-EBF06EE1E0FC}" destId="{E69E92A3-D3F4-4710-8CB3-85C8E61870CC}" srcOrd="0" destOrd="0" presId="urn:microsoft.com/office/officeart/2018/5/layout/IconLeafLabelList"/>
    <dgm:cxn modelId="{ED47E48F-3AEA-422C-8DAF-C9AD821EC856}" type="presParOf" srcId="{E138B687-504A-41C3-8F47-EBF06EE1E0FC}" destId="{41398945-4C3F-4EAB-9219-4B1EEDD63BF8}" srcOrd="1" destOrd="0" presId="urn:microsoft.com/office/officeart/2018/5/layout/IconLeafLabelList"/>
    <dgm:cxn modelId="{E69DD8F4-FE84-442D-815A-B8AD62B239C7}" type="presParOf" srcId="{E138B687-504A-41C3-8F47-EBF06EE1E0FC}" destId="{BF7BD191-1079-461F-A0AA-8D2E876D93F8}" srcOrd="2" destOrd="0" presId="urn:microsoft.com/office/officeart/2018/5/layout/IconLeafLabelList"/>
    <dgm:cxn modelId="{C73C27C5-E831-438C-9E45-FB9A107B8445}" type="presParOf" srcId="{E138B687-504A-41C3-8F47-EBF06EE1E0FC}" destId="{9E232B0E-518C-46C8-86EC-D558054AF662}"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4D54DE-8573-403E-951F-B4164B2620CC}">
      <dsp:nvSpPr>
        <dsp:cNvPr id="0" name=""/>
        <dsp:cNvSpPr/>
      </dsp:nvSpPr>
      <dsp:spPr>
        <a:xfrm>
          <a:off x="436706" y="1425306"/>
          <a:ext cx="1132312" cy="113231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AB06AF-D4BB-40BA-9936-7E46A84A03D6}">
      <dsp:nvSpPr>
        <dsp:cNvPr id="0" name=""/>
        <dsp:cNvSpPr/>
      </dsp:nvSpPr>
      <dsp:spPr>
        <a:xfrm>
          <a:off x="678018" y="1666619"/>
          <a:ext cx="649687" cy="6496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D0B1E9-0848-4367-9524-0BC1B00D5E2B}">
      <dsp:nvSpPr>
        <dsp:cNvPr id="0" name=""/>
        <dsp:cNvSpPr/>
      </dsp:nvSpPr>
      <dsp:spPr>
        <a:xfrm>
          <a:off x="74737" y="2910306"/>
          <a:ext cx="1856250" cy="20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0" i="0" kern="1200" dirty="0"/>
            <a:t>In the case of student A, things did not change much and he still randomly answers questions correctly ~50% of the time.</a:t>
          </a:r>
          <a:endParaRPr lang="en-US" sz="1100" kern="1200" dirty="0"/>
        </a:p>
      </dsp:txBody>
      <dsp:txXfrm>
        <a:off x="74737" y="2910306"/>
        <a:ext cx="1856250" cy="2070000"/>
      </dsp:txXfrm>
    </dsp:sp>
    <dsp:sp modelId="{764E0D04-3254-4BAD-81A4-E206BDB86D19}">
      <dsp:nvSpPr>
        <dsp:cNvPr id="0" name=""/>
        <dsp:cNvSpPr/>
      </dsp:nvSpPr>
      <dsp:spPr>
        <a:xfrm>
          <a:off x="2617800" y="1425306"/>
          <a:ext cx="1132312" cy="113231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2083FE-E79F-4C3B-9943-8D76EBDCB683}">
      <dsp:nvSpPr>
        <dsp:cNvPr id="0" name=""/>
        <dsp:cNvSpPr/>
      </dsp:nvSpPr>
      <dsp:spPr>
        <a:xfrm>
          <a:off x="2859112" y="1666619"/>
          <a:ext cx="649687" cy="6496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CD037B-028C-4D18-A24B-4CAAE74C986F}">
      <dsp:nvSpPr>
        <dsp:cNvPr id="0" name=""/>
        <dsp:cNvSpPr/>
      </dsp:nvSpPr>
      <dsp:spPr>
        <a:xfrm>
          <a:off x="2255831" y="2910306"/>
          <a:ext cx="1856250" cy="20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0" i="0" kern="1200" dirty="0"/>
            <a:t>In the case of Student B, his score dropped significantly. Can you guess why? This is because he always memorized the problems that were taught in the class but this monthly test contained questions which he has never seen before. Therefore, his performance went down significantly</a:t>
          </a:r>
          <a:endParaRPr lang="en-US" sz="1100" kern="1200" dirty="0"/>
        </a:p>
      </dsp:txBody>
      <dsp:txXfrm>
        <a:off x="2255831" y="2910306"/>
        <a:ext cx="1856250" cy="2070000"/>
      </dsp:txXfrm>
    </dsp:sp>
    <dsp:sp modelId="{E69E92A3-D3F4-4710-8CB3-85C8E61870CC}">
      <dsp:nvSpPr>
        <dsp:cNvPr id="0" name=""/>
        <dsp:cNvSpPr/>
      </dsp:nvSpPr>
      <dsp:spPr>
        <a:xfrm>
          <a:off x="4798894" y="1425306"/>
          <a:ext cx="1132312" cy="1132312"/>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398945-4C3F-4EAB-9219-4B1EEDD63BF8}">
      <dsp:nvSpPr>
        <dsp:cNvPr id="0" name=""/>
        <dsp:cNvSpPr/>
      </dsp:nvSpPr>
      <dsp:spPr>
        <a:xfrm>
          <a:off x="5040206" y="1666619"/>
          <a:ext cx="649687" cy="6496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232B0E-518C-46C8-86EC-D558054AF662}">
      <dsp:nvSpPr>
        <dsp:cNvPr id="0" name=""/>
        <dsp:cNvSpPr/>
      </dsp:nvSpPr>
      <dsp:spPr>
        <a:xfrm>
          <a:off x="4436925" y="2910306"/>
          <a:ext cx="1856250" cy="20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0" i="0" kern="1200" dirty="0"/>
            <a:t>In the case of Student C, the score remained more or less the same. This is because she focused on learning the problem-solving approach and therefore was able to apply the concepts she learned to solve the unknown questions</a:t>
          </a:r>
          <a:endParaRPr lang="en-US" sz="1100" kern="1200" dirty="0"/>
        </a:p>
      </dsp:txBody>
      <dsp:txXfrm>
        <a:off x="4436925" y="2910306"/>
        <a:ext cx="1856250" cy="207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B03C0-0A36-48E2-A7EA-36F9B57D2B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EFFAE5-CAEC-4B96-8398-1287D53319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C0D2A2-F927-4AC3-8676-B8C3120354BD}"/>
              </a:ext>
            </a:extLst>
          </p:cNvPr>
          <p:cNvSpPr>
            <a:spLocks noGrp="1"/>
          </p:cNvSpPr>
          <p:nvPr>
            <p:ph type="dt" sz="half" idx="10"/>
          </p:nvPr>
        </p:nvSpPr>
        <p:spPr/>
        <p:txBody>
          <a:bodyPr/>
          <a:lstStyle/>
          <a:p>
            <a:fld id="{3BA1C940-7916-4A87-AAEE-887829F1EBC7}" type="datetimeFigureOut">
              <a:rPr lang="en-US" smtClean="0"/>
              <a:t>10/8/2024</a:t>
            </a:fld>
            <a:endParaRPr lang="en-US" dirty="0"/>
          </a:p>
        </p:txBody>
      </p:sp>
      <p:sp>
        <p:nvSpPr>
          <p:cNvPr id="5" name="Footer Placeholder 4">
            <a:extLst>
              <a:ext uri="{FF2B5EF4-FFF2-40B4-BE49-F238E27FC236}">
                <a16:creationId xmlns:a16="http://schemas.microsoft.com/office/drawing/2014/main" id="{341835A7-8B0C-4A1A-B51F-45A0DE7C648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D1AB4A8-046F-41FD-A07F-C68EB015CFDF}"/>
              </a:ext>
            </a:extLst>
          </p:cNvPr>
          <p:cNvSpPr>
            <a:spLocks noGrp="1"/>
          </p:cNvSpPr>
          <p:nvPr>
            <p:ph type="sldNum" sz="quarter" idx="12"/>
          </p:nvPr>
        </p:nvSpPr>
        <p:spPr/>
        <p:txBody>
          <a:bodyPr/>
          <a:lstStyle/>
          <a:p>
            <a:fld id="{DC15144A-C906-4660-9CD9-7BEAB1188E71}" type="slidenum">
              <a:rPr lang="en-US" smtClean="0"/>
              <a:t>‹#›</a:t>
            </a:fld>
            <a:endParaRPr lang="en-US" dirty="0"/>
          </a:p>
        </p:txBody>
      </p:sp>
    </p:spTree>
    <p:extLst>
      <p:ext uri="{BB962C8B-B14F-4D97-AF65-F5344CB8AC3E}">
        <p14:creationId xmlns:p14="http://schemas.microsoft.com/office/powerpoint/2010/main" val="782597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5328D-2582-49DD-B037-5CA5844CD3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851B28-B5DB-4EEE-98B4-987D23F9B9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5B11ED-B10F-4E7A-A316-7BB5BE84E620}"/>
              </a:ext>
            </a:extLst>
          </p:cNvPr>
          <p:cNvSpPr>
            <a:spLocks noGrp="1"/>
          </p:cNvSpPr>
          <p:nvPr>
            <p:ph type="dt" sz="half" idx="10"/>
          </p:nvPr>
        </p:nvSpPr>
        <p:spPr/>
        <p:txBody>
          <a:bodyPr/>
          <a:lstStyle/>
          <a:p>
            <a:fld id="{3BA1C940-7916-4A87-AAEE-887829F1EBC7}" type="datetimeFigureOut">
              <a:rPr lang="en-US" smtClean="0"/>
              <a:t>10/8/2024</a:t>
            </a:fld>
            <a:endParaRPr lang="en-US" dirty="0"/>
          </a:p>
        </p:txBody>
      </p:sp>
      <p:sp>
        <p:nvSpPr>
          <p:cNvPr id="5" name="Footer Placeholder 4">
            <a:extLst>
              <a:ext uri="{FF2B5EF4-FFF2-40B4-BE49-F238E27FC236}">
                <a16:creationId xmlns:a16="http://schemas.microsoft.com/office/drawing/2014/main" id="{13D543F5-10B6-4E70-A151-F222EA0A161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54CECA-FB1C-4C69-97E3-0672F33F9E92}"/>
              </a:ext>
            </a:extLst>
          </p:cNvPr>
          <p:cNvSpPr>
            <a:spLocks noGrp="1"/>
          </p:cNvSpPr>
          <p:nvPr>
            <p:ph type="sldNum" sz="quarter" idx="12"/>
          </p:nvPr>
        </p:nvSpPr>
        <p:spPr/>
        <p:txBody>
          <a:bodyPr/>
          <a:lstStyle/>
          <a:p>
            <a:fld id="{DC15144A-C906-4660-9CD9-7BEAB1188E71}" type="slidenum">
              <a:rPr lang="en-US" smtClean="0"/>
              <a:t>‹#›</a:t>
            </a:fld>
            <a:endParaRPr lang="en-US" dirty="0"/>
          </a:p>
        </p:txBody>
      </p:sp>
    </p:spTree>
    <p:extLst>
      <p:ext uri="{BB962C8B-B14F-4D97-AF65-F5344CB8AC3E}">
        <p14:creationId xmlns:p14="http://schemas.microsoft.com/office/powerpoint/2010/main" val="1344274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42A33-9F08-4D1F-BB24-F3B31C6CB4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ED7E5A-499F-4363-A739-658FF5D511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D96FFB-9BBA-470F-9A3E-A9DEE85B1141}"/>
              </a:ext>
            </a:extLst>
          </p:cNvPr>
          <p:cNvSpPr>
            <a:spLocks noGrp="1"/>
          </p:cNvSpPr>
          <p:nvPr>
            <p:ph type="dt" sz="half" idx="10"/>
          </p:nvPr>
        </p:nvSpPr>
        <p:spPr/>
        <p:txBody>
          <a:bodyPr/>
          <a:lstStyle/>
          <a:p>
            <a:fld id="{3BA1C940-7916-4A87-AAEE-887829F1EBC7}" type="datetimeFigureOut">
              <a:rPr lang="en-US" smtClean="0"/>
              <a:t>10/8/2024</a:t>
            </a:fld>
            <a:endParaRPr lang="en-US" dirty="0"/>
          </a:p>
        </p:txBody>
      </p:sp>
      <p:sp>
        <p:nvSpPr>
          <p:cNvPr id="5" name="Footer Placeholder 4">
            <a:extLst>
              <a:ext uri="{FF2B5EF4-FFF2-40B4-BE49-F238E27FC236}">
                <a16:creationId xmlns:a16="http://schemas.microsoft.com/office/drawing/2014/main" id="{1FA61ED2-3843-45DC-A885-56BCC15C719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BF18D0E-0A82-4272-A31C-FD270CEB43BF}"/>
              </a:ext>
            </a:extLst>
          </p:cNvPr>
          <p:cNvSpPr>
            <a:spLocks noGrp="1"/>
          </p:cNvSpPr>
          <p:nvPr>
            <p:ph type="sldNum" sz="quarter" idx="12"/>
          </p:nvPr>
        </p:nvSpPr>
        <p:spPr/>
        <p:txBody>
          <a:bodyPr/>
          <a:lstStyle/>
          <a:p>
            <a:fld id="{DC15144A-C906-4660-9CD9-7BEAB1188E71}" type="slidenum">
              <a:rPr lang="en-US" smtClean="0"/>
              <a:t>‹#›</a:t>
            </a:fld>
            <a:endParaRPr lang="en-US" dirty="0"/>
          </a:p>
        </p:txBody>
      </p:sp>
    </p:spTree>
    <p:extLst>
      <p:ext uri="{BB962C8B-B14F-4D97-AF65-F5344CB8AC3E}">
        <p14:creationId xmlns:p14="http://schemas.microsoft.com/office/powerpoint/2010/main" val="3783306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F3EAD-A8A3-4781-B200-75C3617A61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D5A5E7-FF06-44E8-92E0-35169AD927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1D1BA3-73C2-4F4D-B08B-FB7722A137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AF3541-D5A1-4C98-85BD-C564843095EC}"/>
              </a:ext>
            </a:extLst>
          </p:cNvPr>
          <p:cNvSpPr>
            <a:spLocks noGrp="1"/>
          </p:cNvSpPr>
          <p:nvPr>
            <p:ph type="dt" sz="half" idx="10"/>
          </p:nvPr>
        </p:nvSpPr>
        <p:spPr/>
        <p:txBody>
          <a:bodyPr/>
          <a:lstStyle/>
          <a:p>
            <a:fld id="{3BA1C940-7916-4A87-AAEE-887829F1EBC7}" type="datetimeFigureOut">
              <a:rPr lang="en-US" smtClean="0"/>
              <a:t>10/8/2024</a:t>
            </a:fld>
            <a:endParaRPr lang="en-US" dirty="0"/>
          </a:p>
        </p:txBody>
      </p:sp>
      <p:sp>
        <p:nvSpPr>
          <p:cNvPr id="6" name="Footer Placeholder 5">
            <a:extLst>
              <a:ext uri="{FF2B5EF4-FFF2-40B4-BE49-F238E27FC236}">
                <a16:creationId xmlns:a16="http://schemas.microsoft.com/office/drawing/2014/main" id="{63471669-800B-4DFF-ACF8-EA8D85D70DC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615FBAE-06EF-4B5C-BC18-66F5862A3929}"/>
              </a:ext>
            </a:extLst>
          </p:cNvPr>
          <p:cNvSpPr>
            <a:spLocks noGrp="1"/>
          </p:cNvSpPr>
          <p:nvPr>
            <p:ph type="sldNum" sz="quarter" idx="12"/>
          </p:nvPr>
        </p:nvSpPr>
        <p:spPr/>
        <p:txBody>
          <a:bodyPr/>
          <a:lstStyle/>
          <a:p>
            <a:fld id="{DC15144A-C906-4660-9CD9-7BEAB1188E71}" type="slidenum">
              <a:rPr lang="en-US" smtClean="0"/>
              <a:t>‹#›</a:t>
            </a:fld>
            <a:endParaRPr lang="en-US" dirty="0"/>
          </a:p>
        </p:txBody>
      </p:sp>
    </p:spTree>
    <p:extLst>
      <p:ext uri="{BB962C8B-B14F-4D97-AF65-F5344CB8AC3E}">
        <p14:creationId xmlns:p14="http://schemas.microsoft.com/office/powerpoint/2010/main" val="1100175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8128F-545E-49F8-A746-6BEAA85F26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D08D76-DA61-4BC2-955C-CC4399E43D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6BD248-49D2-4087-9613-3C67991FFC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D329A9-3401-4912-A435-479764A19E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82E727-830C-421F-82A5-56253E2172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896371-6DC5-410A-948E-78D422B95AD4}"/>
              </a:ext>
            </a:extLst>
          </p:cNvPr>
          <p:cNvSpPr>
            <a:spLocks noGrp="1"/>
          </p:cNvSpPr>
          <p:nvPr>
            <p:ph type="dt" sz="half" idx="10"/>
          </p:nvPr>
        </p:nvSpPr>
        <p:spPr/>
        <p:txBody>
          <a:bodyPr/>
          <a:lstStyle/>
          <a:p>
            <a:fld id="{3BA1C940-7916-4A87-AAEE-887829F1EBC7}" type="datetimeFigureOut">
              <a:rPr lang="en-US" smtClean="0"/>
              <a:t>10/8/2024</a:t>
            </a:fld>
            <a:endParaRPr lang="en-US" dirty="0"/>
          </a:p>
        </p:txBody>
      </p:sp>
      <p:sp>
        <p:nvSpPr>
          <p:cNvPr id="8" name="Footer Placeholder 7">
            <a:extLst>
              <a:ext uri="{FF2B5EF4-FFF2-40B4-BE49-F238E27FC236}">
                <a16:creationId xmlns:a16="http://schemas.microsoft.com/office/drawing/2014/main" id="{00BEE8E9-3224-462A-9735-D7F67F8D112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82E0327-C999-48BB-B060-AF83845172B7}"/>
              </a:ext>
            </a:extLst>
          </p:cNvPr>
          <p:cNvSpPr>
            <a:spLocks noGrp="1"/>
          </p:cNvSpPr>
          <p:nvPr>
            <p:ph type="sldNum" sz="quarter" idx="12"/>
          </p:nvPr>
        </p:nvSpPr>
        <p:spPr/>
        <p:txBody>
          <a:bodyPr/>
          <a:lstStyle/>
          <a:p>
            <a:fld id="{DC15144A-C906-4660-9CD9-7BEAB1188E71}" type="slidenum">
              <a:rPr lang="en-US" smtClean="0"/>
              <a:t>‹#›</a:t>
            </a:fld>
            <a:endParaRPr lang="en-US" dirty="0"/>
          </a:p>
        </p:txBody>
      </p:sp>
    </p:spTree>
    <p:extLst>
      <p:ext uri="{BB962C8B-B14F-4D97-AF65-F5344CB8AC3E}">
        <p14:creationId xmlns:p14="http://schemas.microsoft.com/office/powerpoint/2010/main" val="56815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1F02C-52AC-4061-83B4-3CDB1EA797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C2C9A1-D457-4C74-AC7B-58168B73DF48}"/>
              </a:ext>
            </a:extLst>
          </p:cNvPr>
          <p:cNvSpPr>
            <a:spLocks noGrp="1"/>
          </p:cNvSpPr>
          <p:nvPr>
            <p:ph type="dt" sz="half" idx="10"/>
          </p:nvPr>
        </p:nvSpPr>
        <p:spPr/>
        <p:txBody>
          <a:bodyPr/>
          <a:lstStyle/>
          <a:p>
            <a:fld id="{3BA1C940-7916-4A87-AAEE-887829F1EBC7}" type="datetimeFigureOut">
              <a:rPr lang="en-US" smtClean="0"/>
              <a:t>10/8/2024</a:t>
            </a:fld>
            <a:endParaRPr lang="en-US" dirty="0"/>
          </a:p>
        </p:txBody>
      </p:sp>
      <p:sp>
        <p:nvSpPr>
          <p:cNvPr id="4" name="Footer Placeholder 3">
            <a:extLst>
              <a:ext uri="{FF2B5EF4-FFF2-40B4-BE49-F238E27FC236}">
                <a16:creationId xmlns:a16="http://schemas.microsoft.com/office/drawing/2014/main" id="{20258E12-5C09-4599-8089-024A3BD48C4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A343AC1-5FAE-4704-9AC2-D76A519BE76E}"/>
              </a:ext>
            </a:extLst>
          </p:cNvPr>
          <p:cNvSpPr>
            <a:spLocks noGrp="1"/>
          </p:cNvSpPr>
          <p:nvPr>
            <p:ph type="sldNum" sz="quarter" idx="12"/>
          </p:nvPr>
        </p:nvSpPr>
        <p:spPr/>
        <p:txBody>
          <a:bodyPr/>
          <a:lstStyle/>
          <a:p>
            <a:fld id="{DC15144A-C906-4660-9CD9-7BEAB1188E71}" type="slidenum">
              <a:rPr lang="en-US" smtClean="0"/>
              <a:t>‹#›</a:t>
            </a:fld>
            <a:endParaRPr lang="en-US" dirty="0"/>
          </a:p>
        </p:txBody>
      </p:sp>
    </p:spTree>
    <p:extLst>
      <p:ext uri="{BB962C8B-B14F-4D97-AF65-F5344CB8AC3E}">
        <p14:creationId xmlns:p14="http://schemas.microsoft.com/office/powerpoint/2010/main" val="1528860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E88B0D-766D-4247-99C2-0A719F9E99D1}"/>
              </a:ext>
            </a:extLst>
          </p:cNvPr>
          <p:cNvSpPr>
            <a:spLocks noGrp="1"/>
          </p:cNvSpPr>
          <p:nvPr>
            <p:ph type="dt" sz="half" idx="10"/>
          </p:nvPr>
        </p:nvSpPr>
        <p:spPr/>
        <p:txBody>
          <a:bodyPr/>
          <a:lstStyle/>
          <a:p>
            <a:fld id="{3BA1C940-7916-4A87-AAEE-887829F1EBC7}" type="datetimeFigureOut">
              <a:rPr lang="en-US" smtClean="0"/>
              <a:t>10/8/2024</a:t>
            </a:fld>
            <a:endParaRPr lang="en-US" dirty="0"/>
          </a:p>
        </p:txBody>
      </p:sp>
      <p:sp>
        <p:nvSpPr>
          <p:cNvPr id="3" name="Footer Placeholder 2">
            <a:extLst>
              <a:ext uri="{FF2B5EF4-FFF2-40B4-BE49-F238E27FC236}">
                <a16:creationId xmlns:a16="http://schemas.microsoft.com/office/drawing/2014/main" id="{DB9BE595-F5E5-4582-B5E1-10B316B94D3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4907690-7512-4141-A612-6D77731D0C99}"/>
              </a:ext>
            </a:extLst>
          </p:cNvPr>
          <p:cNvSpPr>
            <a:spLocks noGrp="1"/>
          </p:cNvSpPr>
          <p:nvPr>
            <p:ph type="sldNum" sz="quarter" idx="12"/>
          </p:nvPr>
        </p:nvSpPr>
        <p:spPr/>
        <p:txBody>
          <a:bodyPr/>
          <a:lstStyle/>
          <a:p>
            <a:fld id="{DC15144A-C906-4660-9CD9-7BEAB1188E71}" type="slidenum">
              <a:rPr lang="en-US" smtClean="0"/>
              <a:t>‹#›</a:t>
            </a:fld>
            <a:endParaRPr lang="en-US" dirty="0"/>
          </a:p>
        </p:txBody>
      </p:sp>
    </p:spTree>
    <p:extLst>
      <p:ext uri="{BB962C8B-B14F-4D97-AF65-F5344CB8AC3E}">
        <p14:creationId xmlns:p14="http://schemas.microsoft.com/office/powerpoint/2010/main" val="171816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AC872-DB93-45B9-BF7E-F7BA02AB2F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4188482-E5C9-4289-B3E6-F366475A63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BD5C9A-E75D-4AFB-829D-4E06B65441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CAE1CB-919B-49E8-807A-DE8CBFABB232}"/>
              </a:ext>
            </a:extLst>
          </p:cNvPr>
          <p:cNvSpPr>
            <a:spLocks noGrp="1"/>
          </p:cNvSpPr>
          <p:nvPr>
            <p:ph type="dt" sz="half" idx="10"/>
          </p:nvPr>
        </p:nvSpPr>
        <p:spPr/>
        <p:txBody>
          <a:bodyPr/>
          <a:lstStyle/>
          <a:p>
            <a:fld id="{3BA1C940-7916-4A87-AAEE-887829F1EBC7}" type="datetimeFigureOut">
              <a:rPr lang="en-US" smtClean="0"/>
              <a:t>10/8/2024</a:t>
            </a:fld>
            <a:endParaRPr lang="en-US" dirty="0"/>
          </a:p>
        </p:txBody>
      </p:sp>
      <p:sp>
        <p:nvSpPr>
          <p:cNvPr id="6" name="Footer Placeholder 5">
            <a:extLst>
              <a:ext uri="{FF2B5EF4-FFF2-40B4-BE49-F238E27FC236}">
                <a16:creationId xmlns:a16="http://schemas.microsoft.com/office/drawing/2014/main" id="{76A75EEB-054E-4FEF-A8F5-B941D7B9C93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3E2681D-62C9-4529-8456-9669E45874BF}"/>
              </a:ext>
            </a:extLst>
          </p:cNvPr>
          <p:cNvSpPr>
            <a:spLocks noGrp="1"/>
          </p:cNvSpPr>
          <p:nvPr>
            <p:ph type="sldNum" sz="quarter" idx="12"/>
          </p:nvPr>
        </p:nvSpPr>
        <p:spPr/>
        <p:txBody>
          <a:bodyPr/>
          <a:lstStyle/>
          <a:p>
            <a:fld id="{DC15144A-C906-4660-9CD9-7BEAB1188E71}" type="slidenum">
              <a:rPr lang="en-US" smtClean="0"/>
              <a:t>‹#›</a:t>
            </a:fld>
            <a:endParaRPr lang="en-US" dirty="0"/>
          </a:p>
        </p:txBody>
      </p:sp>
    </p:spTree>
    <p:extLst>
      <p:ext uri="{BB962C8B-B14F-4D97-AF65-F5344CB8AC3E}">
        <p14:creationId xmlns:p14="http://schemas.microsoft.com/office/powerpoint/2010/main" val="1083944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7E13E-A8A4-42EC-A26A-C4D715335F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FA6B9B-0E7C-4450-BE8E-94AC9DD87C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6A96466-CBE9-4D73-BA1F-30E998BC6B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C768D5-5B53-4B5E-8E14-2289AA498669}"/>
              </a:ext>
            </a:extLst>
          </p:cNvPr>
          <p:cNvSpPr>
            <a:spLocks noGrp="1"/>
          </p:cNvSpPr>
          <p:nvPr>
            <p:ph type="dt" sz="half" idx="10"/>
          </p:nvPr>
        </p:nvSpPr>
        <p:spPr/>
        <p:txBody>
          <a:bodyPr/>
          <a:lstStyle/>
          <a:p>
            <a:fld id="{3BA1C940-7916-4A87-AAEE-887829F1EBC7}" type="datetimeFigureOut">
              <a:rPr lang="en-US" smtClean="0"/>
              <a:t>10/8/2024</a:t>
            </a:fld>
            <a:endParaRPr lang="en-US" dirty="0"/>
          </a:p>
        </p:txBody>
      </p:sp>
      <p:sp>
        <p:nvSpPr>
          <p:cNvPr id="6" name="Footer Placeholder 5">
            <a:extLst>
              <a:ext uri="{FF2B5EF4-FFF2-40B4-BE49-F238E27FC236}">
                <a16:creationId xmlns:a16="http://schemas.microsoft.com/office/drawing/2014/main" id="{2E725C36-0D12-4D76-8CBF-378930443E5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C4D8FFC-5045-4C0C-947F-DF2B011A706C}"/>
              </a:ext>
            </a:extLst>
          </p:cNvPr>
          <p:cNvSpPr>
            <a:spLocks noGrp="1"/>
          </p:cNvSpPr>
          <p:nvPr>
            <p:ph type="sldNum" sz="quarter" idx="12"/>
          </p:nvPr>
        </p:nvSpPr>
        <p:spPr/>
        <p:txBody>
          <a:bodyPr/>
          <a:lstStyle/>
          <a:p>
            <a:fld id="{DC15144A-C906-4660-9CD9-7BEAB1188E71}" type="slidenum">
              <a:rPr lang="en-US" smtClean="0"/>
              <a:t>‹#›</a:t>
            </a:fld>
            <a:endParaRPr lang="en-US" dirty="0"/>
          </a:p>
        </p:txBody>
      </p:sp>
    </p:spTree>
    <p:extLst>
      <p:ext uri="{BB962C8B-B14F-4D97-AF65-F5344CB8AC3E}">
        <p14:creationId xmlns:p14="http://schemas.microsoft.com/office/powerpoint/2010/main" val="4218009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64F79-DEF9-443F-B1F0-1B7DAB9648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32D1DE-7B80-4076-94E7-BB39BED5A5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E7A6FD-1618-41B4-9D4D-318733AD9240}"/>
              </a:ext>
            </a:extLst>
          </p:cNvPr>
          <p:cNvSpPr>
            <a:spLocks noGrp="1"/>
          </p:cNvSpPr>
          <p:nvPr>
            <p:ph type="dt" sz="half" idx="10"/>
          </p:nvPr>
        </p:nvSpPr>
        <p:spPr/>
        <p:txBody>
          <a:bodyPr/>
          <a:lstStyle/>
          <a:p>
            <a:fld id="{3BA1C940-7916-4A87-AAEE-887829F1EBC7}" type="datetimeFigureOut">
              <a:rPr lang="en-US" smtClean="0"/>
              <a:t>10/8/2024</a:t>
            </a:fld>
            <a:endParaRPr lang="en-US" dirty="0"/>
          </a:p>
        </p:txBody>
      </p:sp>
      <p:sp>
        <p:nvSpPr>
          <p:cNvPr id="5" name="Footer Placeholder 4">
            <a:extLst>
              <a:ext uri="{FF2B5EF4-FFF2-40B4-BE49-F238E27FC236}">
                <a16:creationId xmlns:a16="http://schemas.microsoft.com/office/drawing/2014/main" id="{5A8F5EC1-3EFB-4E5E-92C0-95DC27A4C6F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A844F68-F481-4239-87B7-21117D9AF603}"/>
              </a:ext>
            </a:extLst>
          </p:cNvPr>
          <p:cNvSpPr>
            <a:spLocks noGrp="1"/>
          </p:cNvSpPr>
          <p:nvPr>
            <p:ph type="sldNum" sz="quarter" idx="12"/>
          </p:nvPr>
        </p:nvSpPr>
        <p:spPr/>
        <p:txBody>
          <a:bodyPr/>
          <a:lstStyle/>
          <a:p>
            <a:fld id="{DC15144A-C906-4660-9CD9-7BEAB1188E71}" type="slidenum">
              <a:rPr lang="en-US" smtClean="0"/>
              <a:t>‹#›</a:t>
            </a:fld>
            <a:endParaRPr lang="en-US" dirty="0"/>
          </a:p>
        </p:txBody>
      </p:sp>
    </p:spTree>
    <p:extLst>
      <p:ext uri="{BB962C8B-B14F-4D97-AF65-F5344CB8AC3E}">
        <p14:creationId xmlns:p14="http://schemas.microsoft.com/office/powerpoint/2010/main" val="3226377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C744D9-243F-4CF1-AE51-7F412ED782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DC9539-11E5-4834-A169-4486798409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70DE8D-7230-49EE-B53F-3FC90AED479F}"/>
              </a:ext>
            </a:extLst>
          </p:cNvPr>
          <p:cNvSpPr>
            <a:spLocks noGrp="1"/>
          </p:cNvSpPr>
          <p:nvPr>
            <p:ph type="dt" sz="half" idx="10"/>
          </p:nvPr>
        </p:nvSpPr>
        <p:spPr/>
        <p:txBody>
          <a:bodyPr/>
          <a:lstStyle/>
          <a:p>
            <a:fld id="{3BA1C940-7916-4A87-AAEE-887829F1EBC7}" type="datetimeFigureOut">
              <a:rPr lang="en-US" smtClean="0"/>
              <a:t>10/8/2024</a:t>
            </a:fld>
            <a:endParaRPr lang="en-US" dirty="0"/>
          </a:p>
        </p:txBody>
      </p:sp>
      <p:sp>
        <p:nvSpPr>
          <p:cNvPr id="5" name="Footer Placeholder 4">
            <a:extLst>
              <a:ext uri="{FF2B5EF4-FFF2-40B4-BE49-F238E27FC236}">
                <a16:creationId xmlns:a16="http://schemas.microsoft.com/office/drawing/2014/main" id="{906194D2-DA34-412C-A88E-D80A50EC72B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9830505-4786-4E29-ACFB-A1F9D34E40FC}"/>
              </a:ext>
            </a:extLst>
          </p:cNvPr>
          <p:cNvSpPr>
            <a:spLocks noGrp="1"/>
          </p:cNvSpPr>
          <p:nvPr>
            <p:ph type="sldNum" sz="quarter" idx="12"/>
          </p:nvPr>
        </p:nvSpPr>
        <p:spPr/>
        <p:txBody>
          <a:bodyPr/>
          <a:lstStyle/>
          <a:p>
            <a:fld id="{DC15144A-C906-4660-9CD9-7BEAB1188E71}" type="slidenum">
              <a:rPr lang="en-US" smtClean="0"/>
              <a:t>‹#›</a:t>
            </a:fld>
            <a:endParaRPr lang="en-US" dirty="0"/>
          </a:p>
        </p:txBody>
      </p:sp>
    </p:spTree>
    <p:extLst>
      <p:ext uri="{BB962C8B-B14F-4D97-AF65-F5344CB8AC3E}">
        <p14:creationId xmlns:p14="http://schemas.microsoft.com/office/powerpoint/2010/main" val="783072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19039E-A129-45A1-9E1C-BC9ED2F91E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8FE130-4B61-4F91-95ED-6C7CD3E0CF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AAE9BD-3F31-4552-AE0D-44279A7119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A1C940-7916-4A87-AAEE-887829F1EBC7}" type="datetimeFigureOut">
              <a:rPr lang="en-US" smtClean="0"/>
              <a:t>10/8/2024</a:t>
            </a:fld>
            <a:endParaRPr lang="en-US" dirty="0"/>
          </a:p>
        </p:txBody>
      </p:sp>
      <p:sp>
        <p:nvSpPr>
          <p:cNvPr id="5" name="Footer Placeholder 4">
            <a:extLst>
              <a:ext uri="{FF2B5EF4-FFF2-40B4-BE49-F238E27FC236}">
                <a16:creationId xmlns:a16="http://schemas.microsoft.com/office/drawing/2014/main" id="{7E2A23BC-894C-484C-B460-9D126021B8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2AC500D-166B-4302-B142-8E966B9DF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15144A-C906-4660-9CD9-7BEAB1188E71}" type="slidenum">
              <a:rPr lang="en-US" smtClean="0"/>
              <a:t>‹#›</a:t>
            </a:fld>
            <a:endParaRPr lang="en-US" dirty="0"/>
          </a:p>
        </p:txBody>
      </p:sp>
    </p:spTree>
    <p:extLst>
      <p:ext uri="{BB962C8B-B14F-4D97-AF65-F5344CB8AC3E}">
        <p14:creationId xmlns:p14="http://schemas.microsoft.com/office/powerpoint/2010/main" val="409645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ight Triangle 26">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D7FC79-70CC-49F8-A8AF-47E1C740E2F4}"/>
              </a:ext>
            </a:extLst>
          </p:cNvPr>
          <p:cNvSpPr>
            <a:spLocks noGrp="1"/>
          </p:cNvSpPr>
          <p:nvPr>
            <p:ph type="ctrTitle"/>
          </p:nvPr>
        </p:nvSpPr>
        <p:spPr>
          <a:xfrm>
            <a:off x="1558763" y="2761699"/>
            <a:ext cx="9231410" cy="895901"/>
          </a:xfrm>
        </p:spPr>
        <p:txBody>
          <a:bodyPr anchor="b">
            <a:normAutofit/>
          </a:bodyPr>
          <a:lstStyle/>
          <a:p>
            <a:pPr algn="l"/>
            <a:r>
              <a:rPr lang="en-US" sz="3700" b="1" dirty="0">
                <a:solidFill>
                  <a:srgbClr val="FF0000"/>
                </a:solidFill>
              </a:rPr>
              <a:t>Overfitting Underfitting Regularization</a:t>
            </a:r>
          </a:p>
        </p:txBody>
      </p:sp>
    </p:spTree>
    <p:extLst>
      <p:ext uri="{BB962C8B-B14F-4D97-AF65-F5344CB8AC3E}">
        <p14:creationId xmlns:p14="http://schemas.microsoft.com/office/powerpoint/2010/main" val="2084330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DB0F0-DECB-486A-9A0D-38C737E376A7}"/>
              </a:ext>
            </a:extLst>
          </p:cNvPr>
          <p:cNvSpPr>
            <a:spLocks noGrp="1"/>
          </p:cNvSpPr>
          <p:nvPr>
            <p:ph type="title"/>
          </p:nvPr>
        </p:nvSpPr>
        <p:spPr/>
        <p:txBody>
          <a:bodyPr/>
          <a:lstStyle/>
          <a:p>
            <a:r>
              <a:rPr lang="en-US" dirty="0"/>
              <a:t>Model</a:t>
            </a:r>
          </a:p>
        </p:txBody>
      </p:sp>
      <p:sp>
        <p:nvSpPr>
          <p:cNvPr id="3" name="Content Placeholder 2">
            <a:extLst>
              <a:ext uri="{FF2B5EF4-FFF2-40B4-BE49-F238E27FC236}">
                <a16:creationId xmlns:a16="http://schemas.microsoft.com/office/drawing/2014/main" id="{835CFFC3-DF46-44DF-8837-B4E49CDD6177}"/>
              </a:ext>
            </a:extLst>
          </p:cNvPr>
          <p:cNvSpPr>
            <a:spLocks noGrp="1"/>
          </p:cNvSpPr>
          <p:nvPr>
            <p:ph idx="1"/>
          </p:nvPr>
        </p:nvSpPr>
        <p:spPr>
          <a:xfrm>
            <a:off x="838200" y="1520825"/>
            <a:ext cx="10515600" cy="4351338"/>
          </a:xfrm>
        </p:spPr>
        <p:txBody>
          <a:bodyPr>
            <a:normAutofit fontScale="92500"/>
          </a:bodyPr>
          <a:lstStyle/>
          <a:p>
            <a:pPr>
              <a:lnSpc>
                <a:spcPct val="150000"/>
              </a:lnSpc>
            </a:pPr>
            <a:r>
              <a:rPr lang="en-US" sz="2400" b="0" i="1" dirty="0">
                <a:solidFill>
                  <a:srgbClr val="FF0000"/>
                </a:solidFill>
                <a:effectLst/>
                <a:latin typeface="Times New Roman" panose="02020603050405020304" pitchFamily="18" charset="0"/>
                <a:cs typeface="Times New Roman" panose="02020603050405020304" pitchFamily="18" charset="0"/>
              </a:rPr>
              <a:t>In machine learning, generalization usually refers to the ability of an algorithm to be effective across a range of inputs and applications.</a:t>
            </a:r>
          </a:p>
          <a:p>
            <a:pPr>
              <a:lnSpc>
                <a:spcPct val="150000"/>
              </a:lnSpc>
            </a:pPr>
            <a:r>
              <a:rPr lang="en-US" sz="2400" b="0" i="0" dirty="0">
                <a:solidFill>
                  <a:srgbClr val="292929"/>
                </a:solidFill>
                <a:effectLst/>
                <a:latin typeface="Times New Roman" panose="02020603050405020304" pitchFamily="18" charset="0"/>
                <a:cs typeface="Times New Roman" panose="02020603050405020304" pitchFamily="18" charset="0"/>
              </a:rPr>
              <a:t>Suppose that we are designing a machine learning model. </a:t>
            </a:r>
          </a:p>
          <a:p>
            <a:pPr>
              <a:lnSpc>
                <a:spcPct val="150000"/>
              </a:lnSpc>
            </a:pPr>
            <a:r>
              <a:rPr lang="en-US" sz="2400" b="0" i="0" dirty="0">
                <a:solidFill>
                  <a:srgbClr val="292929"/>
                </a:solidFill>
                <a:effectLst/>
                <a:latin typeface="Times New Roman" panose="02020603050405020304" pitchFamily="18" charset="0"/>
                <a:cs typeface="Times New Roman" panose="02020603050405020304" pitchFamily="18" charset="0"/>
              </a:rPr>
              <a:t>How a model is said to be a good machine learning model? -&gt; By checking if it generalizes any new input data from the problem domain in a proper way. </a:t>
            </a:r>
          </a:p>
          <a:p>
            <a:pPr>
              <a:lnSpc>
                <a:spcPct val="150000"/>
              </a:lnSpc>
            </a:pPr>
            <a:r>
              <a:rPr lang="en-US" sz="2400" b="0" i="0" dirty="0">
                <a:solidFill>
                  <a:srgbClr val="292929"/>
                </a:solidFill>
                <a:effectLst/>
                <a:latin typeface="Times New Roman" panose="02020603050405020304" pitchFamily="18" charset="0"/>
                <a:cs typeface="Times New Roman" panose="02020603050405020304" pitchFamily="18" charset="0"/>
              </a:rPr>
              <a:t>This helps us to make predictions in the future data, that data model has never seen.</a:t>
            </a:r>
            <a:endParaRPr lang="en-US" sz="2400" i="1" dirty="0">
              <a:solidFill>
                <a:srgbClr val="292929"/>
              </a:solidFill>
              <a:latin typeface="Times New Roman" panose="02020603050405020304" pitchFamily="18" charset="0"/>
              <a:cs typeface="Times New Roman" panose="02020603050405020304" pitchFamily="18" charset="0"/>
            </a:endParaRPr>
          </a:p>
          <a:p>
            <a:pPr>
              <a:lnSpc>
                <a:spcPct val="150000"/>
              </a:lnSpc>
            </a:pPr>
            <a:r>
              <a:rPr lang="en-US" sz="2400" b="0" i="1" dirty="0">
                <a:solidFill>
                  <a:srgbClr val="FF0000"/>
                </a:solidFill>
                <a:effectLst/>
                <a:latin typeface="Times New Roman" panose="02020603050405020304" pitchFamily="18" charset="0"/>
                <a:cs typeface="Times New Roman" panose="02020603050405020304" pitchFamily="18" charset="0"/>
              </a:rPr>
              <a:t>A model is good if it neither Underfits or Overfits.</a:t>
            </a:r>
            <a:endParaRPr lang="en-US"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5991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29D58E9-BAD7-4104-98C1-20895A3588E2}"/>
              </a:ext>
            </a:extLst>
          </p:cNvPr>
          <p:cNvSpPr>
            <a:spLocks noGrp="1"/>
          </p:cNvSpPr>
          <p:nvPr>
            <p:ph type="title"/>
          </p:nvPr>
        </p:nvSpPr>
        <p:spPr>
          <a:xfrm>
            <a:off x="643467" y="640080"/>
            <a:ext cx="3096427" cy="5613236"/>
          </a:xfrm>
        </p:spPr>
        <p:txBody>
          <a:bodyPr vert="horz" lIns="91440" tIns="45720" rIns="91440" bIns="45720" rtlCol="0" anchor="ctr">
            <a:normAutofit/>
          </a:bodyPr>
          <a:lstStyle/>
          <a:p>
            <a:pPr algn="ctr"/>
            <a:r>
              <a:rPr lang="en-US" b="1" i="0" kern="1200" dirty="0">
                <a:solidFill>
                  <a:srgbClr val="FFFFFF"/>
                </a:solidFill>
                <a:effectLst/>
                <a:latin typeface="+mj-lt"/>
                <a:ea typeface="+mj-ea"/>
                <a:cs typeface="+mj-cs"/>
              </a:rPr>
              <a:t>Example to Understand Underfitting vs. Overfitting</a:t>
            </a:r>
            <a:endParaRPr lang="en-US"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87F0B834-1496-4EF3-AE0C-BAF8C38CC7E8}"/>
              </a:ext>
            </a:extLst>
          </p:cNvPr>
          <p:cNvSpPr txBox="1"/>
          <p:nvPr/>
        </p:nvSpPr>
        <p:spPr>
          <a:xfrm>
            <a:off x="4699818" y="640082"/>
            <a:ext cx="7359660" cy="2484884"/>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b="0" i="0" dirty="0">
                <a:effectLst/>
                <a:latin typeface="Cambria" panose="02040503050406030204" pitchFamily="18" charset="0"/>
              </a:rPr>
              <a:t>Consider a math class consisting of 3 students and a professor.</a:t>
            </a:r>
          </a:p>
          <a:p>
            <a:pPr indent="-228600">
              <a:lnSpc>
                <a:spcPct val="90000"/>
              </a:lnSpc>
              <a:spcAft>
                <a:spcPts val="600"/>
              </a:spcAft>
              <a:buFont typeface="Arial" panose="020B0604020202020204" pitchFamily="34" charset="0"/>
              <a:buChar char="•"/>
            </a:pPr>
            <a:endParaRPr lang="en-US" sz="2000" b="0" i="0" dirty="0">
              <a:effectLst/>
              <a:latin typeface="Cambria" panose="02040503050406030204" pitchFamily="18" charset="0"/>
            </a:endParaRPr>
          </a:p>
          <a:p>
            <a:pPr indent="-228600">
              <a:lnSpc>
                <a:spcPct val="90000"/>
              </a:lnSpc>
              <a:spcAft>
                <a:spcPts val="600"/>
              </a:spcAft>
              <a:buFont typeface="Arial" panose="020B0604020202020204" pitchFamily="34" charset="0"/>
              <a:buChar char="•"/>
            </a:pPr>
            <a:r>
              <a:rPr lang="en-US" sz="2000" b="0" i="0" dirty="0">
                <a:effectLst/>
                <a:latin typeface="Cambria" panose="02040503050406030204" pitchFamily="18" charset="0"/>
              </a:rPr>
              <a:t>Now, in any classroom, we can broadly divide the students into 3 categories.</a:t>
            </a:r>
          </a:p>
        </p:txBody>
      </p:sp>
      <p:pic>
        <p:nvPicPr>
          <p:cNvPr id="1026" name="Picture 2" descr="underfitting overfitting">
            <a:extLst>
              <a:ext uri="{FF2B5EF4-FFF2-40B4-BE49-F238E27FC236}">
                <a16:creationId xmlns:a16="http://schemas.microsoft.com/office/drawing/2014/main" id="{2E61B0F9-23B5-4A47-9E3B-77E86D1847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366980" y="3446698"/>
            <a:ext cx="5468870" cy="2488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8918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CA6FFA06-4F98-43D7-9B06-D1F946323132}"/>
              </a:ext>
            </a:extLst>
          </p:cNvPr>
          <p:cNvSpPr txBox="1"/>
          <p:nvPr/>
        </p:nvSpPr>
        <p:spPr>
          <a:xfrm>
            <a:off x="4699818" y="640082"/>
            <a:ext cx="6848715" cy="2484884"/>
          </a:xfrm>
          <a:prstGeom prst="rect">
            <a:avLst/>
          </a:prstGeom>
        </p:spPr>
        <p:txBody>
          <a:bodyPr vert="horz" lIns="91440" tIns="45720" rIns="91440" bIns="45720" rtlCol="0" anchor="ctr">
            <a:normAutofit/>
          </a:bodyPr>
          <a:lstStyle/>
          <a:p>
            <a:pPr indent="-228600">
              <a:lnSpc>
                <a:spcPct val="150000"/>
              </a:lnSpc>
              <a:spcAft>
                <a:spcPts val="600"/>
              </a:spcAft>
              <a:buFont typeface="Arial" panose="020B0604020202020204" pitchFamily="34" charset="0"/>
              <a:buChar char="•"/>
            </a:pPr>
            <a:r>
              <a:rPr lang="en-US" sz="2000" b="0" i="0" dirty="0">
                <a:effectLst/>
                <a:latin typeface="Cambria" panose="02040503050406030204" pitchFamily="18" charset="0"/>
              </a:rPr>
              <a:t>student A resembles a student who does not like math. </a:t>
            </a:r>
          </a:p>
          <a:p>
            <a:pPr indent="-228600">
              <a:lnSpc>
                <a:spcPct val="150000"/>
              </a:lnSpc>
              <a:spcAft>
                <a:spcPts val="600"/>
              </a:spcAft>
              <a:buFont typeface="Arial" panose="020B0604020202020204" pitchFamily="34" charset="0"/>
              <a:buChar char="•"/>
            </a:pPr>
            <a:endParaRPr lang="en-US" sz="2000" dirty="0">
              <a:latin typeface="Cambria" panose="02040503050406030204" pitchFamily="18" charset="0"/>
            </a:endParaRPr>
          </a:p>
          <a:p>
            <a:pPr indent="-228600">
              <a:lnSpc>
                <a:spcPct val="150000"/>
              </a:lnSpc>
              <a:spcAft>
                <a:spcPts val="600"/>
              </a:spcAft>
              <a:buFont typeface="Arial" panose="020B0604020202020204" pitchFamily="34" charset="0"/>
              <a:buChar char="•"/>
            </a:pPr>
            <a:r>
              <a:rPr lang="en-US" sz="2000" b="0" i="0" dirty="0">
                <a:effectLst/>
                <a:latin typeface="Cambria" panose="02040503050406030204" pitchFamily="18" charset="0"/>
              </a:rPr>
              <a:t>She is not interested in what is being taught in the class and therefore does not pay much attention to the professor and the content he is teaching.</a:t>
            </a:r>
            <a:endParaRPr lang="en-US" sz="2000" dirty="0">
              <a:latin typeface="Cambria" panose="02040503050406030204" pitchFamily="18" charset="0"/>
            </a:endParaRPr>
          </a:p>
        </p:txBody>
      </p:sp>
      <p:pic>
        <p:nvPicPr>
          <p:cNvPr id="2050" name="Picture 2">
            <a:extLst>
              <a:ext uri="{FF2B5EF4-FFF2-40B4-BE49-F238E27FC236}">
                <a16:creationId xmlns:a16="http://schemas.microsoft.com/office/drawing/2014/main" id="{541B740E-E8DF-4B68-A696-AFEFED64135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48546" y="3729583"/>
            <a:ext cx="5351257" cy="2488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4065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06F2686A-122D-4D3F-B4AC-4C85C5F28E18}"/>
              </a:ext>
            </a:extLst>
          </p:cNvPr>
          <p:cNvSpPr txBox="1"/>
          <p:nvPr/>
        </p:nvSpPr>
        <p:spPr>
          <a:xfrm>
            <a:off x="4699818" y="640082"/>
            <a:ext cx="6848715" cy="2484884"/>
          </a:xfrm>
          <a:prstGeom prst="rect">
            <a:avLst/>
          </a:prstGeom>
        </p:spPr>
        <p:txBody>
          <a:bodyPr vert="horz" lIns="91440" tIns="45720" rIns="91440" bIns="45720" rtlCol="0" anchor="ctr">
            <a:normAutofit fontScale="92500" lnSpcReduction="20000"/>
          </a:bodyPr>
          <a:lstStyle/>
          <a:p>
            <a:pPr indent="-228600">
              <a:lnSpc>
                <a:spcPct val="150000"/>
              </a:lnSpc>
              <a:spcAft>
                <a:spcPts val="600"/>
              </a:spcAft>
              <a:buFont typeface="Arial" panose="020B0604020202020204" pitchFamily="34" charset="0"/>
              <a:buChar char="•"/>
            </a:pPr>
            <a:r>
              <a:rPr lang="en-US" sz="2000" dirty="0"/>
              <a:t>s</a:t>
            </a:r>
            <a:r>
              <a:rPr lang="en-US" sz="2000" b="0" i="0" dirty="0">
                <a:effectLst/>
              </a:rPr>
              <a:t>tudent B. He is the most competitive student who focuses on memorizing each and every question being taught in class instead of focusing on the key concepts. </a:t>
            </a:r>
          </a:p>
          <a:p>
            <a:pPr indent="-228600">
              <a:lnSpc>
                <a:spcPct val="150000"/>
              </a:lnSpc>
              <a:spcAft>
                <a:spcPts val="600"/>
              </a:spcAft>
              <a:buFont typeface="Arial" panose="020B0604020202020204" pitchFamily="34" charset="0"/>
              <a:buChar char="•"/>
            </a:pPr>
            <a:endParaRPr lang="en-US" sz="2000" dirty="0"/>
          </a:p>
          <a:p>
            <a:pPr indent="-228600">
              <a:lnSpc>
                <a:spcPct val="150000"/>
              </a:lnSpc>
              <a:spcAft>
                <a:spcPts val="600"/>
              </a:spcAft>
              <a:buFont typeface="Arial" panose="020B0604020202020204" pitchFamily="34" charset="0"/>
              <a:buChar char="•"/>
            </a:pPr>
            <a:r>
              <a:rPr lang="en-US" sz="2000" b="0" i="0" dirty="0">
                <a:effectLst/>
              </a:rPr>
              <a:t>Basically, he isn’t interested in learning the problem-solving approach.</a:t>
            </a:r>
            <a:endParaRPr lang="en-US" sz="2000" dirty="0"/>
          </a:p>
        </p:txBody>
      </p:sp>
      <p:pic>
        <p:nvPicPr>
          <p:cNvPr id="3074" name="Picture 2" descr="underfitting overfitting">
            <a:extLst>
              <a:ext uri="{FF2B5EF4-FFF2-40B4-BE49-F238E27FC236}">
                <a16:creationId xmlns:a16="http://schemas.microsoft.com/office/drawing/2014/main" id="{38567F00-6566-49F7-8294-CC941FF29D6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25786" y="3446698"/>
            <a:ext cx="5351257" cy="2488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246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92496B90-8CCA-461A-88F8-42CE67DBB476}"/>
              </a:ext>
            </a:extLst>
          </p:cNvPr>
          <p:cNvSpPr txBox="1"/>
          <p:nvPr/>
        </p:nvSpPr>
        <p:spPr>
          <a:xfrm>
            <a:off x="4699818" y="640082"/>
            <a:ext cx="6848715" cy="2484884"/>
          </a:xfrm>
          <a:prstGeom prst="rect">
            <a:avLst/>
          </a:prstGeom>
        </p:spPr>
        <p:txBody>
          <a:bodyPr vert="horz" lIns="91440" tIns="45720" rIns="91440" bIns="45720" rtlCol="0" anchor="ctr">
            <a:normAutofit/>
          </a:bodyPr>
          <a:lstStyle/>
          <a:p>
            <a:pPr indent="-228600" algn="just">
              <a:lnSpc>
                <a:spcPct val="150000"/>
              </a:lnSpc>
              <a:spcAft>
                <a:spcPts val="600"/>
              </a:spcAft>
              <a:buFont typeface="Arial" panose="020B0604020202020204" pitchFamily="34" charset="0"/>
              <a:buChar char="•"/>
            </a:pPr>
            <a:r>
              <a:rPr lang="en-US" sz="2000" b="0" i="0" dirty="0">
                <a:effectLst/>
              </a:rPr>
              <a:t>Finally, we have the ideal student C. She is purely interested in learning the key concepts and the problem-solving approach in the math class rather than just memorizing the solutions presented.</a:t>
            </a:r>
            <a:endParaRPr lang="en-US" sz="2000" dirty="0"/>
          </a:p>
        </p:txBody>
      </p:sp>
      <p:pic>
        <p:nvPicPr>
          <p:cNvPr id="4098" name="Picture 2" descr="underfitting overfitting">
            <a:extLst>
              <a:ext uri="{FF2B5EF4-FFF2-40B4-BE49-F238E27FC236}">
                <a16:creationId xmlns:a16="http://schemas.microsoft.com/office/drawing/2014/main" id="{D04C484A-E1B7-4A15-B5AB-7836899AF2D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522829" y="3446698"/>
            <a:ext cx="5157171" cy="2488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4108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4BC484F3-36CC-44EB-8FE7-8BCAB29CD1BA}"/>
              </a:ext>
            </a:extLst>
          </p:cNvPr>
          <p:cNvSpPr txBox="1"/>
          <p:nvPr/>
        </p:nvSpPr>
        <p:spPr>
          <a:xfrm>
            <a:off x="4699818" y="543339"/>
            <a:ext cx="7319904" cy="2581627"/>
          </a:xfrm>
          <a:prstGeom prst="rect">
            <a:avLst/>
          </a:prstGeom>
        </p:spPr>
        <p:txBody>
          <a:bodyPr vert="horz" lIns="91440" tIns="45720" rIns="91440" bIns="45720" rtlCol="0" anchor="ctr">
            <a:noAutofit/>
          </a:bodyPr>
          <a:lstStyle/>
          <a:p>
            <a:pPr indent="-228600">
              <a:lnSpc>
                <a:spcPct val="150000"/>
              </a:lnSpc>
              <a:spcAft>
                <a:spcPts val="600"/>
              </a:spcAft>
              <a:buFont typeface="Arial" panose="020B0604020202020204" pitchFamily="34" charset="0"/>
              <a:buChar char="•"/>
            </a:pPr>
            <a:r>
              <a:rPr lang="en-US" sz="2000" b="0" i="0" dirty="0">
                <a:effectLst/>
              </a:rPr>
              <a:t>The professor first delivers lectures and teaches the students about the problems and how to solve them. At the end of the day, the professor simply takes a quiz based on what he taught in the class.</a:t>
            </a:r>
          </a:p>
          <a:p>
            <a:pPr indent="-228600">
              <a:lnSpc>
                <a:spcPct val="150000"/>
              </a:lnSpc>
              <a:spcAft>
                <a:spcPts val="600"/>
              </a:spcAft>
              <a:buFont typeface="Arial" panose="020B0604020202020204" pitchFamily="34" charset="0"/>
              <a:buChar char="•"/>
            </a:pPr>
            <a:r>
              <a:rPr lang="en-US" sz="2000" b="0" i="0" dirty="0">
                <a:effectLst/>
              </a:rPr>
              <a:t>The obstacle comes in the semester tests that the school lays down. This is where new questions (unseen data) comes up. The students haven’t seen these questions before and certainly haven’t solved them in the classroom. Sounds familiar?</a:t>
            </a:r>
          </a:p>
        </p:txBody>
      </p:sp>
      <p:pic>
        <p:nvPicPr>
          <p:cNvPr id="5122" name="Picture 2" descr="underfitting overfitting">
            <a:extLst>
              <a:ext uri="{FF2B5EF4-FFF2-40B4-BE49-F238E27FC236}">
                <a16:creationId xmlns:a16="http://schemas.microsoft.com/office/drawing/2014/main" id="{B8DCA631-9A3D-4ECB-88DB-02057630DE4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078894" y="4096055"/>
            <a:ext cx="6106345" cy="2488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6837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DD89CAB6-1404-4C98-AE29-6EC7D84444CC}"/>
              </a:ext>
            </a:extLst>
          </p:cNvPr>
          <p:cNvSpPr txBox="1"/>
          <p:nvPr/>
        </p:nvSpPr>
        <p:spPr>
          <a:xfrm>
            <a:off x="4491993" y="653334"/>
            <a:ext cx="7381955" cy="2757968"/>
          </a:xfrm>
          <a:prstGeom prst="rect">
            <a:avLst/>
          </a:prstGeom>
        </p:spPr>
        <p:txBody>
          <a:bodyPr vert="horz" lIns="91440" tIns="45720" rIns="91440" bIns="45720" rtlCol="0" anchor="ctr">
            <a:noAutofit/>
          </a:bodyPr>
          <a:lstStyle/>
          <a:p>
            <a:pPr indent="-228600">
              <a:lnSpc>
                <a:spcPct val="150000"/>
              </a:lnSpc>
              <a:spcAft>
                <a:spcPts val="600"/>
              </a:spcAft>
              <a:buFont typeface="Arial" panose="020B0604020202020204" pitchFamily="34" charset="0"/>
              <a:buChar char="•"/>
            </a:pPr>
            <a:r>
              <a:rPr lang="en-US" b="0" i="0" dirty="0">
                <a:effectLst/>
              </a:rPr>
              <a:t>Student A, who was distracted in his own world, simply guessed the answers and got approximately 50% marks in the test</a:t>
            </a:r>
          </a:p>
          <a:p>
            <a:pPr indent="-228600">
              <a:lnSpc>
                <a:spcPct val="150000"/>
              </a:lnSpc>
              <a:spcAft>
                <a:spcPts val="600"/>
              </a:spcAft>
              <a:buFont typeface="Arial" panose="020B0604020202020204" pitchFamily="34" charset="0"/>
              <a:buChar char="•"/>
            </a:pPr>
            <a:r>
              <a:rPr lang="en-US" b="0" i="0" dirty="0">
                <a:effectLst/>
              </a:rPr>
              <a:t>On the other hand, the student who memorized each and every question taught in the classroom was able to answer almost every question by memory and therefore obtained 98% marks in the class test</a:t>
            </a:r>
          </a:p>
          <a:p>
            <a:pPr indent="-228600">
              <a:lnSpc>
                <a:spcPct val="150000"/>
              </a:lnSpc>
              <a:spcAft>
                <a:spcPts val="600"/>
              </a:spcAft>
              <a:buFont typeface="Arial" panose="020B0604020202020204" pitchFamily="34" charset="0"/>
              <a:buChar char="•"/>
            </a:pPr>
            <a:r>
              <a:rPr lang="en-US" b="0" i="0" dirty="0">
                <a:effectLst/>
              </a:rPr>
              <a:t>For student C, she actually solved all the questions using the problem-solving approach she learned in the classroom and scored 92%</a:t>
            </a:r>
          </a:p>
        </p:txBody>
      </p:sp>
      <p:pic>
        <p:nvPicPr>
          <p:cNvPr id="6146" name="Picture 2" descr="underfitting overfitting">
            <a:extLst>
              <a:ext uri="{FF2B5EF4-FFF2-40B4-BE49-F238E27FC236}">
                <a16:creationId xmlns:a16="http://schemas.microsoft.com/office/drawing/2014/main" id="{6E9ADDFE-AE71-4C04-97B7-6681550EE2B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58782" y="3833039"/>
            <a:ext cx="4946570" cy="2782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4621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025AF547-64F7-443F-BFE0-AC0D06547305}"/>
              </a:ext>
            </a:extLst>
          </p:cNvPr>
          <p:cNvSpPr txBox="1"/>
          <p:nvPr/>
        </p:nvSpPr>
        <p:spPr>
          <a:xfrm>
            <a:off x="4699818" y="640082"/>
            <a:ext cx="6848715" cy="2484884"/>
          </a:xfrm>
          <a:prstGeom prst="rect">
            <a:avLst/>
          </a:prstGeom>
        </p:spPr>
        <p:txBody>
          <a:bodyPr vert="horz" lIns="91440" tIns="45720" rIns="91440" bIns="45720" rtlCol="0" anchor="ctr">
            <a:normAutofit/>
          </a:bodyPr>
          <a:lstStyle/>
          <a:p>
            <a:pPr indent="-228600">
              <a:lnSpc>
                <a:spcPct val="150000"/>
              </a:lnSpc>
              <a:spcAft>
                <a:spcPts val="600"/>
              </a:spcAft>
              <a:buFont typeface="Arial" panose="020B0604020202020204" pitchFamily="34" charset="0"/>
              <a:buChar char="•"/>
            </a:pPr>
            <a:r>
              <a:rPr lang="en-US" sz="2000" b="0" i="0" dirty="0">
                <a:effectLst/>
              </a:rPr>
              <a:t>Let’s also look at what happens during the monthly test, when students have to face new unknown questions which are not taught in the class by the teacher.</a:t>
            </a:r>
            <a:endParaRPr lang="en-US" sz="2000" dirty="0"/>
          </a:p>
        </p:txBody>
      </p:sp>
      <p:pic>
        <p:nvPicPr>
          <p:cNvPr id="7170" name="Picture 2" descr="underfitting overfitting">
            <a:extLst>
              <a:ext uri="{FF2B5EF4-FFF2-40B4-BE49-F238E27FC236}">
                <a16:creationId xmlns:a16="http://schemas.microsoft.com/office/drawing/2014/main" id="{E9FDD353-0B45-4998-8DBB-1E933DED251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21899" y="3000275"/>
            <a:ext cx="5620336" cy="3217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242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8" name="Group 27">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29"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2" name="Group 31">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3" name="Freeform: Shape 32">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34" name="Freeform: Shape 33">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35" name="Freeform: Shape 34">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36" name="Freeform: Shape 35">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37" name="Freeform: Shape 36">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38" name="Freeform: Shape 37">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39" name="Freeform: Shape 38">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grpSp>
      <p:graphicFrame>
        <p:nvGraphicFramePr>
          <p:cNvPr id="5" name="TextBox 2">
            <a:extLst>
              <a:ext uri="{FF2B5EF4-FFF2-40B4-BE49-F238E27FC236}">
                <a16:creationId xmlns:a16="http://schemas.microsoft.com/office/drawing/2014/main" id="{9B51FCE1-DA80-44FB-87D0-E2BF329A00EB}"/>
              </a:ext>
            </a:extLst>
          </p:cNvPr>
          <p:cNvGraphicFramePr/>
          <p:nvPr>
            <p:extLst>
              <p:ext uri="{D42A27DB-BD31-4B8C-83A1-F6EECF244321}">
                <p14:modId xmlns:p14="http://schemas.microsoft.com/office/powerpoint/2010/main" val="939211314"/>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6605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6" name="Rectangle 70">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1D1D4F3-EC06-41A2-BF9C-68018BDA2DF0}"/>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sz="3000" i="0" kern="1200" dirty="0">
                <a:solidFill>
                  <a:schemeClr val="tx1"/>
                </a:solidFill>
                <a:effectLst/>
                <a:latin typeface="+mj-lt"/>
                <a:ea typeface="+mj-ea"/>
                <a:cs typeface="+mj-cs"/>
              </a:rPr>
              <a:t>How Does this Relate to Underfitting and Overfitting in Machine Learning?</a:t>
            </a:r>
            <a:br>
              <a:rPr lang="en-US" sz="3000" i="0" kern="1200" dirty="0">
                <a:solidFill>
                  <a:schemeClr val="tx1"/>
                </a:solidFill>
                <a:effectLst/>
                <a:latin typeface="+mj-lt"/>
                <a:ea typeface="+mj-ea"/>
                <a:cs typeface="+mj-cs"/>
              </a:rPr>
            </a:br>
            <a:endParaRPr lang="en-US" sz="3000" kern="1200" dirty="0">
              <a:solidFill>
                <a:schemeClr val="tx1"/>
              </a:solidFill>
              <a:latin typeface="+mj-lt"/>
              <a:ea typeface="+mj-ea"/>
              <a:cs typeface="+mj-cs"/>
            </a:endParaRPr>
          </a:p>
        </p:txBody>
      </p:sp>
      <p:grpSp>
        <p:nvGrpSpPr>
          <p:cNvPr id="8197" name="Group 7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74" name="Rectangle 7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98" name="Rectangle 7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99" name="Rectangle 7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200" name="Rectangle 7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194" name="Picture 2" descr="underfitting overfitting">
            <a:extLst>
              <a:ext uri="{FF2B5EF4-FFF2-40B4-BE49-F238E27FC236}">
                <a16:creationId xmlns:a16="http://schemas.microsoft.com/office/drawing/2014/main" id="{3D6E2D6E-C6FD-4461-860F-1FA3C165EFD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22492" y="1967183"/>
            <a:ext cx="5536001" cy="2864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0454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39F74C4-47BA-4F3D-B80B-47F854CE4EF7}"/>
              </a:ext>
            </a:extLst>
          </p:cNvPr>
          <p:cNvSpPr>
            <a:spLocks noGrp="1"/>
          </p:cNvSpPr>
          <p:nvPr>
            <p:ph idx="1"/>
          </p:nvPr>
        </p:nvSpPr>
        <p:spPr>
          <a:xfrm>
            <a:off x="4699818" y="640082"/>
            <a:ext cx="6848715" cy="2484884"/>
          </a:xfrm>
        </p:spPr>
        <p:txBody>
          <a:bodyPr anchor="ctr">
            <a:normAutofit/>
          </a:bodyPr>
          <a:lstStyle/>
          <a:p>
            <a:pPr>
              <a:lnSpc>
                <a:spcPct val="150000"/>
              </a:lnSpc>
            </a:pPr>
            <a:r>
              <a:rPr lang="en-US" sz="2000" b="0" i="0" dirty="0">
                <a:effectLst/>
                <a:latin typeface="Times New Roman" panose="02020603050405020304" pitchFamily="18" charset="0"/>
                <a:cs typeface="Times New Roman" panose="02020603050405020304" pitchFamily="18" charset="0"/>
              </a:rPr>
              <a:t>First, the classwork and class test resemble the training data and the prediction over the training data itself respectively.</a:t>
            </a:r>
          </a:p>
          <a:p>
            <a:pPr>
              <a:lnSpc>
                <a:spcPct val="150000"/>
              </a:lnSpc>
            </a:pPr>
            <a:r>
              <a:rPr lang="en-US" sz="2000" b="0" i="0" dirty="0">
                <a:effectLst/>
                <a:latin typeface="Times New Roman" panose="02020603050405020304" pitchFamily="18" charset="0"/>
                <a:cs typeface="Times New Roman" panose="02020603050405020304" pitchFamily="18" charset="0"/>
              </a:rPr>
              <a:t> On the other hand, the semester test represents the test set from our data which we keep aside before we train our model (or unseen data in a real-world machine learning project).</a:t>
            </a:r>
            <a:endParaRPr lang="en-US" sz="2000" dirty="0">
              <a:latin typeface="Times New Roman" panose="02020603050405020304" pitchFamily="18" charset="0"/>
              <a:cs typeface="Times New Roman" panose="02020603050405020304" pitchFamily="18" charset="0"/>
            </a:endParaRPr>
          </a:p>
        </p:txBody>
      </p:sp>
      <p:pic>
        <p:nvPicPr>
          <p:cNvPr id="9218" name="Picture 2" descr="Test train sets for underfitting and overfitting">
            <a:extLst>
              <a:ext uri="{FF2B5EF4-FFF2-40B4-BE49-F238E27FC236}">
                <a16:creationId xmlns:a16="http://schemas.microsoft.com/office/drawing/2014/main" id="{75D24A29-8F42-4EFB-8C52-CB2544F0241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91082" y="3446698"/>
            <a:ext cx="5820666" cy="2488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3266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2F15A2D-2324-487D-A02A-BF46C5C58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Right Triangle 72">
            <a:extLst>
              <a:ext uri="{FF2B5EF4-FFF2-40B4-BE49-F238E27FC236}">
                <a16:creationId xmlns:a16="http://schemas.microsoft.com/office/drawing/2014/main" id="{2AEAFA59-923A-4F54-8B49-44C970BCC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C37E9D4B-7BFA-4D10-B666-547BAC4994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42" name="Picture 2" descr="Underfitting Overfitting Summary">
            <a:extLst>
              <a:ext uri="{FF2B5EF4-FFF2-40B4-BE49-F238E27FC236}">
                <a16:creationId xmlns:a16="http://schemas.microsoft.com/office/drawing/2014/main" id="{AAB08E13-72BC-4477-8E20-1E957DB4997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938" r="-1" b="-1"/>
          <a:stretch/>
        </p:blipFill>
        <p:spPr bwMode="auto">
          <a:xfrm>
            <a:off x="962163" y="1323879"/>
            <a:ext cx="7746709" cy="4168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1860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5"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6" name="Rectangle 21">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dirty="0"/>
          </a:p>
        </p:txBody>
      </p:sp>
      <p:pic>
        <p:nvPicPr>
          <p:cNvPr id="2" name="Picture 1">
            <a:extLst>
              <a:ext uri="{FF2B5EF4-FFF2-40B4-BE49-F238E27FC236}">
                <a16:creationId xmlns:a16="http://schemas.microsoft.com/office/drawing/2014/main" id="{9658B789-BF1E-4C35-ACE5-30ECFB0C9D20}"/>
              </a:ext>
            </a:extLst>
          </p:cNvPr>
          <p:cNvPicPr>
            <a:picLocks noChangeAspect="1"/>
          </p:cNvPicPr>
          <p:nvPr/>
        </p:nvPicPr>
        <p:blipFill>
          <a:blip r:embed="rId2"/>
          <a:stretch>
            <a:fillRect/>
          </a:stretch>
        </p:blipFill>
        <p:spPr>
          <a:xfrm>
            <a:off x="1263578" y="1696885"/>
            <a:ext cx="9664846" cy="3286047"/>
          </a:xfrm>
          <a:prstGeom prst="rect">
            <a:avLst/>
          </a:prstGeom>
        </p:spPr>
      </p:pic>
    </p:spTree>
    <p:extLst>
      <p:ext uri="{BB962C8B-B14F-4D97-AF65-F5344CB8AC3E}">
        <p14:creationId xmlns:p14="http://schemas.microsoft.com/office/powerpoint/2010/main" val="1822535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2F15A2D-2324-487D-A02A-BF46C5C58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Right Triangle 72">
            <a:extLst>
              <a:ext uri="{FF2B5EF4-FFF2-40B4-BE49-F238E27FC236}">
                <a16:creationId xmlns:a16="http://schemas.microsoft.com/office/drawing/2014/main" id="{2AEAFA59-923A-4F54-8B49-44C970BCC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C37E9D4B-7BFA-4D10-B666-547BAC4994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266" name="Picture 2" descr="underfitting overfitting">
            <a:extLst>
              <a:ext uri="{FF2B5EF4-FFF2-40B4-BE49-F238E27FC236}">
                <a16:creationId xmlns:a16="http://schemas.microsoft.com/office/drawing/2014/main" id="{787FA254-0A64-473C-B0C5-CF7CB299D6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273" r="-1" b="318"/>
          <a:stretch/>
        </p:blipFill>
        <p:spPr bwMode="auto">
          <a:xfrm>
            <a:off x="962163" y="1323860"/>
            <a:ext cx="7746709" cy="416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2605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2" name="Rectangle 11">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dirty="0"/>
          </a:p>
        </p:txBody>
      </p:sp>
      <p:pic>
        <p:nvPicPr>
          <p:cNvPr id="3" name="Picture 2">
            <a:extLst>
              <a:ext uri="{FF2B5EF4-FFF2-40B4-BE49-F238E27FC236}">
                <a16:creationId xmlns:a16="http://schemas.microsoft.com/office/drawing/2014/main" id="{D8775978-DBCD-4C31-83A8-A187D7584893}"/>
              </a:ext>
            </a:extLst>
          </p:cNvPr>
          <p:cNvPicPr>
            <a:picLocks noChangeAspect="1"/>
          </p:cNvPicPr>
          <p:nvPr/>
        </p:nvPicPr>
        <p:blipFill>
          <a:blip r:embed="rId2"/>
          <a:stretch>
            <a:fillRect/>
          </a:stretch>
        </p:blipFill>
        <p:spPr>
          <a:xfrm>
            <a:off x="1263578" y="2225826"/>
            <a:ext cx="9664846" cy="2228165"/>
          </a:xfrm>
          <a:prstGeom prst="rect">
            <a:avLst/>
          </a:prstGeom>
        </p:spPr>
      </p:pic>
    </p:spTree>
    <p:extLst>
      <p:ext uri="{BB962C8B-B14F-4D97-AF65-F5344CB8AC3E}">
        <p14:creationId xmlns:p14="http://schemas.microsoft.com/office/powerpoint/2010/main" val="29941869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98F2E-41A8-45E2-98D8-E34F9199A6B5}"/>
              </a:ext>
            </a:extLst>
          </p:cNvPr>
          <p:cNvSpPr>
            <a:spLocks noGrp="1"/>
          </p:cNvSpPr>
          <p:nvPr>
            <p:ph type="title"/>
          </p:nvPr>
        </p:nvSpPr>
        <p:spPr/>
        <p:txBody>
          <a:bodyPr>
            <a:normAutofit/>
          </a:bodyPr>
          <a:lstStyle/>
          <a:p>
            <a:pPr marL="0" indent="0">
              <a:buNone/>
            </a:pPr>
            <a:r>
              <a:rPr lang="en-US" sz="4000" b="1" i="0" dirty="0">
                <a:solidFill>
                  <a:srgbClr val="292929"/>
                </a:solidFill>
                <a:effectLst/>
                <a:latin typeface="charter"/>
              </a:rPr>
              <a:t>Overfitting</a:t>
            </a:r>
          </a:p>
        </p:txBody>
      </p:sp>
      <p:sp>
        <p:nvSpPr>
          <p:cNvPr id="3" name="Content Placeholder 2">
            <a:extLst>
              <a:ext uri="{FF2B5EF4-FFF2-40B4-BE49-F238E27FC236}">
                <a16:creationId xmlns:a16="http://schemas.microsoft.com/office/drawing/2014/main" id="{4E930948-B55A-44A8-8D18-FD80BC528CE4}"/>
              </a:ext>
            </a:extLst>
          </p:cNvPr>
          <p:cNvSpPr>
            <a:spLocks noGrp="1"/>
          </p:cNvSpPr>
          <p:nvPr>
            <p:ph idx="1"/>
          </p:nvPr>
        </p:nvSpPr>
        <p:spPr>
          <a:xfrm>
            <a:off x="838200" y="1454564"/>
            <a:ext cx="10515600" cy="4351338"/>
          </a:xfrm>
        </p:spPr>
        <p:txBody>
          <a:bodyPr>
            <a:normAutofit fontScale="70000" lnSpcReduction="20000"/>
          </a:bodyPr>
          <a:lstStyle/>
          <a:p>
            <a:endParaRPr lang="en-US" b="0" i="0" dirty="0">
              <a:solidFill>
                <a:srgbClr val="292929"/>
              </a:solidFill>
              <a:effectLst/>
              <a:latin typeface="charter"/>
            </a:endParaRPr>
          </a:p>
          <a:p>
            <a:pPr>
              <a:lnSpc>
                <a:spcPct val="170000"/>
              </a:lnSpc>
            </a:pPr>
            <a:r>
              <a:rPr lang="en-US" b="0" i="0" dirty="0">
                <a:solidFill>
                  <a:srgbClr val="292929"/>
                </a:solidFill>
                <a:effectLst/>
                <a:latin typeface="Times New Roman" panose="02020603050405020304" pitchFamily="18" charset="0"/>
                <a:cs typeface="Times New Roman" panose="02020603050405020304" pitchFamily="18" charset="0"/>
              </a:rPr>
              <a:t>Can be generally termed as something when the ML model is extremely dependent on the training data. </a:t>
            </a:r>
          </a:p>
          <a:p>
            <a:pPr>
              <a:lnSpc>
                <a:spcPct val="170000"/>
              </a:lnSpc>
            </a:pPr>
            <a:r>
              <a:rPr lang="en-US" b="0" i="0" dirty="0">
                <a:solidFill>
                  <a:srgbClr val="292929"/>
                </a:solidFill>
                <a:effectLst/>
                <a:latin typeface="Times New Roman" panose="02020603050405020304" pitchFamily="18" charset="0"/>
                <a:cs typeface="Times New Roman" panose="02020603050405020304" pitchFamily="18" charset="0"/>
              </a:rPr>
              <a:t>The model is build from each data point view of the training data that it is not able to learn and fails drastically when exposed to new test data.</a:t>
            </a:r>
          </a:p>
          <a:p>
            <a:pPr>
              <a:lnSpc>
                <a:spcPct val="170000"/>
              </a:lnSpc>
            </a:pPr>
            <a:r>
              <a:rPr lang="en-US" b="0" i="0" dirty="0">
                <a:solidFill>
                  <a:srgbClr val="292929"/>
                </a:solidFill>
                <a:effectLst/>
                <a:latin typeface="Times New Roman" panose="02020603050405020304" pitchFamily="18" charset="0"/>
                <a:cs typeface="Times New Roman" panose="02020603050405020304" pitchFamily="18" charset="0"/>
              </a:rPr>
              <a:t> It mostly occurs in non-linear, non- parametric data. </a:t>
            </a:r>
          </a:p>
          <a:p>
            <a:pPr>
              <a:lnSpc>
                <a:spcPct val="170000"/>
              </a:lnSpc>
            </a:pPr>
            <a:r>
              <a:rPr lang="en-US" b="0" i="0" dirty="0">
                <a:solidFill>
                  <a:srgbClr val="292929"/>
                </a:solidFill>
                <a:effectLst/>
                <a:latin typeface="Times New Roman" panose="02020603050405020304" pitchFamily="18" charset="0"/>
                <a:cs typeface="Times New Roman" panose="02020603050405020304" pitchFamily="18" charset="0"/>
              </a:rPr>
              <a:t>Non-parametric refers to an assumption that the data doesn’t have a normal distribution. </a:t>
            </a:r>
          </a:p>
          <a:p>
            <a:pPr>
              <a:lnSpc>
                <a:spcPct val="170000"/>
              </a:lnSpc>
            </a:pPr>
            <a:r>
              <a:rPr lang="en-US" b="0" i="0" dirty="0">
                <a:solidFill>
                  <a:srgbClr val="292929"/>
                </a:solidFill>
                <a:effectLst/>
                <a:latin typeface="Times New Roman" panose="02020603050405020304" pitchFamily="18" charset="0"/>
                <a:cs typeface="Times New Roman" panose="02020603050405020304" pitchFamily="18" charset="0"/>
              </a:rPr>
              <a:t>It occurs mostly in complex algorithms like tree based models, KNN etc.</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8216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BEB77-9921-4100-8774-D1098D345989}"/>
              </a:ext>
            </a:extLst>
          </p:cNvPr>
          <p:cNvSpPr>
            <a:spLocks noGrp="1"/>
          </p:cNvSpPr>
          <p:nvPr>
            <p:ph type="title"/>
          </p:nvPr>
        </p:nvSpPr>
        <p:spPr/>
        <p:txBody>
          <a:bodyPr/>
          <a:lstStyle/>
          <a:p>
            <a:r>
              <a:rPr lang="en-US" b="1" i="0" dirty="0">
                <a:solidFill>
                  <a:srgbClr val="292929"/>
                </a:solidFill>
                <a:effectLst/>
                <a:latin typeface="charter"/>
              </a:rPr>
              <a:t>Overfitting</a:t>
            </a:r>
            <a:endParaRPr lang="en-US" dirty="0"/>
          </a:p>
        </p:txBody>
      </p:sp>
      <p:sp>
        <p:nvSpPr>
          <p:cNvPr id="3" name="Content Placeholder 2">
            <a:extLst>
              <a:ext uri="{FF2B5EF4-FFF2-40B4-BE49-F238E27FC236}">
                <a16:creationId xmlns:a16="http://schemas.microsoft.com/office/drawing/2014/main" id="{4C47539E-BF1F-439D-AD9D-D68A0E568690}"/>
              </a:ext>
            </a:extLst>
          </p:cNvPr>
          <p:cNvSpPr>
            <a:spLocks noGrp="1"/>
          </p:cNvSpPr>
          <p:nvPr>
            <p:ph idx="1"/>
          </p:nvPr>
        </p:nvSpPr>
        <p:spPr>
          <a:xfrm>
            <a:off x="838200" y="1444487"/>
            <a:ext cx="10515600" cy="4732476"/>
          </a:xfrm>
        </p:spPr>
        <p:txBody>
          <a:bodyPr>
            <a:noAutofit/>
          </a:bodyPr>
          <a:lstStyle/>
          <a:p>
            <a:pPr>
              <a:lnSpc>
                <a:spcPct val="150000"/>
              </a:lnSpc>
            </a:pPr>
            <a:r>
              <a:rPr lang="en-US" sz="2400" b="0" i="0" dirty="0">
                <a:solidFill>
                  <a:srgbClr val="292929"/>
                </a:solidFill>
                <a:effectLst/>
                <a:latin typeface="Cambria" panose="02040503050406030204" pitchFamily="18" charset="0"/>
                <a:cs typeface="Times New Roman" panose="02020603050405020304" pitchFamily="18" charset="0"/>
              </a:rPr>
              <a:t>In simple words, Overfitting occurs when the model begins to memorize the training data instead of learning and understanding the underlying trend of the data. This results in the in efficiency of the model to perform well on new independent data.</a:t>
            </a:r>
            <a:endParaRPr lang="en-US" sz="2400" dirty="0">
              <a:solidFill>
                <a:srgbClr val="292929"/>
              </a:solidFill>
              <a:latin typeface="Cambria" panose="02040503050406030204" pitchFamily="18" charset="0"/>
              <a:cs typeface="Times New Roman" panose="02020603050405020304" pitchFamily="18" charset="0"/>
            </a:endParaRPr>
          </a:p>
          <a:p>
            <a:pPr>
              <a:lnSpc>
                <a:spcPct val="150000"/>
              </a:lnSpc>
            </a:pPr>
            <a:r>
              <a:rPr lang="en-US" sz="2400" b="0" i="0" dirty="0">
                <a:solidFill>
                  <a:srgbClr val="292929"/>
                </a:solidFill>
                <a:effectLst/>
                <a:latin typeface="Cambria" panose="02040503050406030204" pitchFamily="18" charset="0"/>
                <a:cs typeface="Times New Roman" panose="02020603050405020304" pitchFamily="18" charset="0"/>
              </a:rPr>
              <a:t>As we all know, an overfitting model learns the training data really well and close from each data point view that it fails when new data is presented to it</a:t>
            </a:r>
          </a:p>
          <a:p>
            <a:pPr algn="l"/>
            <a:r>
              <a:rPr lang="en-US" sz="2400" i="0" dirty="0">
                <a:solidFill>
                  <a:srgbClr val="292929"/>
                </a:solidFill>
                <a:effectLst/>
                <a:latin typeface="Cambria" panose="02040503050406030204" pitchFamily="18" charset="0"/>
                <a:cs typeface="Times New Roman" panose="02020603050405020304" pitchFamily="18" charset="0"/>
              </a:rPr>
              <a:t>A model with high variance and low bias is said to be overfitting.</a:t>
            </a:r>
          </a:p>
          <a:p>
            <a:pPr algn="l"/>
            <a:r>
              <a:rPr lang="en-US" sz="2400" i="0" dirty="0">
                <a:solidFill>
                  <a:srgbClr val="292929"/>
                </a:solidFill>
                <a:effectLst/>
                <a:latin typeface="Cambria" panose="02040503050406030204" pitchFamily="18" charset="0"/>
                <a:cs typeface="Times New Roman" panose="02020603050405020304" pitchFamily="18" charset="0"/>
              </a:rPr>
              <a:t> For </a:t>
            </a:r>
            <a:r>
              <a:rPr lang="en-US" sz="2400" i="0" dirty="0" err="1">
                <a:solidFill>
                  <a:srgbClr val="292929"/>
                </a:solidFill>
                <a:effectLst/>
                <a:latin typeface="Cambria" panose="02040503050406030204" pitchFamily="18" charset="0"/>
                <a:cs typeface="Times New Roman" panose="02020603050405020304" pitchFamily="18" charset="0"/>
              </a:rPr>
              <a:t>eg</a:t>
            </a:r>
            <a:r>
              <a:rPr lang="en-US" sz="2400" i="0" dirty="0">
                <a:solidFill>
                  <a:srgbClr val="292929"/>
                </a:solidFill>
                <a:effectLst/>
                <a:latin typeface="Cambria" panose="02040503050406030204" pitchFamily="18" charset="0"/>
                <a:cs typeface="Times New Roman" panose="02020603050405020304" pitchFamily="18" charset="0"/>
              </a:rPr>
              <a:t>: if the accuracy of a ML model is 99% on training data but 50% on test data, then it is a clear case of overfitting.</a:t>
            </a:r>
            <a:endParaRPr lang="en-US" sz="2400" dirty="0">
              <a:latin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456542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B1D4B-A03A-4B9D-958D-27C673AB2095}"/>
              </a:ext>
            </a:extLst>
          </p:cNvPr>
          <p:cNvSpPr>
            <a:spLocks noGrp="1"/>
          </p:cNvSpPr>
          <p:nvPr>
            <p:ph type="title"/>
          </p:nvPr>
        </p:nvSpPr>
        <p:spPr/>
        <p:txBody>
          <a:bodyPr>
            <a:normAutofit/>
          </a:bodyPr>
          <a:lstStyle/>
          <a:p>
            <a:r>
              <a:rPr lang="en-US" sz="4000" i="0" dirty="0">
                <a:solidFill>
                  <a:srgbClr val="292929"/>
                </a:solidFill>
                <a:effectLst/>
                <a:latin typeface="Cambria" panose="02040503050406030204" pitchFamily="18" charset="0"/>
                <a:cs typeface="Times New Roman" panose="02020603050405020304" pitchFamily="18" charset="0"/>
              </a:rPr>
              <a:t>Overfitting can be overcome by :</a:t>
            </a:r>
            <a:endParaRPr lang="en-US" sz="4000" dirty="0">
              <a:latin typeface="Cambria" panose="02040503050406030204" pitchFamily="18" charset="0"/>
            </a:endParaRPr>
          </a:p>
        </p:txBody>
      </p:sp>
      <p:sp>
        <p:nvSpPr>
          <p:cNvPr id="3" name="Content Placeholder 2">
            <a:extLst>
              <a:ext uri="{FF2B5EF4-FFF2-40B4-BE49-F238E27FC236}">
                <a16:creationId xmlns:a16="http://schemas.microsoft.com/office/drawing/2014/main" id="{2A33E4C5-1943-43FD-952C-BCA9F529AFC8}"/>
              </a:ext>
            </a:extLst>
          </p:cNvPr>
          <p:cNvSpPr>
            <a:spLocks noGrp="1"/>
          </p:cNvSpPr>
          <p:nvPr>
            <p:ph idx="1"/>
          </p:nvPr>
        </p:nvSpPr>
        <p:spPr/>
        <p:txBody>
          <a:bodyPr>
            <a:normAutofit/>
          </a:bodyPr>
          <a:lstStyle/>
          <a:p>
            <a:r>
              <a:rPr lang="en-US" sz="2400" b="0" i="0" dirty="0">
                <a:solidFill>
                  <a:srgbClr val="292929"/>
                </a:solidFill>
                <a:effectLst/>
                <a:latin typeface="Cambria" panose="02040503050406030204" pitchFamily="18" charset="0"/>
              </a:rPr>
              <a:t>Cross validation techniques like K-fold cross validation.</a:t>
            </a:r>
          </a:p>
          <a:p>
            <a:r>
              <a:rPr lang="en-US" sz="2400" b="0" i="0" dirty="0">
                <a:solidFill>
                  <a:srgbClr val="292929"/>
                </a:solidFill>
                <a:effectLst/>
                <a:latin typeface="Cambria" panose="02040503050406030204" pitchFamily="18" charset="0"/>
              </a:rPr>
              <a:t> Boosting and bagging.</a:t>
            </a:r>
          </a:p>
          <a:p>
            <a:r>
              <a:rPr lang="en-US" sz="2400" b="0" i="0" dirty="0">
                <a:solidFill>
                  <a:srgbClr val="292929"/>
                </a:solidFill>
                <a:effectLst/>
                <a:latin typeface="Cambria" panose="02040503050406030204" pitchFamily="18" charset="0"/>
              </a:rPr>
              <a:t>Using linear models for linear data.</a:t>
            </a:r>
          </a:p>
          <a:p>
            <a:r>
              <a:rPr lang="en-US" sz="2400" b="0" i="0" dirty="0">
                <a:solidFill>
                  <a:srgbClr val="292929"/>
                </a:solidFill>
                <a:effectLst/>
                <a:latin typeface="Cambria" panose="02040503050406030204" pitchFamily="18" charset="0"/>
              </a:rPr>
              <a:t> Grid search techniques or including parameters like maximum depth (Number of trees) for tree based algorithms can go a long way in solving overfitting issues.</a:t>
            </a:r>
          </a:p>
          <a:p>
            <a:r>
              <a:rPr lang="en-US" sz="2400" b="0" i="0" dirty="0">
                <a:solidFill>
                  <a:srgbClr val="292929"/>
                </a:solidFill>
                <a:effectLst/>
                <a:latin typeface="Cambria" panose="02040503050406030204" pitchFamily="18" charset="0"/>
              </a:rPr>
              <a:t>Pruning in case of decision trees.</a:t>
            </a:r>
          </a:p>
          <a:p>
            <a:r>
              <a:rPr lang="en-US" sz="2400" b="0" i="0" dirty="0">
                <a:solidFill>
                  <a:srgbClr val="292929"/>
                </a:solidFill>
                <a:effectLst/>
                <a:latin typeface="Cambria" panose="02040503050406030204" pitchFamily="18" charset="0"/>
              </a:rPr>
              <a:t> L1 regularization (Lasso regularization/penalization).</a:t>
            </a:r>
          </a:p>
          <a:p>
            <a:r>
              <a:rPr lang="en-US" sz="2400" b="0" i="0" dirty="0">
                <a:solidFill>
                  <a:srgbClr val="292929"/>
                </a:solidFill>
                <a:effectLst/>
                <a:latin typeface="Cambria" panose="02040503050406030204" pitchFamily="18" charset="0"/>
              </a:rPr>
              <a:t> L2 regularization (Ridge regularization/penalization).</a:t>
            </a:r>
          </a:p>
          <a:p>
            <a:endParaRPr lang="en-US" dirty="0"/>
          </a:p>
        </p:txBody>
      </p:sp>
    </p:spTree>
    <p:extLst>
      <p:ext uri="{BB962C8B-B14F-4D97-AF65-F5344CB8AC3E}">
        <p14:creationId xmlns:p14="http://schemas.microsoft.com/office/powerpoint/2010/main" val="1118081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55C33-A492-4931-AE87-FC2BDB32F787}"/>
              </a:ext>
            </a:extLst>
          </p:cNvPr>
          <p:cNvSpPr>
            <a:spLocks noGrp="1"/>
          </p:cNvSpPr>
          <p:nvPr>
            <p:ph type="title"/>
          </p:nvPr>
        </p:nvSpPr>
        <p:spPr/>
        <p:txBody>
          <a:bodyPr>
            <a:normAutofit/>
          </a:bodyPr>
          <a:lstStyle/>
          <a:p>
            <a:r>
              <a:rPr lang="en-US" sz="4000" b="0" i="0" dirty="0">
                <a:solidFill>
                  <a:srgbClr val="292929"/>
                </a:solidFill>
                <a:effectLst/>
                <a:latin typeface="Cambria" panose="02040503050406030204" pitchFamily="18" charset="0"/>
              </a:rPr>
              <a:t>Underfitting:</a:t>
            </a:r>
            <a:endParaRPr lang="en-US" sz="4000" dirty="0">
              <a:latin typeface="Cambria" panose="02040503050406030204" pitchFamily="18" charset="0"/>
            </a:endParaRPr>
          </a:p>
        </p:txBody>
      </p:sp>
      <p:sp>
        <p:nvSpPr>
          <p:cNvPr id="3" name="Content Placeholder 2">
            <a:extLst>
              <a:ext uri="{FF2B5EF4-FFF2-40B4-BE49-F238E27FC236}">
                <a16:creationId xmlns:a16="http://schemas.microsoft.com/office/drawing/2014/main" id="{8562ED58-72F7-45B0-9B0C-5803263AA5F0}"/>
              </a:ext>
            </a:extLst>
          </p:cNvPr>
          <p:cNvSpPr>
            <a:spLocks noGrp="1"/>
          </p:cNvSpPr>
          <p:nvPr>
            <p:ph idx="1"/>
          </p:nvPr>
        </p:nvSpPr>
        <p:spPr/>
        <p:txBody>
          <a:bodyPr/>
          <a:lstStyle/>
          <a:p>
            <a:pPr algn="l">
              <a:lnSpc>
                <a:spcPct val="150000"/>
              </a:lnSpc>
            </a:pPr>
            <a:r>
              <a:rPr lang="en-US" sz="2300" b="0" i="0" dirty="0">
                <a:solidFill>
                  <a:srgbClr val="292929"/>
                </a:solidFill>
                <a:effectLst/>
                <a:latin typeface="Cambria" panose="02040503050406030204" pitchFamily="18" charset="0"/>
              </a:rPr>
              <a:t>An underfitting model is neither good to the training data nor the test data.</a:t>
            </a:r>
          </a:p>
          <a:p>
            <a:pPr algn="l">
              <a:lnSpc>
                <a:spcPct val="150000"/>
              </a:lnSpc>
            </a:pPr>
            <a:r>
              <a:rPr lang="en-US" sz="2300" b="0" i="0" dirty="0">
                <a:solidFill>
                  <a:srgbClr val="292929"/>
                </a:solidFill>
                <a:effectLst/>
                <a:latin typeface="Cambria" panose="02040503050406030204" pitchFamily="18" charset="0"/>
              </a:rPr>
              <a:t>Inability of the model to understand/analyze the underlying trend/structure of the data, unable to derive critical information from the training data. This generally happens when there is not enough training data.</a:t>
            </a:r>
          </a:p>
          <a:p>
            <a:pPr algn="l">
              <a:lnSpc>
                <a:spcPct val="150000"/>
              </a:lnSpc>
            </a:pPr>
            <a:r>
              <a:rPr lang="en-US" sz="2300" b="1" i="0" dirty="0">
                <a:solidFill>
                  <a:srgbClr val="292929"/>
                </a:solidFill>
                <a:effectLst/>
                <a:latin typeface="Cambria" panose="02040503050406030204" pitchFamily="18" charset="0"/>
              </a:rPr>
              <a:t>A model with high bias and low variance is said to be underfitting.</a:t>
            </a:r>
            <a:endParaRPr lang="en-US" sz="2300" b="0" i="0" dirty="0">
              <a:solidFill>
                <a:srgbClr val="292929"/>
              </a:solidFill>
              <a:effectLst/>
              <a:latin typeface="Cambria" panose="02040503050406030204" pitchFamily="18" charset="0"/>
            </a:endParaRPr>
          </a:p>
          <a:p>
            <a:pPr algn="l">
              <a:lnSpc>
                <a:spcPct val="150000"/>
              </a:lnSpc>
            </a:pPr>
            <a:r>
              <a:rPr lang="en-US" sz="2300" b="0" i="0" dirty="0">
                <a:solidFill>
                  <a:srgbClr val="292929"/>
                </a:solidFill>
                <a:effectLst/>
                <a:latin typeface="Cambria" panose="02040503050406030204" pitchFamily="18" charset="0"/>
              </a:rPr>
              <a:t>Underfitting might occur when we try to build linear models on non linear data.</a:t>
            </a:r>
          </a:p>
          <a:p>
            <a:pPr algn="l"/>
            <a:endParaRPr lang="en-US" b="0" i="0" dirty="0">
              <a:solidFill>
                <a:srgbClr val="292929"/>
              </a:solidFill>
              <a:effectLst/>
              <a:latin typeface="charter"/>
            </a:endParaRPr>
          </a:p>
          <a:p>
            <a:endParaRPr lang="en-US" dirty="0"/>
          </a:p>
        </p:txBody>
      </p:sp>
    </p:spTree>
    <p:extLst>
      <p:ext uri="{BB962C8B-B14F-4D97-AF65-F5344CB8AC3E}">
        <p14:creationId xmlns:p14="http://schemas.microsoft.com/office/powerpoint/2010/main" val="1343456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45661-0919-454A-831D-89C5F0F216B3}"/>
              </a:ext>
            </a:extLst>
          </p:cNvPr>
          <p:cNvSpPr>
            <a:spLocks noGrp="1"/>
          </p:cNvSpPr>
          <p:nvPr>
            <p:ph type="title"/>
          </p:nvPr>
        </p:nvSpPr>
        <p:spPr/>
        <p:txBody>
          <a:bodyPr>
            <a:normAutofit/>
          </a:bodyPr>
          <a:lstStyle/>
          <a:p>
            <a:r>
              <a:rPr lang="en-US" sz="4000" i="0" dirty="0">
                <a:solidFill>
                  <a:srgbClr val="292929"/>
                </a:solidFill>
                <a:effectLst/>
                <a:latin typeface="Cambria" panose="02040503050406030204" pitchFamily="18" charset="0"/>
              </a:rPr>
              <a:t>Underfitting can be overcome by:</a:t>
            </a:r>
            <a:endParaRPr lang="en-US" sz="4000" dirty="0">
              <a:latin typeface="Cambria" panose="02040503050406030204" pitchFamily="18" charset="0"/>
            </a:endParaRPr>
          </a:p>
        </p:txBody>
      </p:sp>
      <p:sp>
        <p:nvSpPr>
          <p:cNvPr id="3" name="Content Placeholder 2">
            <a:extLst>
              <a:ext uri="{FF2B5EF4-FFF2-40B4-BE49-F238E27FC236}">
                <a16:creationId xmlns:a16="http://schemas.microsoft.com/office/drawing/2014/main" id="{28852096-14E2-4154-A322-6F7DE2949A72}"/>
              </a:ext>
            </a:extLst>
          </p:cNvPr>
          <p:cNvSpPr>
            <a:spLocks noGrp="1"/>
          </p:cNvSpPr>
          <p:nvPr>
            <p:ph idx="1"/>
          </p:nvPr>
        </p:nvSpPr>
        <p:spPr/>
        <p:txBody>
          <a:bodyPr>
            <a:normAutofit fontScale="92500" lnSpcReduction="10000"/>
          </a:bodyPr>
          <a:lstStyle/>
          <a:p>
            <a:pPr algn="l">
              <a:lnSpc>
                <a:spcPct val="200000"/>
              </a:lnSpc>
            </a:pPr>
            <a:r>
              <a:rPr lang="en-US" sz="2400" b="0" i="0" dirty="0">
                <a:solidFill>
                  <a:srgbClr val="292929"/>
                </a:solidFill>
                <a:effectLst/>
                <a:latin typeface="Cambria" panose="02040503050406030204" pitchFamily="18" charset="0"/>
              </a:rPr>
              <a:t>Using feature selection, creating more features from existing features etc.</a:t>
            </a:r>
          </a:p>
          <a:p>
            <a:pPr algn="l">
              <a:lnSpc>
                <a:spcPct val="200000"/>
              </a:lnSpc>
            </a:pPr>
            <a:r>
              <a:rPr lang="en-US" sz="2400" b="0" i="0" dirty="0">
                <a:solidFill>
                  <a:srgbClr val="292929"/>
                </a:solidFill>
                <a:effectLst/>
                <a:latin typeface="Cambria" panose="02040503050406030204" pitchFamily="18" charset="0"/>
              </a:rPr>
              <a:t>Using Polynomial regression.</a:t>
            </a:r>
          </a:p>
          <a:p>
            <a:pPr algn="l">
              <a:lnSpc>
                <a:spcPct val="200000"/>
              </a:lnSpc>
            </a:pPr>
            <a:r>
              <a:rPr lang="en-US" sz="2400" b="0" i="0" dirty="0">
                <a:solidFill>
                  <a:srgbClr val="292929"/>
                </a:solidFill>
                <a:effectLst/>
                <a:latin typeface="Cambria" panose="02040503050406030204" pitchFamily="18" charset="0"/>
              </a:rPr>
              <a:t>For </a:t>
            </a:r>
            <a:r>
              <a:rPr lang="en-US" sz="2400" b="0" i="0" dirty="0" err="1">
                <a:solidFill>
                  <a:srgbClr val="292929"/>
                </a:solidFill>
                <a:effectLst/>
                <a:latin typeface="Cambria" panose="02040503050406030204" pitchFamily="18" charset="0"/>
              </a:rPr>
              <a:t>eg</a:t>
            </a:r>
            <a:r>
              <a:rPr lang="en-US" sz="2400" b="0" i="0" dirty="0">
                <a:solidFill>
                  <a:srgbClr val="292929"/>
                </a:solidFill>
                <a:effectLst/>
                <a:latin typeface="Cambria" panose="02040503050406030204" pitchFamily="18" charset="0"/>
              </a:rPr>
              <a:t>: if the accuracy of a ML model is 55% on training data and 50% on test data, then it is a clear case of underfitting because the model is not performing well on both train and test data.</a:t>
            </a:r>
          </a:p>
          <a:p>
            <a:pPr algn="l">
              <a:lnSpc>
                <a:spcPct val="200000"/>
              </a:lnSpc>
            </a:pPr>
            <a:r>
              <a:rPr lang="en-US" sz="2400" b="0" i="0" dirty="0">
                <a:solidFill>
                  <a:srgbClr val="292929"/>
                </a:solidFill>
                <a:effectLst/>
                <a:latin typeface="Cambria" panose="02040503050406030204" pitchFamily="18" charset="0"/>
              </a:rPr>
              <a:t>Underfitting mostly occurs in simple algorithms like Linear Regression</a:t>
            </a:r>
          </a:p>
          <a:p>
            <a:endParaRPr lang="en-US" dirty="0"/>
          </a:p>
        </p:txBody>
      </p:sp>
    </p:spTree>
    <p:extLst>
      <p:ext uri="{BB962C8B-B14F-4D97-AF65-F5344CB8AC3E}">
        <p14:creationId xmlns:p14="http://schemas.microsoft.com/office/powerpoint/2010/main" val="36391944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TotalTime>
  <Words>1084</Words>
  <Application>Microsoft Office PowerPoint</Application>
  <PresentationFormat>Widescreen</PresentationFormat>
  <Paragraphs>60</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Cambria</vt:lpstr>
      <vt:lpstr>charter</vt:lpstr>
      <vt:lpstr>Times New Roman</vt:lpstr>
      <vt:lpstr>Office Theme</vt:lpstr>
      <vt:lpstr>Overfitting Underfitting Regularization</vt:lpstr>
      <vt:lpstr>Model</vt:lpstr>
      <vt:lpstr>Example to Understand Underfitting vs. Overfitting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Does this Relate to Underfitting and Overfitting in Machine Learning? </vt:lpstr>
      <vt:lpstr>PowerPoint Presentation</vt:lpstr>
      <vt:lpstr>PowerPoint Presentation</vt:lpstr>
      <vt:lpstr>PowerPoint Presentation</vt:lpstr>
      <vt:lpstr>PowerPoint Presentation</vt:lpstr>
      <vt:lpstr>PowerPoint Presentation</vt:lpstr>
      <vt:lpstr>Overfitting</vt:lpstr>
      <vt:lpstr>Overfitting</vt:lpstr>
      <vt:lpstr>Overfitting can be overcome by :</vt:lpstr>
      <vt:lpstr>Underfitting:</vt:lpstr>
      <vt:lpstr>Underfitting can be overcome by: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Regularization/Bias/Variance/Overfit/Underfit</dc:title>
  <dc:creator>Ganapathi Raju</dc:creator>
  <cp:lastModifiedBy>Ganapathi Raju</cp:lastModifiedBy>
  <cp:revision>43</cp:revision>
  <dcterms:created xsi:type="dcterms:W3CDTF">2021-05-23T09:11:10Z</dcterms:created>
  <dcterms:modified xsi:type="dcterms:W3CDTF">2024-10-08T00:39:02Z</dcterms:modified>
</cp:coreProperties>
</file>