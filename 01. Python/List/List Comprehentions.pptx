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</p:sldMasterIdLst>
  <p:notesMasterIdLst>
    <p:notesMasterId r:id="rId8"/>
  </p:notesMasterIdLst>
  <p:sldIdLst>
    <p:sldId id="262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pendency">
  <p:cSld name="Dependenc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276225" y="1547446"/>
            <a:ext cx="11077575" cy="4572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627186" y="548640"/>
            <a:ext cx="302455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2800"/>
              <a:buFont typeface="Arial"/>
              <a:buNone/>
              <a:defRPr sz="28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450166" y="3602037"/>
            <a:ext cx="4508696" cy="289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 b="1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450166" y="548640"/>
            <a:ext cx="84406" cy="914400"/>
          </a:xfrm>
          <a:prstGeom prst="rect">
            <a:avLst/>
          </a:prstGeom>
          <a:solidFill>
            <a:srgbClr val="FFF1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Double Line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>
            <a:spLocks noGrp="1"/>
          </p:cNvSpPr>
          <p:nvPr>
            <p:ph type="title"/>
          </p:nvPr>
        </p:nvSpPr>
        <p:spPr>
          <a:xfrm>
            <a:off x="3704493" y="1998785"/>
            <a:ext cx="4783015" cy="685800"/>
          </a:xfrm>
          <a:prstGeom prst="roundRect">
            <a:avLst>
              <a:gd name="adj" fmla="val 16667"/>
            </a:avLst>
          </a:prstGeom>
          <a:solidFill>
            <a:srgbClr val="013CB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2564423" y="3118339"/>
            <a:ext cx="7063155" cy="211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Single line">
  <p:cSld name="Section Header - Single lin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>
            <a:spLocks noGrp="1"/>
          </p:cNvSpPr>
          <p:nvPr>
            <p:ph type="title"/>
          </p:nvPr>
        </p:nvSpPr>
        <p:spPr>
          <a:xfrm>
            <a:off x="2672862" y="2497015"/>
            <a:ext cx="6570783" cy="1787770"/>
          </a:xfrm>
          <a:prstGeom prst="roundRect">
            <a:avLst>
              <a:gd name="adj" fmla="val 16667"/>
            </a:avLst>
          </a:prstGeom>
          <a:solidFill>
            <a:srgbClr val="013CB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 - Single line">
  <p:cSld name="1_Section Header - Single lin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>
            <a:spLocks noGrp="1"/>
          </p:cNvSpPr>
          <p:nvPr>
            <p:ph type="title"/>
          </p:nvPr>
        </p:nvSpPr>
        <p:spPr>
          <a:xfrm>
            <a:off x="2672862" y="2497015"/>
            <a:ext cx="6570783" cy="178777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">
  <p:cSld name="Ques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275493" y="1535114"/>
            <a:ext cx="11078307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276225" y="2930769"/>
            <a:ext cx="11077575" cy="3317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C - 1 Correct">
  <p:cSld name="RC - 1 Corr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275493" y="1535114"/>
            <a:ext cx="5198207" cy="471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5721350" y="1535113"/>
            <a:ext cx="6194425" cy="4713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marL="914400" lvl="1" indent="-37147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ᴑ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C - More than 1 correct">
  <p:cSld name="RC - More than 1 correc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275493" y="1535114"/>
            <a:ext cx="5198207" cy="471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2"/>
          </p:nvPr>
        </p:nvSpPr>
        <p:spPr>
          <a:xfrm>
            <a:off x="5721350" y="1535113"/>
            <a:ext cx="6194425" cy="4713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marL="914400" lvl="1" indent="-37147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□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-Blank">
  <p:cSld name="One-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275493" y="1535114"/>
            <a:ext cx="11078307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Blank">
  <p:cSld name="Two-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1"/>
          </p:nvPr>
        </p:nvSpPr>
        <p:spPr>
          <a:xfrm>
            <a:off x="275493" y="1535114"/>
            <a:ext cx="11078307" cy="171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-Blank">
  <p:cSld name="Three-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75493" y="1535114"/>
            <a:ext cx="11078307" cy="2122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ntence Equivalence">
  <p:cSld name="Sentence Equivalenc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275493" y="1535114"/>
            <a:ext cx="11078307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4381501" y="2930769"/>
            <a:ext cx="3428999" cy="3317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□"/>
              <a:defRPr sz="18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nt Comparison">
  <p:cSld name="Quant Comparis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275493" y="1535114"/>
            <a:ext cx="11078307" cy="90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13CB2"/>
              </a:buClr>
              <a:buSzPts val="2000"/>
              <a:buNone/>
              <a:defRPr sz="2000" b="1">
                <a:solidFill>
                  <a:srgbClr val="013CB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276226" y="2854568"/>
            <a:ext cx="5614620" cy="185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2" name="Google Shape;62;p15"/>
          <p:cNvCxnSpPr/>
          <p:nvPr/>
        </p:nvCxnSpPr>
        <p:spPr>
          <a:xfrm>
            <a:off x="6096000" y="3089028"/>
            <a:ext cx="0" cy="1561431"/>
          </a:xfrm>
          <a:prstGeom prst="straightConnector1">
            <a:avLst/>
          </a:prstGeom>
          <a:noFill/>
          <a:ln w="28575" cap="flat" cmpd="sng">
            <a:solidFill>
              <a:srgbClr val="AEABA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" name="Google Shape;63;p15"/>
          <p:cNvSpPr txBox="1"/>
          <p:nvPr/>
        </p:nvSpPr>
        <p:spPr>
          <a:xfrm>
            <a:off x="1618152" y="2467704"/>
            <a:ext cx="29307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Quantity A</a:t>
            </a: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3"/>
          </p:nvPr>
        </p:nvSpPr>
        <p:spPr>
          <a:xfrm>
            <a:off x="6301154" y="2854568"/>
            <a:ext cx="5614620" cy="185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7643080" y="2467704"/>
            <a:ext cx="29307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Quantity B</a:t>
            </a: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2699241" y="4788866"/>
            <a:ext cx="6793519" cy="14773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Quantity A is greater.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Quantity B is greater.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two quantities are equal.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relationship cannot be determined from the information given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 with Solution">
  <p:cSld name="Question with Solu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275493" y="1535114"/>
            <a:ext cx="11078307" cy="96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13CB2"/>
              </a:buClr>
              <a:buSzPts val="2000"/>
              <a:buNone/>
              <a:defRPr sz="2000" b="1">
                <a:solidFill>
                  <a:srgbClr val="013CB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276226" y="2579077"/>
            <a:ext cx="6792790" cy="3669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>
            <a:spLocks noGrp="1"/>
          </p:cNvSpPr>
          <p:nvPr>
            <p:ph type="body" idx="3"/>
          </p:nvPr>
        </p:nvSpPr>
        <p:spPr>
          <a:xfrm>
            <a:off x="7186246" y="2579077"/>
            <a:ext cx="4167554" cy="3634399"/>
          </a:xfrm>
          <a:prstGeom prst="roundRect">
            <a:avLst>
              <a:gd name="adj" fmla="val 4704"/>
            </a:avLst>
          </a:prstGeom>
          <a:solidFill>
            <a:srgbClr val="ECF2FE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13CB2"/>
              </a:buClr>
              <a:buSzPts val="1800"/>
              <a:buFont typeface="Arial"/>
              <a:buNone/>
              <a:defRPr sz="1800" b="1">
                <a:solidFill>
                  <a:srgbClr val="013CB2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 sz="1800">
                <a:solidFill>
                  <a:srgbClr val="013CB2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 without options">
  <p:cSld name="Question without option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275493" y="1535114"/>
            <a:ext cx="6961882" cy="454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>
            <a:spLocks noGrp="1"/>
          </p:cNvSpPr>
          <p:nvPr>
            <p:ph type="body" idx="2"/>
          </p:nvPr>
        </p:nvSpPr>
        <p:spPr>
          <a:xfrm>
            <a:off x="7613515" y="1535116"/>
            <a:ext cx="3740285" cy="4549162"/>
          </a:xfrm>
          <a:prstGeom prst="roundRect">
            <a:avLst>
              <a:gd name="adj" fmla="val 4704"/>
            </a:avLst>
          </a:prstGeom>
          <a:solidFill>
            <a:srgbClr val="ECF2FE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13CB2"/>
              </a:buClr>
              <a:buSzPts val="1800"/>
              <a:buFont typeface="Arial"/>
              <a:buNone/>
              <a:defRPr sz="1800" b="1">
                <a:solidFill>
                  <a:srgbClr val="013CB2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 sz="1800">
                <a:solidFill>
                  <a:srgbClr val="013CB2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6" name="Google Shape;76;p17"/>
          <p:cNvCxnSpPr/>
          <p:nvPr/>
        </p:nvCxnSpPr>
        <p:spPr>
          <a:xfrm>
            <a:off x="7425446" y="1724311"/>
            <a:ext cx="0" cy="4359966"/>
          </a:xfrm>
          <a:prstGeom prst="straightConnector1">
            <a:avLst/>
          </a:prstGeom>
          <a:noFill/>
          <a:ln w="28575" cap="flat" cmpd="sng">
            <a:solidFill>
              <a:srgbClr val="AEABAB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ory with Sub-Points">
  <p:cSld name="Theory with Sub-Poin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1"/>
          </p:nvPr>
        </p:nvSpPr>
        <p:spPr>
          <a:xfrm>
            <a:off x="276225" y="1576388"/>
            <a:ext cx="11077575" cy="46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ory WITHOUT Sub-Points">
  <p:cSld name="Theory WITHOUT Sub-Poin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>
            <a:off x="276225" y="1576388"/>
            <a:ext cx="11077575" cy="46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1"/>
          </p:nvPr>
        </p:nvSpPr>
        <p:spPr>
          <a:xfrm>
            <a:off x="275491" y="1421052"/>
            <a:ext cx="5498123" cy="743236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body" idx="2"/>
          </p:nvPr>
        </p:nvSpPr>
        <p:spPr>
          <a:xfrm>
            <a:off x="275492" y="2171858"/>
            <a:ext cx="5498122" cy="425196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FEFEFE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2400"/>
              <a:buChar char="▪"/>
              <a:defRPr sz="2400"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Char char="▪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Char char="▪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Char char="▪"/>
              <a:defRPr sz="1800"/>
            </a:lvl5pPr>
            <a:lvl6pPr marL="2743200" lvl="5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body" idx="3"/>
          </p:nvPr>
        </p:nvSpPr>
        <p:spPr>
          <a:xfrm>
            <a:off x="6125949" y="1428622"/>
            <a:ext cx="5790559" cy="743236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body" idx="4"/>
          </p:nvPr>
        </p:nvSpPr>
        <p:spPr>
          <a:xfrm>
            <a:off x="6125949" y="2171858"/>
            <a:ext cx="5790559" cy="425196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2400"/>
              <a:buNone/>
              <a:defRPr sz="2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/>
            </a:lvl5pPr>
            <a:lvl6pPr marL="2743200" lvl="5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cxnSp>
        <p:nvCxnSpPr>
          <p:cNvPr id="89" name="Google Shape;89;p20"/>
          <p:cNvCxnSpPr/>
          <p:nvPr/>
        </p:nvCxnSpPr>
        <p:spPr>
          <a:xfrm>
            <a:off x="5936618" y="1724311"/>
            <a:ext cx="0" cy="4359966"/>
          </a:xfrm>
          <a:prstGeom prst="straightConnector1">
            <a:avLst/>
          </a:prstGeom>
          <a:noFill/>
          <a:ln w="28575" cap="flat" cmpd="sng">
            <a:solidFill>
              <a:srgbClr val="AEABAB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(Graph)">
  <p:cSld name="Two Content (Graph)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1"/>
          </p:nvPr>
        </p:nvSpPr>
        <p:spPr>
          <a:xfrm>
            <a:off x="6172200" y="1565031"/>
            <a:ext cx="5181600" cy="461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body" idx="2"/>
          </p:nvPr>
        </p:nvSpPr>
        <p:spPr>
          <a:xfrm>
            <a:off x="275493" y="1565031"/>
            <a:ext cx="5674458" cy="461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4" name="Google Shape;94;p21"/>
          <p:cNvCxnSpPr/>
          <p:nvPr/>
        </p:nvCxnSpPr>
        <p:spPr>
          <a:xfrm>
            <a:off x="6071420" y="1677415"/>
            <a:ext cx="0" cy="4359966"/>
          </a:xfrm>
          <a:prstGeom prst="straightConnector1">
            <a:avLst/>
          </a:prstGeom>
          <a:noFill/>
          <a:ln w="28575" cap="flat" cmpd="sng">
            <a:solidFill>
              <a:srgbClr val="AEABAB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ple Graphs">
  <p:cSld name="Multiple Graph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body" idx="1"/>
          </p:nvPr>
        </p:nvSpPr>
        <p:spPr>
          <a:xfrm>
            <a:off x="6172200" y="1565031"/>
            <a:ext cx="5181600" cy="222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body" idx="2"/>
          </p:nvPr>
        </p:nvSpPr>
        <p:spPr>
          <a:xfrm>
            <a:off x="275493" y="1565031"/>
            <a:ext cx="5674458" cy="461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body" idx="3"/>
          </p:nvPr>
        </p:nvSpPr>
        <p:spPr>
          <a:xfrm>
            <a:off x="6172200" y="3950677"/>
            <a:ext cx="5181600" cy="222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3"/>
          <p:cNvSpPr/>
          <p:nvPr/>
        </p:nvSpPr>
        <p:spPr>
          <a:xfrm>
            <a:off x="2107647" y="1674305"/>
            <a:ext cx="7976705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body" idx="1"/>
          </p:nvPr>
        </p:nvSpPr>
        <p:spPr>
          <a:xfrm>
            <a:off x="5275385" y="3709988"/>
            <a:ext cx="2766646" cy="117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FFF14E"/>
              </a:buClr>
              <a:buSzPts val="2400"/>
              <a:buNone/>
              <a:defRPr sz="2400" b="1">
                <a:solidFill>
                  <a:srgbClr val="FFF14E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3529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A close up of a logo&#10;&#10;Description automatically generated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013CB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275492" y="1516531"/>
            <a:ext cx="11383108" cy="466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1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/>
        </p:nvSpPr>
        <p:spPr>
          <a:xfrm>
            <a:off x="431458" y="163643"/>
            <a:ext cx="8921672" cy="117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70000" lnSpcReduction="20000"/>
          </a:bodyPr>
          <a:lstStyle/>
          <a:p>
            <a:pPr marL="0" marR="0" lvl="0" indent="0" algn="ctr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5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COMPREHENSIONS</a:t>
            </a:r>
          </a:p>
        </p:txBody>
      </p:sp>
      <p:pic>
        <p:nvPicPr>
          <p:cNvPr id="2" name="Google Shape;223;p39">
            <a:extLst>
              <a:ext uri="{FF2B5EF4-FFF2-40B4-BE49-F238E27FC236}">
                <a16:creationId xmlns:a16="http://schemas.microsoft.com/office/drawing/2014/main" id="{B421ED6B-4C46-DF6E-03C2-220D58CAEE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49090" y="57292"/>
            <a:ext cx="2442910" cy="844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3;p27">
            <a:extLst>
              <a:ext uri="{FF2B5EF4-FFF2-40B4-BE49-F238E27FC236}">
                <a16:creationId xmlns:a16="http://schemas.microsoft.com/office/drawing/2014/main" id="{66B1DD93-FD60-1894-D25D-BF8E6FEAC0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6394" y="6446098"/>
            <a:ext cx="5875606" cy="37631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9635FC-C751-A160-8DC2-96ABF9688481}"/>
              </a:ext>
            </a:extLst>
          </p:cNvPr>
          <p:cNvSpPr txBox="1"/>
          <p:nvPr/>
        </p:nvSpPr>
        <p:spPr>
          <a:xfrm>
            <a:off x="702118" y="1610516"/>
            <a:ext cx="11102875" cy="257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is famous for allowing you to write code that’s </a:t>
            </a:r>
            <a:r>
              <a:rPr lang="en-US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elegant, easy to write, and almost as easy to read as plain English. </a:t>
            </a: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of the language’s most distinctive features is the list comprehension, </a:t>
            </a:r>
            <a:r>
              <a:rPr lang="en-US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you can use to create powerful functionality within a single line of code.</a:t>
            </a:r>
            <a:endParaRPr lang="en-IN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0486CC-9514-986E-46EB-2F8B75758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5575" y="57292"/>
            <a:ext cx="2686425" cy="943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4400"/>
              <a:buFont typeface="Arial"/>
              <a:buNone/>
            </a:pPr>
            <a:r>
              <a:rPr lang="en-US"/>
              <a:t>Comprehensions</a:t>
            </a:r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body" idx="1"/>
          </p:nvPr>
        </p:nvSpPr>
        <p:spPr>
          <a:xfrm>
            <a:off x="275492" y="1547446"/>
            <a:ext cx="11699465" cy="47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571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/>
              <a:t>Comprehensions are constructs that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0"/>
              <a:t>                        </a:t>
            </a:r>
            <a:r>
              <a:rPr lang="en-US" sz="2400"/>
              <a:t>allow sequences to be built from other sequences</a:t>
            </a:r>
            <a:r>
              <a:rPr lang="en-US" sz="2400" b="0"/>
              <a:t>.</a:t>
            </a:r>
            <a:endParaRPr/>
          </a:p>
          <a:p>
            <a:pPr marL="342900" lvl="0" indent="-1905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/>
          </a:p>
          <a:p>
            <a:pPr marL="342900" lvl="0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/>
              <a:t>Python supports three kinds of comprehensions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0"/>
              <a:t>               1. </a:t>
            </a:r>
            <a:r>
              <a:rPr lang="en-US" sz="2200" b="0"/>
              <a:t>List comprehension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0"/>
              <a:t>                2. Dictionary comprehension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0"/>
              <a:t>                3. Set comprehension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pic>
        <p:nvPicPr>
          <p:cNvPr id="2" name="Google Shape;223;p39">
            <a:extLst>
              <a:ext uri="{FF2B5EF4-FFF2-40B4-BE49-F238E27FC236}">
                <a16:creationId xmlns:a16="http://schemas.microsoft.com/office/drawing/2014/main" id="{637284A8-E92F-1E93-23CF-53454A9AD4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49090" y="57292"/>
            <a:ext cx="2442910" cy="844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A03D6B83-987B-07A7-721A-08B89F6168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4658" y="6458804"/>
            <a:ext cx="5875606" cy="46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85DF89-FA7A-DE8F-100C-A78DF0FC5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5575" y="57292"/>
            <a:ext cx="2686425" cy="9431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>
            <a:spLocks noGrp="1"/>
          </p:cNvSpPr>
          <p:nvPr>
            <p:ph type="title"/>
          </p:nvPr>
        </p:nvSpPr>
        <p:spPr>
          <a:xfrm>
            <a:off x="275492" y="21747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4400"/>
              <a:buFont typeface="Arial"/>
              <a:buNone/>
            </a:pPr>
            <a:r>
              <a:rPr lang="en-US"/>
              <a:t>List comprehension</a:t>
            </a:r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1"/>
          </p:nvPr>
        </p:nvSpPr>
        <p:spPr>
          <a:xfrm>
            <a:off x="557212" y="1635938"/>
            <a:ext cx="11077575" cy="203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 b="0"/>
              <a:t>The components of a list comprehension are: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/>
              <a:t>Output Expression </a:t>
            </a:r>
            <a:r>
              <a:rPr lang="en-US" sz="2400" b="0"/>
              <a:t>(</a:t>
            </a:r>
            <a:r>
              <a:rPr lang="en-US" sz="2400"/>
              <a:t>Optional</a:t>
            </a:r>
            <a:r>
              <a:rPr lang="en-US" sz="2400" b="0"/>
              <a:t>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/>
              <a:t>Iterable</a:t>
            </a:r>
            <a:endParaRPr sz="2400" b="0"/>
          </a:p>
          <a:p>
            <a:pPr marL="342900" lvl="0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/>
              <a:t>Iterator variable</a:t>
            </a:r>
            <a:r>
              <a:rPr lang="en-US" sz="2400" b="0"/>
              <a:t> which represents the members of the iterable</a:t>
            </a:r>
            <a:endParaRPr sz="2400" b="0"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pic>
        <p:nvPicPr>
          <p:cNvPr id="116" name="Google Shape;11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3787" y="4103674"/>
            <a:ext cx="6090447" cy="669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1199" y="5197400"/>
            <a:ext cx="8945879" cy="891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23;p39">
            <a:extLst>
              <a:ext uri="{FF2B5EF4-FFF2-40B4-BE49-F238E27FC236}">
                <a16:creationId xmlns:a16="http://schemas.microsoft.com/office/drawing/2014/main" id="{4AB8EE02-A443-3A76-A583-1AE7D34BA8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49090" y="57292"/>
            <a:ext cx="2442910" cy="844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8E8F1018-CC36-66A0-5026-1AE19E80551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74658" y="6458804"/>
            <a:ext cx="5875606" cy="46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56493C-425A-50E8-14D8-ACEB127E41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5575" y="57292"/>
            <a:ext cx="2686425" cy="9431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1911" y="643466"/>
            <a:ext cx="5388178" cy="5571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23;p39">
            <a:extLst>
              <a:ext uri="{FF2B5EF4-FFF2-40B4-BE49-F238E27FC236}">
                <a16:creationId xmlns:a16="http://schemas.microsoft.com/office/drawing/2014/main" id="{B3DB374B-8E36-ADDF-24E0-E7A0069D193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49090" y="57292"/>
            <a:ext cx="2442910" cy="844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E4B666C0-E9B1-5596-237C-A5638E0F78C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4658" y="6458804"/>
            <a:ext cx="5875606" cy="46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B59A38-408F-A5BF-2B40-1150B3D56A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5575" y="57292"/>
            <a:ext cx="2686425" cy="9431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4400"/>
              <a:buFont typeface="Arial"/>
              <a:buNone/>
            </a:pPr>
            <a:r>
              <a:rPr lang="en-US"/>
              <a:t>Example on List comprehension</a:t>
            </a:r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1001755" y="1540278"/>
            <a:ext cx="6980903" cy="2579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even_squares = []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num in range(0,10):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num%2 == 0: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even_squares.append(num * num)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print(even_squares)</a:t>
            </a:r>
            <a:endParaRPr/>
          </a:p>
        </p:txBody>
      </p:sp>
      <p:sp>
        <p:nvSpPr>
          <p:cNvPr id="129" name="Google Shape;129;p27"/>
          <p:cNvSpPr/>
          <p:nvPr/>
        </p:nvSpPr>
        <p:spPr>
          <a:xfrm>
            <a:off x="3539613" y="4671391"/>
            <a:ext cx="8096863" cy="1351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even_squares = [num * num for num in range(0,11) if num%2 == 0]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even_squares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223;p39">
            <a:extLst>
              <a:ext uri="{FF2B5EF4-FFF2-40B4-BE49-F238E27FC236}">
                <a16:creationId xmlns:a16="http://schemas.microsoft.com/office/drawing/2014/main" id="{5C9D8FC1-7035-E4F8-76FA-75265226F2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49090" y="57292"/>
            <a:ext cx="2442910" cy="844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39BB0D0A-09D8-DDBF-56F7-4F099F0B2D2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4658" y="6458804"/>
            <a:ext cx="5875606" cy="46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6AE1A3-99D4-FDB0-71C9-708EEB8B83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5575" y="57292"/>
            <a:ext cx="2686425" cy="9431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10783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CB2"/>
              </a:buClr>
              <a:buSzPts val="4400"/>
              <a:buFont typeface="Arial"/>
              <a:buNone/>
            </a:pPr>
            <a:r>
              <a:rPr lang="en-US"/>
              <a:t>Adv of List comprehension</a:t>
            </a:r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body" idx="1"/>
          </p:nvPr>
        </p:nvSpPr>
        <p:spPr>
          <a:xfrm>
            <a:off x="276225" y="1547446"/>
            <a:ext cx="11787956" cy="4572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/>
              <a:t>is an </a:t>
            </a:r>
            <a:r>
              <a:rPr lang="en-US" sz="2800"/>
              <a:t>elegant way to define and create lists based on existing lists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more compact and faster than normal functions and loops for </a:t>
            </a:r>
            <a:r>
              <a:rPr lang="en-US" sz="2800" b="0"/>
              <a:t>creating list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0"/>
              <a:t>   </a:t>
            </a:r>
            <a:r>
              <a:rPr lang="en-US" sz="2400" b="0" u="sng"/>
              <a:t>Drawback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/>
              <a:t>avoid writing very </a:t>
            </a:r>
            <a:r>
              <a:rPr lang="en-US" sz="2800"/>
              <a:t>long list comprehensions </a:t>
            </a:r>
            <a:r>
              <a:rPr lang="en-US" sz="2800" b="0"/>
              <a:t>in one line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0"/>
              <a:t>                                              to ensure that code is user-friendly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</p:txBody>
      </p:sp>
      <p:pic>
        <p:nvPicPr>
          <p:cNvPr id="2" name="Google Shape;223;p39">
            <a:extLst>
              <a:ext uri="{FF2B5EF4-FFF2-40B4-BE49-F238E27FC236}">
                <a16:creationId xmlns:a16="http://schemas.microsoft.com/office/drawing/2014/main" id="{049795B2-F593-B34A-FACC-A141919F7C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49090" y="57292"/>
            <a:ext cx="2442910" cy="844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7CE3C6CE-7BEB-E623-2E85-AA927F28685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4658" y="6458804"/>
            <a:ext cx="5875606" cy="46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5AB12E-FC88-B396-D91F-44AD51C57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5575" y="57292"/>
            <a:ext cx="2686425" cy="9431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 LivePrep 02">
  <a:themeElements>
    <a:clrScheme name="GRE LivePrep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13CB2"/>
      </a:accent1>
      <a:accent2>
        <a:srgbClr val="ED7D31"/>
      </a:accent2>
      <a:accent3>
        <a:srgbClr val="A5A5A5"/>
      </a:accent3>
      <a:accent4>
        <a:srgbClr val="FFF14E"/>
      </a:accent4>
      <a:accent5>
        <a:srgbClr val="ECF2FE"/>
      </a:accent5>
      <a:accent6>
        <a:srgbClr val="4679A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229</Words>
  <Application>Microsoft Office PowerPoint</Application>
  <PresentationFormat>Widescreen</PresentationFormat>
  <Paragraphs>31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Noto Sans Symbols</vt:lpstr>
      <vt:lpstr>Times New Roman</vt:lpstr>
      <vt:lpstr>GRE LivePrep 02</vt:lpstr>
      <vt:lpstr>PowerPoint Presentation</vt:lpstr>
      <vt:lpstr>Comprehensions</vt:lpstr>
      <vt:lpstr>List comprehension</vt:lpstr>
      <vt:lpstr>PowerPoint Presentation</vt:lpstr>
      <vt:lpstr>Example on List comprehension</vt:lpstr>
      <vt:lpstr>Adv of List comprehension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Comprehensions</dc:title>
  <cp:lastModifiedBy>Ganapathi Raju</cp:lastModifiedBy>
  <cp:revision>19</cp:revision>
  <dcterms:modified xsi:type="dcterms:W3CDTF">2024-09-28T09:19:08Z</dcterms:modified>
</cp:coreProperties>
</file>