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4"/>
  </p:sldMasterIdLst>
  <p:notesMasterIdLst>
    <p:notesMasterId r:id="rId34"/>
  </p:notesMasterIdLst>
  <p:sldIdLst>
    <p:sldId id="256" r:id="rId5"/>
    <p:sldId id="361" r:id="rId6"/>
    <p:sldId id="362" r:id="rId7"/>
    <p:sldId id="363" r:id="rId8"/>
    <p:sldId id="395" r:id="rId9"/>
    <p:sldId id="366" r:id="rId10"/>
    <p:sldId id="367" r:id="rId11"/>
    <p:sldId id="368" r:id="rId12"/>
    <p:sldId id="369" r:id="rId13"/>
    <p:sldId id="370" r:id="rId14"/>
    <p:sldId id="371" r:id="rId15"/>
    <p:sldId id="396" r:id="rId16"/>
    <p:sldId id="374" r:id="rId17"/>
    <p:sldId id="375" r:id="rId18"/>
    <p:sldId id="376" r:id="rId19"/>
    <p:sldId id="397" r:id="rId20"/>
    <p:sldId id="379" r:id="rId21"/>
    <p:sldId id="380" r:id="rId22"/>
    <p:sldId id="381" r:id="rId23"/>
    <p:sldId id="398" r:id="rId24"/>
    <p:sldId id="384" r:id="rId25"/>
    <p:sldId id="385" r:id="rId26"/>
    <p:sldId id="386" r:id="rId27"/>
    <p:sldId id="387" r:id="rId28"/>
    <p:sldId id="388" r:id="rId29"/>
    <p:sldId id="389" r:id="rId30"/>
    <p:sldId id="399" r:id="rId31"/>
    <p:sldId id="392" r:id="rId32"/>
    <p:sldId id="39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4C2298A-6B50-49E4-ABB7-747166AA30A9}">
          <p14:sldIdLst>
            <p14:sldId id="256"/>
            <p14:sldId id="361"/>
            <p14:sldId id="362"/>
            <p14:sldId id="363"/>
          </p14:sldIdLst>
        </p14:section>
        <p14:section name="Default Section" id="{25C739B5-35CF-4BE3-A826-6894297B9E1C}">
          <p14:sldIdLst>
            <p14:sldId id="395"/>
            <p14:sldId id="366"/>
            <p14:sldId id="367"/>
            <p14:sldId id="368"/>
            <p14:sldId id="369"/>
            <p14:sldId id="370"/>
            <p14:sldId id="371"/>
            <p14:sldId id="396"/>
            <p14:sldId id="374"/>
            <p14:sldId id="375"/>
            <p14:sldId id="376"/>
            <p14:sldId id="397"/>
            <p14:sldId id="379"/>
            <p14:sldId id="380"/>
            <p14:sldId id="381"/>
            <p14:sldId id="398"/>
            <p14:sldId id="384"/>
            <p14:sldId id="385"/>
            <p14:sldId id="386"/>
            <p14:sldId id="387"/>
            <p14:sldId id="388"/>
            <p14:sldId id="389"/>
            <p14:sldId id="399"/>
            <p14:sldId id="392"/>
            <p14:sldId id="3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epti Abdullah" initials="DA" lastIdx="1" clrIdx="0">
    <p:extLst>
      <p:ext uri="{19B8F6BF-5375-455C-9EA6-DF929625EA0E}">
        <p15:presenceInfo xmlns:p15="http://schemas.microsoft.com/office/powerpoint/2012/main" userId="S::da@conduira.com::440ced13-2732-43a7-9501-9b9818813925" providerId="AD"/>
      </p:ext>
    </p:extLst>
  </p:cmAuthor>
  <p:cmAuthor id="2" name="Ganapathi Raju" initials="GR" lastIdx="2" clrIdx="1">
    <p:extLst>
      <p:ext uri="{19B8F6BF-5375-455C-9EA6-DF929625EA0E}">
        <p15:presenceInfo xmlns:p15="http://schemas.microsoft.com/office/powerpoint/2012/main" userId="S::latha.nadimpalli@conduira.com::fc51e357-86bc-4ce7-b1b5-f22e13a2d16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CB2"/>
    <a:srgbClr val="87AFFF"/>
    <a:srgbClr val="FFF14E"/>
    <a:srgbClr val="ECF2FE"/>
    <a:srgbClr val="A3C2FF"/>
    <a:srgbClr val="F7F7F7"/>
    <a:srgbClr val="ECF3FF"/>
    <a:srgbClr val="636D78"/>
    <a:srgbClr val="BCD3FF"/>
    <a:srgbClr val="114D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E2011-CDEE-2A93-4E27-310C0552EB07}" v="3" dt="2020-04-05T04:12:20.648"/>
    <p1510:client id="{9630211C-44FC-43DF-B1A4-B20885804AFD}" v="46" dt="2020-04-05T06:47:59.389"/>
    <p1510:client id="{E025E059-DBE9-81BB-78DB-3C1084A1376E}" v="2" dt="2020-04-05T04:18:15.7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09" autoAdjust="0"/>
    <p:restoredTop sz="93321" autoAdjust="0"/>
  </p:normalViewPr>
  <p:slideViewPr>
    <p:cSldViewPr snapToGrid="0">
      <p:cViewPr varScale="1">
        <p:scale>
          <a:sx n="77" d="100"/>
          <a:sy n="77" d="100"/>
        </p:scale>
        <p:origin x="874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3B3251-23CD-49FA-BB93-AE64F19ED3EE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2B69C-1B51-4996-A120-3ADAC6BF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07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how to obtain data from more than one table.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2B69C-1B51-4996-A120-3ADAC6BFCA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41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how to obtain data from more than one table.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2B69C-1B51-4996-A120-3ADAC6BFCA8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41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how to obtain data from more than one table.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2B69C-1B51-4996-A120-3ADAC6BFCA8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41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7C1CFB7-680A-4C7E-AFD0-95ADD7983F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0" r="6290" b="12580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868358-1BF6-420A-9219-D4BB083E0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748" y="548640"/>
            <a:ext cx="3024552" cy="914400"/>
          </a:xfrm>
        </p:spPr>
        <p:txBody>
          <a:bodyPr anchor="ctr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A24AD3-4B7F-4BA9-868F-E1ABA8D901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728" y="3840480"/>
            <a:ext cx="4409822" cy="2654104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4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D03E05-DE79-40E6-8DC7-211E56C299A6}"/>
              </a:ext>
            </a:extLst>
          </p:cNvPr>
          <p:cNvSpPr/>
          <p:nvPr userDrawn="1"/>
        </p:nvSpPr>
        <p:spPr>
          <a:xfrm>
            <a:off x="371728" y="548640"/>
            <a:ext cx="84406" cy="914400"/>
          </a:xfrm>
          <a:prstGeom prst="rect">
            <a:avLst/>
          </a:prstGeom>
          <a:solidFill>
            <a:srgbClr val="FFF1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58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Doubl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E855A2E-60F4-4D98-B654-3B615D5C1E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7" t="13449" r="5667" b="120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404D47-735B-441C-B939-C3C2749F7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4493" y="1370135"/>
            <a:ext cx="4783015" cy="685800"/>
          </a:xfrm>
          <a:prstGeom prst="roundRect">
            <a:avLst/>
          </a:prstGeom>
          <a:solidFill>
            <a:srgbClr val="013CB2"/>
          </a:solidFill>
          <a:ln>
            <a:noFill/>
          </a:ln>
        </p:spPr>
        <p:txBody>
          <a:bodyPr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EC685-5204-4372-B067-25F2896148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64423" y="2480164"/>
            <a:ext cx="7063155" cy="21101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5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8129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ingl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56A90F-A3BA-4652-8281-CE4BF844A5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3" t="12489" r="5773"/>
          <a:stretch/>
        </p:blipFill>
        <p:spPr>
          <a:xfrm>
            <a:off x="0" y="1"/>
            <a:ext cx="12192001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404D47-735B-441C-B939-C3C2749F7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10609" y="2535115"/>
            <a:ext cx="6570783" cy="1787770"/>
          </a:xfrm>
          <a:prstGeom prst="roundRect">
            <a:avLst/>
          </a:prstGeom>
          <a:solidFill>
            <a:srgbClr val="013CB2"/>
          </a:solidFill>
          <a:ln>
            <a:noFill/>
          </a:ln>
        </p:spPr>
        <p:txBody>
          <a:bodyPr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813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eory with Sub-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B6BA3-7DEC-4111-B3CE-A98CF7C9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89294D-36D1-430E-BDE6-539328092CF7}"/>
              </a:ext>
            </a:extLst>
          </p:cNvPr>
          <p:cNvSpPr/>
          <p:nvPr userDrawn="1"/>
        </p:nvSpPr>
        <p:spPr>
          <a:xfrm>
            <a:off x="425450" y="5772150"/>
            <a:ext cx="11766550" cy="698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F7830D-CA72-43A8-93B5-433369E06469}"/>
              </a:ext>
            </a:extLst>
          </p:cNvPr>
          <p:cNvSpPr>
            <a:spLocks noGrp="1" noChangeAspect="1"/>
          </p:cNvSpPr>
          <p:nvPr>
            <p:ph sz="quarter" idx="10"/>
          </p:nvPr>
        </p:nvSpPr>
        <p:spPr>
          <a:xfrm>
            <a:off x="1294900" y="1159461"/>
            <a:ext cx="9602201" cy="540123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  <a:lvl2pPr marL="285750" indent="-285750">
              <a:buFont typeface="Wingdings" panose="05000000000000000000" pitchFamily="2" charset="2"/>
              <a:buChar char="§"/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337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ory with Sub-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B6BA3-7DEC-4111-B3CE-A98CF7C9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F7830D-CA72-43A8-93B5-433369E064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6224" y="1209535"/>
            <a:ext cx="11520000" cy="49680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/>
            </a:lvl1pPr>
            <a:lvl2pPr marL="285750" indent="-285750">
              <a:buFont typeface="Wingdings" panose="05000000000000000000" pitchFamily="2" charset="2"/>
              <a:buChar char="§"/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6479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ory WITHOUT Sub-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B6BA3-7DEC-4111-B3CE-A98CF7C9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F7830D-CA72-43A8-93B5-433369E064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6224" y="1215010"/>
            <a:ext cx="11520000" cy="4968000"/>
          </a:xfrm>
        </p:spPr>
        <p:txBody>
          <a:bodyPr/>
          <a:lstStyle>
            <a:lvl1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1pPr>
            <a:lvl2pPr marL="285750" indent="-28575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125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Dependenc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CF940-50EC-43D3-9C9B-E9788D55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9C71D8-186F-46AE-BE09-9C5F8A974C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224" y="1218921"/>
            <a:ext cx="11520000" cy="4968000"/>
          </a:xfr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701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pendency &amp;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477A-EEE1-4BA8-902F-7E5886F2D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AAE73-3356-4F4F-921A-B4F5BDF096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5493" y="1206593"/>
            <a:ext cx="5198207" cy="4968000"/>
          </a:xfrm>
          <a:ln>
            <a:noFill/>
          </a:ln>
        </p:spPr>
        <p:txBody>
          <a:bodyPr>
            <a:normAutofit/>
          </a:bodyPr>
          <a:lstStyle>
            <a:lvl1pPr marL="0" indent="0" algn="just">
              <a:lnSpc>
                <a:spcPct val="150000"/>
              </a:lnSpc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DB0E0F-17BC-4BC3-802F-E9D32A9A64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21350" y="1206593"/>
            <a:ext cx="6194425" cy="4968000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 marL="342900" indent="-342900">
              <a:lnSpc>
                <a:spcPct val="150000"/>
              </a:lnSpc>
              <a:buSzPct val="100000"/>
              <a:buFont typeface="+mj-lt"/>
              <a:buAutoNum type="arabicPeriod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17589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&amp; Regular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477A-EEE1-4BA8-902F-7E5886F2D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AAE73-3356-4F4F-921A-B4F5BDF09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5492" y="1146362"/>
            <a:ext cx="11520000" cy="1325562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AF9A7E-ABC7-4B23-9744-B65DA6F75E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6224" y="2693921"/>
            <a:ext cx="11520000" cy="3483301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5175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 One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477A-EEE1-4BA8-902F-7E5886F2D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AAE73-3356-4F4F-921A-B4F5BDF09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5492" y="1217540"/>
            <a:ext cx="11520000" cy="1325562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 algn="just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25AB04D-6F35-40F7-A955-8239BAED18C4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53561" y="3011497"/>
            <a:ext cx="3487616" cy="3170284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322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 Tw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477A-EEE1-4BA8-902F-7E5886F2D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AAE73-3356-4F4F-921A-B4F5BDF09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5492" y="1168263"/>
            <a:ext cx="11520000" cy="1718040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 algn="just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25AB04D-6F35-40F7-A955-8239BAED18C4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00762" y="3226905"/>
            <a:ext cx="3352312" cy="2938451"/>
          </a:xfrm>
        </p:spPr>
        <p:txBody>
          <a:bodyPr wrap="none" anchor="ctr" anchorCtr="0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Table Placeholder 4">
            <a:extLst>
              <a:ext uri="{FF2B5EF4-FFF2-40B4-BE49-F238E27FC236}">
                <a16:creationId xmlns:a16="http://schemas.microsoft.com/office/drawing/2014/main" id="{9E5B6146-8E6F-46E7-A73E-9D0ABEBD4F43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152854" y="3226905"/>
            <a:ext cx="3352312" cy="2938451"/>
          </a:xfrm>
        </p:spPr>
        <p:txBody>
          <a:bodyPr wrap="none" anchor="ctr" anchorCtr="0"/>
          <a:lstStyle>
            <a:lvl1pPr algn="ctr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59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 Three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477A-EEE1-4BA8-902F-7E5886F2D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AAE73-3356-4F4F-921A-B4F5BDF09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5492" y="1179212"/>
            <a:ext cx="11520000" cy="2122486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 algn="just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25AB04D-6F35-40F7-A955-8239BAED18C4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563197" y="3580732"/>
            <a:ext cx="3352312" cy="2573215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Table Placeholder 4">
            <a:extLst>
              <a:ext uri="{FF2B5EF4-FFF2-40B4-BE49-F238E27FC236}">
                <a16:creationId xmlns:a16="http://schemas.microsoft.com/office/drawing/2014/main" id="{9E5B6146-8E6F-46E7-A73E-9D0ABEBD4F43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144599" y="3580732"/>
            <a:ext cx="3352312" cy="2573215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99313328-9661-4C26-9102-DF9BD7F794B2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743586" y="3580732"/>
            <a:ext cx="3352312" cy="2573215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67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 Sentence Equival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477A-EEE1-4BA8-902F-7E5886F2D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AAE73-3356-4F4F-921A-B4F5BDF09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5492" y="1190168"/>
            <a:ext cx="11520000" cy="1325562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AF9A7E-ABC7-4B23-9744-B65DA6F75E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867" y="2684545"/>
            <a:ext cx="3428999" cy="3317631"/>
          </a:xfrm>
        </p:spPr>
        <p:txBody>
          <a:bodyPr>
            <a:normAutofit/>
          </a:bodyPr>
          <a:lstStyle>
            <a:lvl1pPr marL="514350" indent="-514350">
              <a:buSzPct val="100000"/>
              <a:buFont typeface="+mj-lt"/>
              <a:buAutoNum type="arabicPeriod"/>
              <a:defRPr sz="1800" b="0">
                <a:solidFill>
                  <a:srgbClr val="013CB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0981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477A-EEE1-4BA8-902F-7E5886F2D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AAE73-3356-4F4F-921A-B4F5BDF09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5492" y="1168264"/>
            <a:ext cx="11520000" cy="939371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000" b="1">
                <a:solidFill>
                  <a:srgbClr val="013CB2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AF9A7E-ABC7-4B23-9744-B65DA6F75E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6733" y="2569852"/>
            <a:ext cx="4604112" cy="1624349"/>
          </a:xfrm>
        </p:spPr>
        <p:txBody>
          <a:bodyPr anchor="ctr" anchorCtr="0">
            <a:normAutofit/>
          </a:bodyPr>
          <a:lstStyle>
            <a:lvl1pPr marL="0" indent="0" algn="ctr">
              <a:buFont typeface="+mj-lt"/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94FFDD-CDF5-407E-9B4A-F31DE2B21AF8}"/>
              </a:ext>
            </a:extLst>
          </p:cNvPr>
          <p:cNvCxnSpPr>
            <a:cxnSpLocks/>
          </p:cNvCxnSpPr>
          <p:nvPr userDrawn="1"/>
        </p:nvCxnSpPr>
        <p:spPr>
          <a:xfrm>
            <a:off x="6035492" y="2267706"/>
            <a:ext cx="0" cy="1926495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1FF3684-5DEE-46DC-BD12-460F832D397C}"/>
              </a:ext>
            </a:extLst>
          </p:cNvPr>
          <p:cNvSpPr txBox="1"/>
          <p:nvPr userDrawn="1"/>
        </p:nvSpPr>
        <p:spPr>
          <a:xfrm>
            <a:off x="2123405" y="2182988"/>
            <a:ext cx="2930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>
                <a:solidFill>
                  <a:schemeClr val="tx1"/>
                </a:solidFill>
              </a:rPr>
              <a:t>Quantity A</a:t>
            </a:r>
            <a:endParaRPr lang="en-US" b="1" u="sng" dirty="0">
              <a:solidFill>
                <a:schemeClr val="tx1"/>
              </a:solidFill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9CA2C139-E37E-4725-B5A9-818C428332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0140" y="2569852"/>
            <a:ext cx="4725414" cy="1624349"/>
          </a:xfrm>
        </p:spPr>
        <p:txBody>
          <a:bodyPr anchor="ctr" anchorCtr="0">
            <a:normAutofit/>
          </a:bodyPr>
          <a:lstStyle>
            <a:lvl1pPr marL="0" indent="0" algn="ctr">
              <a:buFont typeface="+mj-lt"/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DED328-B3AC-4616-A34E-33CA849D5B7A}"/>
              </a:ext>
            </a:extLst>
          </p:cNvPr>
          <p:cNvSpPr txBox="1"/>
          <p:nvPr userDrawn="1"/>
        </p:nvSpPr>
        <p:spPr>
          <a:xfrm>
            <a:off x="7137970" y="2182988"/>
            <a:ext cx="2930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>
                <a:solidFill>
                  <a:schemeClr val="tx1"/>
                </a:solidFill>
              </a:rPr>
              <a:t>Quantity B</a:t>
            </a:r>
            <a:endParaRPr lang="en-US" b="1" u="sng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3FB90E-091C-487C-88A7-75E1A5C0E842}"/>
              </a:ext>
            </a:extLst>
          </p:cNvPr>
          <p:cNvSpPr txBox="1"/>
          <p:nvPr userDrawn="1"/>
        </p:nvSpPr>
        <p:spPr>
          <a:xfrm>
            <a:off x="275492" y="4300799"/>
            <a:ext cx="6793519" cy="1869273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1800" b="1" dirty="0">
                <a:solidFill>
                  <a:sysClr val="windowText" lastClr="000000"/>
                </a:solidFill>
              </a:rPr>
              <a:t>Options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800" dirty="0">
                <a:solidFill>
                  <a:sysClr val="windowText" lastClr="000000"/>
                </a:solidFill>
              </a:rPr>
              <a:t>Quantity A is greater.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800" dirty="0">
                <a:solidFill>
                  <a:sysClr val="windowText" lastClr="000000"/>
                </a:solidFill>
              </a:rPr>
              <a:t>Quantity B is greater.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800" dirty="0">
                <a:solidFill>
                  <a:sysClr val="windowText" lastClr="000000"/>
                </a:solidFill>
              </a:rPr>
              <a:t>The two quantities are equal.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800" dirty="0">
                <a:solidFill>
                  <a:sysClr val="windowText" lastClr="000000"/>
                </a:solidFill>
              </a:rPr>
              <a:t>The relationship cannot be determined from the information given</a:t>
            </a:r>
          </a:p>
        </p:txBody>
      </p:sp>
    </p:spTree>
    <p:extLst>
      <p:ext uri="{BB962C8B-B14F-4D97-AF65-F5344CB8AC3E}">
        <p14:creationId xmlns:p14="http://schemas.microsoft.com/office/powerpoint/2010/main" val="2224887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with 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477A-EEE1-4BA8-902F-7E5886F2D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AAE73-3356-4F4F-921A-B4F5BDF09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5492" y="1140892"/>
            <a:ext cx="11520000" cy="1180698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>
              <a:buNone/>
              <a:defRPr sz="2000" b="1">
                <a:solidFill>
                  <a:srgbClr val="013CB2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AF9A7E-ABC7-4B23-9744-B65DA6F75E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6226" y="2425767"/>
            <a:ext cx="6792790" cy="3717687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CE506-50D2-4291-85F9-38A8EA11D8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6246" y="2425767"/>
            <a:ext cx="4609246" cy="3717687"/>
          </a:xfrm>
          <a:prstGeom prst="roundRect">
            <a:avLst>
              <a:gd name="adj" fmla="val 138"/>
            </a:avLst>
          </a:prstGeom>
          <a:solidFill>
            <a:srgbClr val="ECF2FE"/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rgbClr val="013CB2"/>
                </a:solidFill>
              </a:defRPr>
            </a:lvl1pPr>
            <a:lvl2pPr marL="0" indent="0" algn="ctr">
              <a:buNone/>
              <a:defRPr sz="1800">
                <a:solidFill>
                  <a:srgbClr val="013CB2"/>
                </a:solidFill>
              </a:defRPr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110768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with 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477A-EEE1-4BA8-902F-7E5886F2D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AF9A7E-ABC7-4B23-9744-B65DA6F75E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6226" y="1177222"/>
            <a:ext cx="6792790" cy="5002447"/>
          </a:xfrm>
        </p:spPr>
        <p:txBody>
          <a:bodyPr>
            <a:norm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CE506-50D2-4291-85F9-38A8EA11D8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92223" y="1177223"/>
            <a:ext cx="4609246" cy="5002447"/>
          </a:xfrm>
          <a:prstGeom prst="roundRect">
            <a:avLst>
              <a:gd name="adj" fmla="val 138"/>
            </a:avLst>
          </a:prstGeom>
          <a:solidFill>
            <a:srgbClr val="ECF2FE"/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6">
                    <a:lumMod val="75000"/>
                  </a:schemeClr>
                </a:solidFill>
              </a:defRPr>
            </a:lvl1pPr>
            <a:lvl2pPr marL="0" indent="0" algn="ctr">
              <a:buNone/>
              <a:defRPr sz="1800">
                <a:solidFill>
                  <a:schemeClr val="accent6">
                    <a:lumMod val="75000"/>
                  </a:schemeClr>
                </a:solidFill>
              </a:defRPr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21108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5491" y="1191086"/>
            <a:ext cx="5498123" cy="743236"/>
          </a:xfrm>
          <a:ln>
            <a:solidFill>
              <a:schemeClr val="bg2"/>
            </a:solidFill>
          </a:ln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5949" y="1198656"/>
            <a:ext cx="5790559" cy="743236"/>
          </a:xfrm>
          <a:ln>
            <a:solidFill>
              <a:schemeClr val="bg2"/>
            </a:solidFill>
          </a:ln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E711AA-A9FB-414C-91C6-0C399525E46B}"/>
              </a:ext>
            </a:extLst>
          </p:cNvPr>
          <p:cNvCxnSpPr>
            <a:cxnSpLocks/>
          </p:cNvCxnSpPr>
          <p:nvPr userDrawn="1"/>
        </p:nvCxnSpPr>
        <p:spPr>
          <a:xfrm>
            <a:off x="5936618" y="1724311"/>
            <a:ext cx="0" cy="4359966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6C5465-F025-4CA3-9C47-2BCE501FE2C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26163" y="2044700"/>
            <a:ext cx="5789612" cy="4149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3DBFF66-1D44-415D-863D-91F06EC4ECA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5491" y="2044700"/>
            <a:ext cx="5498247" cy="4149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1885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Grap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C01E-6291-44CF-AFFA-3747360E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2D122-D1DD-4723-96D6-C7A6AFC0F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15550"/>
            <a:ext cx="5674457" cy="4961413"/>
          </a:xfrm>
        </p:spPr>
        <p:txBody>
          <a:bodyPr/>
          <a:lstStyle>
            <a:lvl1pPr marL="0" indent="0">
              <a:buNone/>
              <a:defRPr/>
            </a:lvl1pPr>
            <a:lvl2pPr marL="285750" indent="-28575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C647F-0A03-4B53-97E5-5B823107238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5493" y="1215550"/>
            <a:ext cx="5674458" cy="4961413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285750" indent="-28575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3D2DBF-E399-4B0E-90D5-ABE848D09BBA}"/>
              </a:ext>
            </a:extLst>
          </p:cNvPr>
          <p:cNvCxnSpPr>
            <a:cxnSpLocks/>
          </p:cNvCxnSpPr>
          <p:nvPr userDrawn="1"/>
        </p:nvCxnSpPr>
        <p:spPr>
          <a:xfrm>
            <a:off x="6071420" y="1677415"/>
            <a:ext cx="0" cy="4359966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8681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C01E-6291-44CF-AFFA-3747360E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2D122-D1DD-4723-96D6-C7A6AFC0F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5031"/>
            <a:ext cx="5181600" cy="2226286"/>
          </a:xfrm>
        </p:spPr>
        <p:txBody>
          <a:bodyPr/>
          <a:lstStyle>
            <a:lvl1pPr marL="0" indent="0">
              <a:buNone/>
              <a:defRPr/>
            </a:lvl1pPr>
            <a:lvl2pPr marL="285750" indent="-28575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C647F-0A03-4B53-97E5-5B823107238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5493" y="1565031"/>
            <a:ext cx="5674458" cy="4611932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342900" indent="-342900">
              <a:buFont typeface="+mj-lt"/>
              <a:buAutoNum type="arabicPeriod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F80F236-85D3-4AC1-A774-5C9458FE1648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72200" y="3950677"/>
            <a:ext cx="5181600" cy="2226286"/>
          </a:xfrm>
        </p:spPr>
        <p:txBody>
          <a:bodyPr/>
          <a:lstStyle>
            <a:lvl1pPr marL="0" indent="0">
              <a:buNone/>
              <a:defRPr/>
            </a:lvl1pPr>
            <a:lvl2pPr marL="285750" indent="-28575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58033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C01E-6291-44CF-AFFA-3747360E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256CE83-826D-45A0-AC1C-A77626B604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53979" y="1216025"/>
            <a:ext cx="5760001" cy="4960938"/>
          </a:xfrm>
        </p:spPr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C16BA-7164-415D-9C80-7F53CCCFFCE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5492" y="1216025"/>
            <a:ext cx="5760001" cy="4960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3646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&amp; Video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C01E-6291-44CF-AFFA-3747360E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256CE83-826D-45A0-AC1C-A77626B604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53979" y="1216025"/>
            <a:ext cx="5760001" cy="4960938"/>
          </a:xfrm>
        </p:spPr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C16BA-7164-415D-9C80-7F53CCCFFCE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5492" y="1216025"/>
            <a:ext cx="5760001" cy="4960938"/>
          </a:xfrm>
          <a:solidFill>
            <a:srgbClr val="5C6065"/>
          </a:solidFill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7589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C01E-6291-44CF-AFFA-3747360E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256CE83-826D-45A0-AC1C-A77626B604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492" y="1216025"/>
            <a:ext cx="5760000" cy="4960938"/>
          </a:xfrm>
        </p:spPr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6B9B2-A2BD-401E-861C-C6A87F9ECE7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35492" y="1216025"/>
            <a:ext cx="5880283" cy="4960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430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&amp; Video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C01E-6291-44CF-AFFA-3747360E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256CE83-826D-45A0-AC1C-A77626B604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492" y="1216025"/>
            <a:ext cx="5760000" cy="4960938"/>
          </a:xfrm>
        </p:spPr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6B9B2-A2BD-401E-861C-C6A87F9ECE7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35492" y="1216025"/>
            <a:ext cx="5880283" cy="4960938"/>
          </a:xfrm>
          <a:solidFill>
            <a:srgbClr val="5C6065"/>
          </a:solidFill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3515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ine 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C01E-6291-44CF-AFFA-3747360E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C16BA-7164-415D-9C80-7F53CCCFFCE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5492" y="1216025"/>
            <a:ext cx="5760001" cy="4960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34243027-1469-4DAC-A530-87041E89C9CC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035493" y="1216025"/>
            <a:ext cx="5760001" cy="496093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58040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ine 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C01E-6291-44CF-AFFA-3747360E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6B9B2-A2BD-401E-861C-C6A87F9ECE7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35492" y="1216025"/>
            <a:ext cx="5880283" cy="4960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E5695EBE-CF7F-404D-98E6-0E6C8D352AEC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275492" y="1216025"/>
            <a:ext cx="5760000" cy="496093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10905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F92B33-1983-49E2-83C5-18DB9C1F8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874D78-9BBE-40F6-AA04-E404CC0BCCD5}"/>
              </a:ext>
            </a:extLst>
          </p:cNvPr>
          <p:cNvSpPr/>
          <p:nvPr userDrawn="1"/>
        </p:nvSpPr>
        <p:spPr>
          <a:xfrm>
            <a:off x="2107647" y="1674305"/>
            <a:ext cx="797670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800" b="1">
                <a:latin typeface="Google Sans" panose="020B0503030502040204" pitchFamily="34" charset="0"/>
              </a:rPr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1C3986-D1F8-4454-B73B-526D979409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5385" y="3709988"/>
            <a:ext cx="2766646" cy="1173162"/>
          </a:xfrm>
          <a:ln>
            <a:noFill/>
          </a:ln>
        </p:spPr>
        <p:txBody>
          <a:bodyPr/>
          <a:lstStyle>
            <a:lvl1pPr marL="0" indent="0">
              <a:buNone/>
              <a:defRPr sz="2400" b="1">
                <a:solidFill>
                  <a:srgbClr val="FFF14E"/>
                </a:solidFill>
              </a:defRPr>
            </a:lvl1pPr>
            <a:lvl2pPr marL="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559663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/>
              <a:t>Dr Venkat   Naresh Technologies</a:t>
            </a: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9018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EC8C5F63-0DED-4696-B365-681262054D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42" t="91811"/>
          <a:stretch/>
        </p:blipFill>
        <p:spPr>
          <a:xfrm>
            <a:off x="8305800" y="6489700"/>
            <a:ext cx="3874498" cy="368300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2AC14FB7-C4E3-4D2A-BCF9-501E7BF5B3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57" b="60856"/>
          <a:stretch/>
        </p:blipFill>
        <p:spPr>
          <a:xfrm>
            <a:off x="11702" y="7130"/>
            <a:ext cx="12191980" cy="135009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6DF4B00-CD45-45EF-92BD-CDD69C8B9C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BC503F-52F7-40E6-BC54-B6DB9B98B9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75492" y="95489"/>
            <a:ext cx="10800000" cy="93937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5392B-E744-475D-A3D7-BB97F7EA2C9D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36000" y="1207746"/>
            <a:ext cx="11520000" cy="4968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Edit Master text styles</a:t>
            </a:r>
          </a:p>
          <a:p>
            <a:pPr marL="285750" lvl="1" indent="-285750" algn="l" defTabSz="914400" rtl="0" eaLnBrk="1" latinLnBrk="0" hangingPunct="1">
              <a:lnSpc>
                <a:spcPct val="90000"/>
              </a:lnSpc>
              <a:spcBef>
                <a:spcPts val="1200"/>
              </a:spcBef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5F9C68-E817-479C-A604-7779CAF1EEBD}"/>
              </a:ext>
            </a:extLst>
          </p:cNvPr>
          <p:cNvSpPr/>
          <p:nvPr userDrawn="1"/>
        </p:nvSpPr>
        <p:spPr>
          <a:xfrm>
            <a:off x="0" y="982207"/>
            <a:ext cx="8397619" cy="54000"/>
          </a:xfrm>
          <a:prstGeom prst="rect">
            <a:avLst/>
          </a:prstGeom>
          <a:solidFill>
            <a:srgbClr val="FFF14E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E272CC-2E12-47C1-95CA-626BCD137713}"/>
              </a:ext>
            </a:extLst>
          </p:cNvPr>
          <p:cNvSpPr/>
          <p:nvPr userDrawn="1"/>
        </p:nvSpPr>
        <p:spPr>
          <a:xfrm>
            <a:off x="3782679" y="6176963"/>
            <a:ext cx="8397619" cy="18000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7684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Font typeface="Wingdings" panose="05000000000000000000" pitchFamily="2" charset="2"/>
        <a:buNone/>
        <a:defRPr lang="en-US" sz="2000" b="1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800" b="0" kern="1200" dirty="0">
          <a:solidFill>
            <a:schemeClr val="accent6"/>
          </a:solidFill>
          <a:latin typeface="+mn-lt"/>
          <a:ea typeface="+mn-ea"/>
          <a:cs typeface="+mn-cs"/>
        </a:defRPr>
      </a:lvl2pPr>
      <a:lvl3pPr marL="5143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800" b="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800" b="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4287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800" b="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jsonplaceholder.typicode.com/todos" TargetMode="Externa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6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6"/>
          <p:cNvSpPr txBox="1"/>
          <p:nvPr/>
        </p:nvSpPr>
        <p:spPr>
          <a:xfrm>
            <a:off x="2212931" y="2036552"/>
            <a:ext cx="8206925" cy="233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 fontAlgn="base"/>
            <a:r>
              <a:rPr lang="en-US" sz="4800" dirty="0">
                <a:solidFill>
                  <a:schemeClr val="accent1"/>
                </a:solidFill>
              </a:rPr>
              <a:t>JSON and XML</a:t>
            </a:r>
          </a:p>
          <a:p>
            <a:pPr marL="0" marR="0" lvl="0" indent="0" rtl="0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FF0000"/>
              </a:solidFill>
            </a:endParaRPr>
          </a:p>
        </p:txBody>
      </p:sp>
      <p:pic>
        <p:nvPicPr>
          <p:cNvPr id="3" name="Google Shape;133;p27">
            <a:extLst>
              <a:ext uri="{FF2B5EF4-FFF2-40B4-BE49-F238E27FC236}">
                <a16:creationId xmlns:a16="http://schemas.microsoft.com/office/drawing/2014/main" id="{6FA29A7E-2371-CB00-657E-C674342997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394" y="6294489"/>
            <a:ext cx="5875606" cy="468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33;p27">
            <a:extLst>
              <a:ext uri="{FF2B5EF4-FFF2-40B4-BE49-F238E27FC236}">
                <a16:creationId xmlns:a16="http://schemas.microsoft.com/office/drawing/2014/main" id="{E4875A1F-6819-EA36-82AD-0ECD1265DF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5E070-840E-4F29-9AE1-B8011676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Introduction to JSON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3EA6F-AD78-4A6B-9418-70A7599504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5492" y="1373836"/>
            <a:ext cx="11481079" cy="4926952"/>
          </a:xfrm>
        </p:spPr>
        <p:txBody>
          <a:bodyPr>
            <a:normAutofit/>
          </a:bodyPr>
          <a:lstStyle/>
          <a:p>
            <a:r>
              <a:rPr lang="en-US" sz="2200" b="0" dirty="0"/>
              <a:t>JSON (JavaScript Object Notation) is a lightweight data-interchange format. </a:t>
            </a:r>
          </a:p>
          <a:p>
            <a:r>
              <a:rPr lang="en-US" sz="2200" b="0" dirty="0"/>
              <a:t>Real-time server-to-browser communication.</a:t>
            </a:r>
          </a:p>
          <a:p>
            <a:r>
              <a:rPr lang="en-US" sz="2200" b="0" dirty="0"/>
              <a:t>It is easy for humans to read and write. </a:t>
            </a:r>
          </a:p>
          <a:p>
            <a:r>
              <a:rPr lang="en-US" sz="2200" b="0" dirty="0"/>
              <a:t>It is easy for machines to parse and generate. </a:t>
            </a:r>
          </a:p>
          <a:p>
            <a:r>
              <a:rPr lang="en-US" sz="2200" b="0" dirty="0"/>
              <a:t>JSON is a text format that is completely language independent.</a:t>
            </a:r>
          </a:p>
          <a:p>
            <a:r>
              <a:rPr lang="en-US" sz="2200" b="0" dirty="0"/>
              <a:t>These properties make JSON an ideal data-interchange language.</a:t>
            </a:r>
            <a:endParaRPr lang="en-US" sz="2200" b="0" dirty="0">
              <a:solidFill>
                <a:schemeClr val="tx1"/>
              </a:solidFill>
            </a:endParaRPr>
          </a:p>
        </p:txBody>
      </p:sp>
      <p:pic>
        <p:nvPicPr>
          <p:cNvPr id="4" name="Google Shape;133;p27">
            <a:extLst>
              <a:ext uri="{FF2B5EF4-FFF2-40B4-BE49-F238E27FC236}">
                <a16:creationId xmlns:a16="http://schemas.microsoft.com/office/drawing/2014/main" id="{E56E81AC-013D-EFEF-FBC5-65D17E9F35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38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077"/>
    </mc:Choice>
    <mc:Fallback xmlns="">
      <p:transition spd="slow" advTm="8907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7000-DB63-4DF2-B9F8-2389B1386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Introduction to JSON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D42BB-94FE-432A-B514-C38C67E148D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dirty="0"/>
              <a:t>    </a:t>
            </a:r>
            <a:r>
              <a:rPr lang="en-US" sz="2200" b="0" dirty="0"/>
              <a:t>JSON is built on two structures:</a:t>
            </a:r>
          </a:p>
          <a:p>
            <a:r>
              <a:rPr lang="en-US" sz="2200" b="0" dirty="0"/>
              <a:t>A collection of name/value pairs. </a:t>
            </a:r>
          </a:p>
          <a:p>
            <a:pPr lvl="4">
              <a:lnSpc>
                <a:spcPct val="150000"/>
              </a:lnSpc>
            </a:pPr>
            <a:r>
              <a:rPr lang="en-US" sz="2200" b="0" dirty="0"/>
              <a:t>In various languages, this is realized as an object, record, struct, dictionary, hash table, keyed list, or associative array.</a:t>
            </a:r>
          </a:p>
          <a:p>
            <a:r>
              <a:rPr lang="en-US" sz="2200" b="0" dirty="0"/>
              <a:t>An ordered list of values. </a:t>
            </a:r>
          </a:p>
          <a:p>
            <a:pPr lvl="4"/>
            <a:r>
              <a:rPr lang="en-US" sz="2200" b="0" dirty="0"/>
              <a:t>In most languages, this is realized as an array, vector, list, or sequence.</a:t>
            </a:r>
          </a:p>
          <a:p>
            <a:pPr lvl="1"/>
            <a:endParaRPr lang="en-US" sz="2200" dirty="0"/>
          </a:p>
        </p:txBody>
      </p:sp>
      <p:pic>
        <p:nvPicPr>
          <p:cNvPr id="4" name="Google Shape;133;p27">
            <a:extLst>
              <a:ext uri="{FF2B5EF4-FFF2-40B4-BE49-F238E27FC236}">
                <a16:creationId xmlns:a16="http://schemas.microsoft.com/office/drawing/2014/main" id="{B9172F75-37BB-4C2B-F2BA-5DC096A329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7758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784"/>
    </mc:Choice>
    <mc:Fallback>
      <p:transition spd="slow" advTm="6678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82AF-1FA0-4BA8-90BD-57AFA0C03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9DCC5-6E65-4385-8C02-1E6D9856B24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5492" y="1034860"/>
            <a:ext cx="11520000" cy="4968000"/>
          </a:xfrm>
        </p:spPr>
        <p:txBody>
          <a:bodyPr>
            <a:normAutofit/>
          </a:bodyPr>
          <a:lstStyle/>
          <a:p>
            <a:r>
              <a:rPr lang="en-US" sz="2400" b="0" dirty="0"/>
              <a:t>An object is an </a:t>
            </a:r>
            <a:r>
              <a:rPr lang="en-US" sz="2400" b="0" dirty="0">
                <a:solidFill>
                  <a:schemeClr val="accent1"/>
                </a:solidFill>
              </a:rPr>
              <a:t>unordered set of name/value pairs. </a:t>
            </a:r>
          </a:p>
          <a:p>
            <a:pPr>
              <a:lnSpc>
                <a:spcPct val="100000"/>
              </a:lnSpc>
            </a:pPr>
            <a:r>
              <a:rPr lang="en-US" sz="2400" b="0" dirty="0"/>
              <a:t>An object begins with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0" dirty="0"/>
              <a:t>             </a:t>
            </a:r>
            <a:r>
              <a:rPr lang="en-US" sz="2400" b="0" dirty="0">
                <a:solidFill>
                  <a:schemeClr val="accent1"/>
                </a:solidFill>
              </a:rPr>
              <a:t>{</a:t>
            </a:r>
            <a:r>
              <a:rPr lang="en-US" sz="2400" b="0" dirty="0"/>
              <a:t> (left brace) and  ends with </a:t>
            </a:r>
            <a:r>
              <a:rPr lang="en-US" sz="2400" b="0" dirty="0">
                <a:solidFill>
                  <a:schemeClr val="accent1"/>
                </a:solidFill>
              </a:rPr>
              <a:t>} </a:t>
            </a:r>
            <a:r>
              <a:rPr lang="en-US" sz="2400" b="0" dirty="0"/>
              <a:t>(right brace). </a:t>
            </a:r>
          </a:p>
          <a:p>
            <a:r>
              <a:rPr lang="en-US" sz="2400" b="0" dirty="0"/>
              <a:t>Each name is followed by </a:t>
            </a:r>
            <a:r>
              <a:rPr lang="en-US" sz="2400" dirty="0"/>
              <a:t>:</a:t>
            </a:r>
            <a:r>
              <a:rPr lang="en-US" sz="2400" b="0" dirty="0"/>
              <a:t> (colon) and the name/value pairs are separated by </a:t>
            </a:r>
            <a:r>
              <a:rPr lang="en-US" sz="2400" dirty="0">
                <a:solidFill>
                  <a:schemeClr val="accent1"/>
                </a:solidFill>
              </a:rPr>
              <a:t>,</a:t>
            </a:r>
            <a:r>
              <a:rPr lang="en-US" sz="2400" b="0" dirty="0"/>
              <a:t> (comma).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F23BF2-BEAC-4B30-904B-0C7E062FE8BD}"/>
              </a:ext>
            </a:extLst>
          </p:cNvPr>
          <p:cNvSpPr/>
          <p:nvPr/>
        </p:nvSpPr>
        <p:spPr>
          <a:xfrm>
            <a:off x="927093" y="3914761"/>
            <a:ext cx="101483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accent1"/>
                </a:solidFill>
                <a:cs typeface="Courier New" panose="02070309020205020404" pitchFamily="49" charset="0"/>
              </a:rPr>
              <a:t>{"Company": “ABCD ", "Technologies": "C CPP Java Python", "Location": "Hyderabad"}</a:t>
            </a:r>
            <a:r>
              <a:rPr lang="en-US" altLang="en-US" sz="2000" dirty="0">
                <a:solidFill>
                  <a:schemeClr val="accent1"/>
                </a:solidFill>
              </a:rPr>
              <a:t> </a:t>
            </a:r>
          </a:p>
        </p:txBody>
      </p:sp>
      <p:pic>
        <p:nvPicPr>
          <p:cNvPr id="5" name="Google Shape;133;p27">
            <a:extLst>
              <a:ext uri="{FF2B5EF4-FFF2-40B4-BE49-F238E27FC236}">
                <a16:creationId xmlns:a16="http://schemas.microsoft.com/office/drawing/2014/main" id="{29A58DA0-1365-760D-4435-9103DEB0519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271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234"/>
    </mc:Choice>
    <mc:Fallback xmlns="">
      <p:transition spd="slow" advTm="8323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6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6"/>
          <p:cNvSpPr txBox="1"/>
          <p:nvPr/>
        </p:nvSpPr>
        <p:spPr>
          <a:xfrm>
            <a:off x="2212931" y="2036552"/>
            <a:ext cx="8206925" cy="914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 fontAlgn="base"/>
            <a:r>
              <a:rPr lang="en-US" sz="4200" dirty="0">
                <a:solidFill>
                  <a:schemeClr val="accent1"/>
                </a:solidFill>
              </a:rPr>
              <a:t>Reading and Writing JSON objects</a:t>
            </a:r>
          </a:p>
        </p:txBody>
      </p:sp>
      <p:pic>
        <p:nvPicPr>
          <p:cNvPr id="3" name="Google Shape;133;p27">
            <a:extLst>
              <a:ext uri="{FF2B5EF4-FFF2-40B4-BE49-F238E27FC236}">
                <a16:creationId xmlns:a16="http://schemas.microsoft.com/office/drawing/2014/main" id="{6FA29A7E-2371-CB00-657E-C674342997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394" y="6294489"/>
            <a:ext cx="5875606" cy="468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33;p27">
            <a:extLst>
              <a:ext uri="{FF2B5EF4-FFF2-40B4-BE49-F238E27FC236}">
                <a16:creationId xmlns:a16="http://schemas.microsoft.com/office/drawing/2014/main" id="{E4875A1F-6819-EA36-82AD-0ECD1265DF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3;p27">
            <a:extLst>
              <a:ext uri="{FF2B5EF4-FFF2-40B4-BE49-F238E27FC236}">
                <a16:creationId xmlns:a16="http://schemas.microsoft.com/office/drawing/2014/main" id="{0F461534-495B-0373-5D2E-F06625F565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8794" y="64935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2655B4-C361-4E29-A5F3-08F67FE46D93}"/>
              </a:ext>
            </a:extLst>
          </p:cNvPr>
          <p:cNvSpPr/>
          <p:nvPr/>
        </p:nvSpPr>
        <p:spPr>
          <a:xfrm>
            <a:off x="2400300" y="2043113"/>
            <a:ext cx="2200275" cy="857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5E070-840E-4F29-9AE1-B8011676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JSON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3EA6F-AD78-4A6B-9418-70A7599504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5492" y="1373836"/>
            <a:ext cx="11811733" cy="4926952"/>
          </a:xfrm>
        </p:spPr>
        <p:txBody>
          <a:bodyPr>
            <a:normAutofit/>
          </a:bodyPr>
          <a:lstStyle/>
          <a:p>
            <a:r>
              <a:rPr lang="en-US" sz="2200" b="0" dirty="0"/>
              <a:t>To work with JSON, we should use </a:t>
            </a:r>
            <a:r>
              <a:rPr lang="en-US" sz="2200" dirty="0"/>
              <a:t>Python's json module.</a:t>
            </a:r>
          </a:p>
          <a:p>
            <a:pPr marL="0" indent="0">
              <a:buNone/>
            </a:pPr>
            <a:r>
              <a:rPr lang="en-US" sz="2400" dirty="0"/>
              <a:t>                                   import json</a:t>
            </a:r>
          </a:p>
          <a:p>
            <a:r>
              <a:rPr lang="en-US" sz="2400" dirty="0"/>
              <a:t>Parse JSON in Python</a:t>
            </a:r>
          </a:p>
          <a:p>
            <a:pPr lvl="3"/>
            <a:r>
              <a:rPr lang="en-US" sz="2400" dirty="0"/>
              <a:t>json module parses </a:t>
            </a:r>
            <a:r>
              <a:rPr lang="en-US" sz="2400" b="1" dirty="0"/>
              <a:t>JSON strings </a:t>
            </a:r>
            <a:r>
              <a:rPr lang="en-US" sz="2400" dirty="0"/>
              <a:t>and</a:t>
            </a:r>
            <a:r>
              <a:rPr lang="en-US" sz="2400" b="1" dirty="0"/>
              <a:t> files containing JSON object</a:t>
            </a:r>
            <a:r>
              <a:rPr lang="en-US" sz="2400" dirty="0"/>
              <a:t>.</a:t>
            </a:r>
          </a:p>
          <a:p>
            <a:pPr lvl="3">
              <a:lnSpc>
                <a:spcPct val="150000"/>
              </a:lnSpc>
            </a:pPr>
            <a:endParaRPr lang="en-US" sz="2400" b="0" dirty="0"/>
          </a:p>
          <a:p>
            <a:pPr lvl="3">
              <a:lnSpc>
                <a:spcPct val="150000"/>
              </a:lnSpc>
            </a:pPr>
            <a:r>
              <a:rPr lang="en-US" sz="2400" b="0" dirty="0"/>
              <a:t>We can parse a JSON string using </a:t>
            </a:r>
            <a:r>
              <a:rPr lang="en-US" sz="2400" b="1" dirty="0" err="1"/>
              <a:t>json.loads</a:t>
            </a:r>
            <a:r>
              <a:rPr lang="en-US" sz="2400" b="1" dirty="0"/>
              <a:t>() </a:t>
            </a:r>
            <a:r>
              <a:rPr lang="en-US" sz="2400" b="0" dirty="0"/>
              <a:t>method, returns a </a:t>
            </a:r>
            <a:r>
              <a:rPr lang="en-US" sz="2400" b="1" dirty="0"/>
              <a:t>dictionary</a:t>
            </a:r>
            <a:r>
              <a:rPr lang="en-US" sz="2400" b="0" dirty="0"/>
              <a:t>.</a:t>
            </a:r>
            <a:endParaRPr lang="en-US" sz="2400" b="0" dirty="0">
              <a:solidFill>
                <a:schemeClr val="tx1"/>
              </a:solidFill>
            </a:endParaRPr>
          </a:p>
        </p:txBody>
      </p:sp>
      <p:pic>
        <p:nvPicPr>
          <p:cNvPr id="4" name="Google Shape;133;p27">
            <a:extLst>
              <a:ext uri="{FF2B5EF4-FFF2-40B4-BE49-F238E27FC236}">
                <a16:creationId xmlns:a16="http://schemas.microsoft.com/office/drawing/2014/main" id="{8E51BAAC-4578-8DF5-7987-6ED9FA855D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940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067"/>
    </mc:Choice>
    <mc:Fallback xmlns="">
      <p:transition spd="slow" advTm="6106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89DDC70-D27D-4AFB-8AFA-42F4D25A8131}"/>
              </a:ext>
            </a:extLst>
          </p:cNvPr>
          <p:cNvSpPr/>
          <p:nvPr/>
        </p:nvSpPr>
        <p:spPr>
          <a:xfrm>
            <a:off x="56715" y="1037547"/>
            <a:ext cx="9797196" cy="36514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836B68-6FCF-43A4-83C0-65E50D0A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Converting JSON string into Python Dictionary object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6FFDB-80B9-4987-BB2A-EEED096FF2EF}"/>
              </a:ext>
            </a:extLst>
          </p:cNvPr>
          <p:cNvSpPr/>
          <p:nvPr/>
        </p:nvSpPr>
        <p:spPr>
          <a:xfrm>
            <a:off x="383381" y="1034860"/>
            <a:ext cx="1091088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import json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orgn</a:t>
            </a:r>
            <a:r>
              <a:rPr lang="en-US" sz="2000" dirty="0">
                <a:solidFill>
                  <a:schemeClr val="bg1"/>
                </a:solidFill>
              </a:rPr>
              <a:t> = '{"Company": “ABCD ", "Technologies": ["GRE", "GMAT", "Campus Jobs"]}'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orgn_dict</a:t>
            </a:r>
            <a:r>
              <a:rPr lang="en-US" sz="2000" dirty="0">
                <a:solidFill>
                  <a:schemeClr val="bg1"/>
                </a:solidFill>
              </a:rPr>
              <a:t> = </a:t>
            </a:r>
            <a:r>
              <a:rPr lang="en-US" sz="2000" dirty="0" err="1">
                <a:solidFill>
                  <a:schemeClr val="bg1"/>
                </a:solidFill>
              </a:rPr>
              <a:t>json.loads</a:t>
            </a:r>
            <a:r>
              <a:rPr lang="en-US" sz="2000" dirty="0">
                <a:solidFill>
                  <a:schemeClr val="bg1"/>
                </a:solidFill>
              </a:rPr>
              <a:t>(</a:t>
            </a:r>
            <a:r>
              <a:rPr lang="en-US" sz="2000" dirty="0" err="1">
                <a:solidFill>
                  <a:schemeClr val="bg1"/>
                </a:solidFill>
              </a:rPr>
              <a:t>orgn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print(</a:t>
            </a:r>
            <a:r>
              <a:rPr lang="en-US" sz="2000" dirty="0" err="1">
                <a:solidFill>
                  <a:schemeClr val="bg1"/>
                </a:solidFill>
              </a:rPr>
              <a:t>orgn_dict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print(</a:t>
            </a:r>
            <a:r>
              <a:rPr lang="en-US" sz="2000" dirty="0" err="1">
                <a:solidFill>
                  <a:schemeClr val="bg1"/>
                </a:solidFill>
              </a:rPr>
              <a:t>orgn_dict</a:t>
            </a:r>
            <a:r>
              <a:rPr lang="en-US" sz="2000" dirty="0">
                <a:solidFill>
                  <a:schemeClr val="bg1"/>
                </a:solidFill>
              </a:rPr>
              <a:t>['Company'])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print(</a:t>
            </a:r>
            <a:r>
              <a:rPr lang="en-US" sz="2000" dirty="0" err="1">
                <a:solidFill>
                  <a:schemeClr val="bg1"/>
                </a:solidFill>
              </a:rPr>
              <a:t>orgn_dict</a:t>
            </a:r>
            <a:r>
              <a:rPr lang="en-US" sz="2000" dirty="0">
                <a:solidFill>
                  <a:schemeClr val="bg1"/>
                </a:solidFill>
              </a:rPr>
              <a:t>['Technologies'])</a:t>
            </a:r>
          </a:p>
        </p:txBody>
      </p:sp>
      <p:pic>
        <p:nvPicPr>
          <p:cNvPr id="5" name="Google Shape;133;p27">
            <a:extLst>
              <a:ext uri="{FF2B5EF4-FFF2-40B4-BE49-F238E27FC236}">
                <a16:creationId xmlns:a16="http://schemas.microsoft.com/office/drawing/2014/main" id="{A3782EE9-C2AF-2864-0ACD-169DCA5073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374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6239"/>
    </mc:Choice>
    <mc:Fallback xmlns="">
      <p:transition spd="slow" advTm="15623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A8D814-8DEE-43D3-AAD9-9385F7457A87}"/>
              </a:ext>
            </a:extLst>
          </p:cNvPr>
          <p:cNvSpPr/>
          <p:nvPr/>
        </p:nvSpPr>
        <p:spPr>
          <a:xfrm>
            <a:off x="757238" y="3729038"/>
            <a:ext cx="3443287" cy="2514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62AA62-21E4-475D-BC09-78A5C8B41EBD}"/>
              </a:ext>
            </a:extLst>
          </p:cNvPr>
          <p:cNvSpPr/>
          <p:nvPr/>
        </p:nvSpPr>
        <p:spPr>
          <a:xfrm>
            <a:off x="395776" y="1747429"/>
            <a:ext cx="6915150" cy="10814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40DC0E-7CEF-4222-8F3F-66D9D279C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Reading JSON object from file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636D8-6860-470D-808C-D0058555C6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6224" y="1215011"/>
            <a:ext cx="11520000" cy="2328289"/>
          </a:xfrm>
        </p:spPr>
        <p:txBody>
          <a:bodyPr>
            <a:normAutofit/>
          </a:bodyPr>
          <a:lstStyle/>
          <a:p>
            <a:r>
              <a:rPr lang="en-US" dirty="0"/>
              <a:t>Create a file named “</a:t>
            </a:r>
            <a:r>
              <a:rPr lang="en-US" dirty="0" err="1"/>
              <a:t>orgn.json</a:t>
            </a:r>
            <a:r>
              <a:rPr lang="en-US" dirty="0"/>
              <a:t>” in current working directory.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chemeClr val="bg1"/>
                </a:solidFill>
              </a:rPr>
              <a:t>             {   "Company": “ABCD",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chemeClr val="bg1"/>
                </a:solidFill>
              </a:rPr>
              <a:t>                 "Technologies": [“C", “Java", “Python"]   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074DC7-776D-4280-A57D-9199056CB841}"/>
              </a:ext>
            </a:extLst>
          </p:cNvPr>
          <p:cNvSpPr/>
          <p:nvPr/>
        </p:nvSpPr>
        <p:spPr>
          <a:xfrm>
            <a:off x="1042988" y="4016842"/>
            <a:ext cx="315753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import json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with open('</a:t>
            </a:r>
            <a:r>
              <a:rPr lang="en-US" sz="2000" dirty="0" err="1">
                <a:solidFill>
                  <a:schemeClr val="bg1"/>
                </a:solidFill>
              </a:rPr>
              <a:t>orgn.json</a:t>
            </a:r>
            <a:r>
              <a:rPr lang="en-US" sz="2000" dirty="0">
                <a:solidFill>
                  <a:schemeClr val="bg1"/>
                </a:solidFill>
              </a:rPr>
              <a:t>') as f: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data = </a:t>
            </a:r>
            <a:r>
              <a:rPr lang="en-US" sz="2000" dirty="0" err="1">
                <a:solidFill>
                  <a:schemeClr val="bg1"/>
                </a:solidFill>
              </a:rPr>
              <a:t>json.load</a:t>
            </a:r>
            <a:r>
              <a:rPr lang="en-US" sz="2000" dirty="0">
                <a:solidFill>
                  <a:schemeClr val="bg1"/>
                </a:solidFill>
              </a:rPr>
              <a:t>(f)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print(data)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AE7857-C149-464E-83BA-92D8B2764476}"/>
              </a:ext>
            </a:extLst>
          </p:cNvPr>
          <p:cNvSpPr txBox="1"/>
          <p:nvPr/>
        </p:nvSpPr>
        <p:spPr>
          <a:xfrm>
            <a:off x="8743950" y="1943100"/>
            <a:ext cx="128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orgn.jason</a:t>
            </a:r>
            <a:endParaRPr lang="en-US" b="1" dirty="0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E4E9DC9D-8AD0-4226-BD61-DE93201CC6A8}"/>
              </a:ext>
            </a:extLst>
          </p:cNvPr>
          <p:cNvSpPr/>
          <p:nvPr/>
        </p:nvSpPr>
        <p:spPr>
          <a:xfrm>
            <a:off x="7572375" y="2071688"/>
            <a:ext cx="857250" cy="24074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2946C6-2E78-466B-B000-BFDC7446C5C9}"/>
              </a:ext>
            </a:extLst>
          </p:cNvPr>
          <p:cNvSpPr txBox="1"/>
          <p:nvPr/>
        </p:nvSpPr>
        <p:spPr>
          <a:xfrm>
            <a:off x="557212" y="3266837"/>
            <a:ext cx="452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Python program for reading Jason file </a:t>
            </a:r>
          </a:p>
        </p:txBody>
      </p:sp>
      <p:pic>
        <p:nvPicPr>
          <p:cNvPr id="7" name="Google Shape;133;p27">
            <a:extLst>
              <a:ext uri="{FF2B5EF4-FFF2-40B4-BE49-F238E27FC236}">
                <a16:creationId xmlns:a16="http://schemas.microsoft.com/office/drawing/2014/main" id="{00F59E8C-78EB-714A-494E-D6ADC76B02D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212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615"/>
    </mc:Choice>
    <mc:Fallback xmlns="">
      <p:transition spd="slow" advTm="9461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A8290-838B-4CCD-9C44-33F979D0D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Converting Python dictionary to JSON object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2535C4-2135-427E-AF4C-509354FF6B21}"/>
              </a:ext>
            </a:extLst>
          </p:cNvPr>
          <p:cNvSpPr/>
          <p:nvPr/>
        </p:nvSpPr>
        <p:spPr>
          <a:xfrm>
            <a:off x="747712" y="1460450"/>
            <a:ext cx="1121092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import json</a:t>
            </a:r>
          </a:p>
          <a:p>
            <a:endParaRPr lang="en-US" sz="2000" dirty="0"/>
          </a:p>
          <a:p>
            <a:r>
              <a:rPr lang="en-US" sz="2000" dirty="0" err="1"/>
              <a:t>orgn_dict</a:t>
            </a:r>
            <a:r>
              <a:rPr lang="en-US" sz="2000" dirty="0"/>
              <a:t> = {'Company’: ABCD ', 'Technologies': "C CPP Java Python", 'Location': 'Hyderabad'}</a:t>
            </a:r>
          </a:p>
          <a:p>
            <a:endParaRPr lang="en-US" sz="2000" dirty="0"/>
          </a:p>
          <a:p>
            <a:r>
              <a:rPr lang="en-US" sz="2000" dirty="0" err="1"/>
              <a:t>ogn_json</a:t>
            </a:r>
            <a:r>
              <a:rPr lang="en-US" sz="2000" dirty="0"/>
              <a:t> = </a:t>
            </a:r>
            <a:r>
              <a:rPr lang="en-US" sz="2000" dirty="0" err="1"/>
              <a:t>json.dumps</a:t>
            </a:r>
            <a:r>
              <a:rPr lang="en-US" sz="2000" dirty="0"/>
              <a:t>(</a:t>
            </a:r>
            <a:r>
              <a:rPr lang="en-US" sz="2000" dirty="0" err="1"/>
              <a:t>orgn_dict</a:t>
            </a:r>
            <a:r>
              <a:rPr lang="en-US" sz="2000" dirty="0"/>
              <a:t>)</a:t>
            </a:r>
          </a:p>
          <a:p>
            <a:endParaRPr lang="en-US" sz="2000" dirty="0"/>
          </a:p>
          <a:p>
            <a:r>
              <a:rPr lang="en-US" sz="2000" dirty="0"/>
              <a:t>print(</a:t>
            </a:r>
            <a:r>
              <a:rPr lang="en-US" sz="2000" dirty="0" err="1"/>
              <a:t>ogn_json</a:t>
            </a:r>
            <a:r>
              <a:rPr lang="en-US" sz="20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8C4E0B-7CEC-4134-A73A-F9368BFD7007}"/>
              </a:ext>
            </a:extLst>
          </p:cNvPr>
          <p:cNvSpPr txBox="1"/>
          <p:nvPr/>
        </p:nvSpPr>
        <p:spPr>
          <a:xfrm>
            <a:off x="10001250" y="1633626"/>
            <a:ext cx="195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Python Dictionary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550182F4-AA0A-4138-A610-50BB587275BE}"/>
              </a:ext>
            </a:extLst>
          </p:cNvPr>
          <p:cNvSpPr/>
          <p:nvPr/>
        </p:nvSpPr>
        <p:spPr>
          <a:xfrm>
            <a:off x="9165432" y="1633626"/>
            <a:ext cx="728662" cy="2857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E9979B-E573-4043-BCD0-F2F05564536B}"/>
              </a:ext>
            </a:extLst>
          </p:cNvPr>
          <p:cNvSpPr txBox="1"/>
          <p:nvPr/>
        </p:nvSpPr>
        <p:spPr>
          <a:xfrm>
            <a:off x="10001250" y="4189453"/>
            <a:ext cx="195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JSON String object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5D40766A-E7B5-4D5E-94BE-1BB44383DCBB}"/>
              </a:ext>
            </a:extLst>
          </p:cNvPr>
          <p:cNvSpPr/>
          <p:nvPr/>
        </p:nvSpPr>
        <p:spPr>
          <a:xfrm>
            <a:off x="9165432" y="4024922"/>
            <a:ext cx="728662" cy="2857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oogle Shape;133;p27">
            <a:extLst>
              <a:ext uri="{FF2B5EF4-FFF2-40B4-BE49-F238E27FC236}">
                <a16:creationId xmlns:a16="http://schemas.microsoft.com/office/drawing/2014/main" id="{8D280677-A422-C588-D5E2-2294075B2C4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356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370"/>
    </mc:Choice>
    <mc:Fallback xmlns="">
      <p:transition spd="slow" advTm="8837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B0B85-9DEC-4D4E-8573-47A31BB85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dump()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BC0C8-A8BD-4D7E-BF26-2164BC0D059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2200" b="0" dirty="0"/>
              <a:t>The json library exposes the dump() method for writing data to files.</a:t>
            </a:r>
          </a:p>
          <a:p>
            <a:r>
              <a:rPr lang="en-US" sz="2200" b="0" dirty="0"/>
              <a:t> dump() takes two positional arguments:</a:t>
            </a:r>
          </a:p>
          <a:p>
            <a:pPr marL="0" indent="0">
              <a:buNone/>
            </a:pPr>
            <a:r>
              <a:rPr lang="en-US" sz="2200" b="0" dirty="0"/>
              <a:t>       (1) the data object to be serialized, and </a:t>
            </a:r>
          </a:p>
          <a:p>
            <a:pPr marL="0" indent="0">
              <a:buNone/>
            </a:pPr>
            <a:r>
              <a:rPr lang="en-US" sz="2200" b="0" dirty="0"/>
              <a:t>       (2) the file-like object to which the bytes will be written.</a:t>
            </a:r>
          </a:p>
          <a:p>
            <a:pPr marL="0" indent="0">
              <a:buNone/>
            </a:pPr>
            <a:endParaRPr lang="en-US" sz="2200" b="0" dirty="0"/>
          </a:p>
        </p:txBody>
      </p:sp>
      <p:pic>
        <p:nvPicPr>
          <p:cNvPr id="4" name="Google Shape;133;p27">
            <a:extLst>
              <a:ext uri="{FF2B5EF4-FFF2-40B4-BE49-F238E27FC236}">
                <a16:creationId xmlns:a16="http://schemas.microsoft.com/office/drawing/2014/main" id="{5CD7BD17-9928-6C16-096E-7152BFDBE1E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635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490"/>
    </mc:Choice>
    <mc:Fallback xmlns="">
      <p:transition spd="slow" advTm="2749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9E193-5118-4AB8-A389-C6EDEC26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JSON to a file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D4D9F0-CF18-496C-8930-F353A16DAF69}"/>
              </a:ext>
            </a:extLst>
          </p:cNvPr>
          <p:cNvSpPr/>
          <p:nvPr/>
        </p:nvSpPr>
        <p:spPr>
          <a:xfrm>
            <a:off x="833434" y="1107546"/>
            <a:ext cx="5262565" cy="3891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import json</a:t>
            </a:r>
          </a:p>
          <a:p>
            <a:endParaRPr lang="en-US" sz="20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/>
              <a:t>orgn_dict</a:t>
            </a:r>
            <a:r>
              <a:rPr lang="en-US" sz="2000" dirty="0"/>
              <a:t> = </a:t>
            </a:r>
            <a:r>
              <a:rPr lang="en-US" sz="2000" dirty="0" err="1"/>
              <a:t>orgn_dict</a:t>
            </a:r>
            <a:r>
              <a:rPr lang="en-US" sz="2000" dirty="0"/>
              <a:t> =  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    'Name’: ABCD Tech',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    'Location': "Hyderabad",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    'Area' : 'Edu Tech Platform'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  }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with open('orgn.txt', 'w') as </a:t>
            </a:r>
            <a:r>
              <a:rPr lang="en-US" sz="2000" dirty="0" err="1"/>
              <a:t>json_file</a:t>
            </a:r>
            <a:r>
              <a:rPr lang="en-US" sz="2000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</a:t>
            </a:r>
            <a:r>
              <a:rPr lang="en-US" sz="2000" dirty="0" err="1"/>
              <a:t>json.dump</a:t>
            </a:r>
            <a:r>
              <a:rPr lang="en-US" sz="2000" dirty="0"/>
              <a:t>(</a:t>
            </a:r>
            <a:r>
              <a:rPr lang="en-US" sz="2000" dirty="0" err="1"/>
              <a:t>orgn_dict</a:t>
            </a:r>
            <a:r>
              <a:rPr lang="en-US" sz="2000" dirty="0"/>
              <a:t>, </a:t>
            </a:r>
            <a:r>
              <a:rPr lang="en-US" sz="2000" dirty="0" err="1"/>
              <a:t>json_file</a:t>
            </a:r>
            <a:r>
              <a:rPr lang="en-US" sz="20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296172-54B6-42EA-A776-764236E95992}"/>
              </a:ext>
            </a:extLst>
          </p:cNvPr>
          <p:cNvSpPr txBox="1"/>
          <p:nvPr/>
        </p:nvSpPr>
        <p:spPr>
          <a:xfrm>
            <a:off x="4114798" y="2130418"/>
            <a:ext cx="1685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JSON object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C15D2D-EB63-4CE2-85CE-F59B26696AB9}"/>
              </a:ext>
            </a:extLst>
          </p:cNvPr>
          <p:cNvSpPr txBox="1"/>
          <p:nvPr/>
        </p:nvSpPr>
        <p:spPr>
          <a:xfrm>
            <a:off x="3989567" y="3865190"/>
            <a:ext cx="1685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Writing to 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0428D3-4F11-4E3F-8259-0DC79ED71DC1}"/>
              </a:ext>
            </a:extLst>
          </p:cNvPr>
          <p:cNvSpPr txBox="1"/>
          <p:nvPr/>
        </p:nvSpPr>
        <p:spPr>
          <a:xfrm>
            <a:off x="4357688" y="5400675"/>
            <a:ext cx="1317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orgn.txt</a:t>
            </a:r>
          </a:p>
        </p:txBody>
      </p:sp>
      <p:pic>
        <p:nvPicPr>
          <p:cNvPr id="3" name="Google Shape;133;p27">
            <a:extLst>
              <a:ext uri="{FF2B5EF4-FFF2-40B4-BE49-F238E27FC236}">
                <a16:creationId xmlns:a16="http://schemas.microsoft.com/office/drawing/2014/main" id="{B791F7C3-8BF0-7064-78F5-426161A98A7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208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208"/>
    </mc:Choice>
    <mc:Fallback xmlns="">
      <p:transition spd="slow" advTm="8020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6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6"/>
          <p:cNvSpPr txBox="1"/>
          <p:nvPr/>
        </p:nvSpPr>
        <p:spPr>
          <a:xfrm>
            <a:off x="2212931" y="2036552"/>
            <a:ext cx="8206925" cy="850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 fontAlgn="base"/>
            <a:r>
              <a:rPr lang="en-US" sz="4200" dirty="0"/>
              <a:t>Serialization and Deserialization</a:t>
            </a:r>
            <a:endParaRPr sz="4200" b="1" dirty="0">
              <a:solidFill>
                <a:srgbClr val="FF0000"/>
              </a:solidFill>
            </a:endParaRPr>
          </a:p>
        </p:txBody>
      </p:sp>
      <p:sp>
        <p:nvSpPr>
          <p:cNvPr id="122" name="Google Shape;122;p26"/>
          <p:cNvSpPr txBox="1"/>
          <p:nvPr/>
        </p:nvSpPr>
        <p:spPr>
          <a:xfrm>
            <a:off x="9507893" y="5475850"/>
            <a:ext cx="2360667" cy="37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Dr  Raju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pic>
        <p:nvPicPr>
          <p:cNvPr id="3" name="Google Shape;133;p27">
            <a:extLst>
              <a:ext uri="{FF2B5EF4-FFF2-40B4-BE49-F238E27FC236}">
                <a16:creationId xmlns:a16="http://schemas.microsoft.com/office/drawing/2014/main" id="{6FA29A7E-2371-CB00-657E-C674342997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394" y="6294489"/>
            <a:ext cx="5875606" cy="468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33;p27">
            <a:extLst>
              <a:ext uri="{FF2B5EF4-FFF2-40B4-BE49-F238E27FC236}">
                <a16:creationId xmlns:a16="http://schemas.microsoft.com/office/drawing/2014/main" id="{E4875A1F-6819-EA36-82AD-0ECD1265DF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3;p27">
            <a:extLst>
              <a:ext uri="{FF2B5EF4-FFF2-40B4-BE49-F238E27FC236}">
                <a16:creationId xmlns:a16="http://schemas.microsoft.com/office/drawing/2014/main" id="{78900552-5FFD-E4B6-7CD7-AF93D76AD6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8794" y="64935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06C9-7BBA-449F-9309-3B85405CE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Serialization and Deserialization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9686F-BCBB-4CB8-88C5-B201D1EEAB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5492" y="1080810"/>
            <a:ext cx="11520000" cy="5048528"/>
          </a:xfrm>
        </p:spPr>
        <p:txBody>
          <a:bodyPr>
            <a:normAutofit/>
          </a:bodyPr>
          <a:lstStyle/>
          <a:p>
            <a:r>
              <a:rPr lang="en-US" sz="2200" b="0" dirty="0"/>
              <a:t>The process of encoding JSON is usually called serialization. </a:t>
            </a:r>
          </a:p>
          <a:p>
            <a:pPr marL="685800" lvl="3" indent="-57150">
              <a:lnSpc>
                <a:spcPct val="150000"/>
              </a:lnSpc>
              <a:buNone/>
            </a:pPr>
            <a:r>
              <a:rPr lang="en-US" sz="2200" b="0" dirty="0"/>
              <a:t> i.e. transformation of data into a series of bytes (hence serial) to be stored or transmitted across a network. </a:t>
            </a:r>
          </a:p>
          <a:p>
            <a:r>
              <a:rPr lang="en-US" sz="2200" b="0" dirty="0"/>
              <a:t>Naturally, deserialization is the reciprocal process of decoding data that has been stored or delivered in the JSON standard.</a:t>
            </a:r>
          </a:p>
          <a:p>
            <a:r>
              <a:rPr lang="en-US" b="0" dirty="0"/>
              <a:t>Serializing JSON: the json library exposes the dump() method for writing data to files. </a:t>
            </a:r>
          </a:p>
          <a:p>
            <a:r>
              <a:rPr lang="en-US" b="0" dirty="0" err="1"/>
              <a:t>Desrialization</a:t>
            </a:r>
            <a:r>
              <a:rPr lang="en-US" b="0" dirty="0"/>
              <a:t> JSON: In the json library load() and loads() for turning JSON encoded data into Python objects.</a:t>
            </a:r>
          </a:p>
          <a:p>
            <a:endParaRPr lang="en-US" sz="2200" b="0" dirty="0"/>
          </a:p>
        </p:txBody>
      </p:sp>
      <p:pic>
        <p:nvPicPr>
          <p:cNvPr id="4" name="Google Shape;133;p27">
            <a:extLst>
              <a:ext uri="{FF2B5EF4-FFF2-40B4-BE49-F238E27FC236}">
                <a16:creationId xmlns:a16="http://schemas.microsoft.com/office/drawing/2014/main" id="{6B056ED0-AB44-F673-7E59-2513B2EB192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0013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259"/>
    </mc:Choice>
    <mc:Fallback xmlns="">
      <p:transition spd="slow" advTm="7225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5E070-840E-4F29-9AE1-B8011676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0" dirty="0"/>
              <a:t>Python objects and their equivalent conversion to JSON</a:t>
            </a:r>
            <a:endParaRPr lang="en-US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C8BCCF-D193-41BD-B5BF-3F4D1300D659}"/>
              </a:ext>
            </a:extLst>
          </p:cNvPr>
          <p:cNvGraphicFramePr>
            <a:graphicFrameLocks noGrp="1"/>
          </p:cNvGraphicFramePr>
          <p:nvPr/>
        </p:nvGraphicFramePr>
        <p:xfrm>
          <a:off x="423862" y="2193607"/>
          <a:ext cx="5205413" cy="3200400"/>
        </p:xfrm>
        <a:graphic>
          <a:graphicData uri="http://schemas.openxmlformats.org/drawingml/2006/table">
            <a:tbl>
              <a:tblPr/>
              <a:tblGrid>
                <a:gridCol w="2662238">
                  <a:extLst>
                    <a:ext uri="{9D8B030D-6E8A-4147-A177-3AD203B41FA5}">
                      <a16:colId xmlns:a16="http://schemas.microsoft.com/office/drawing/2014/main" val="2382284844"/>
                    </a:ext>
                  </a:extLst>
                </a:gridCol>
                <a:gridCol w="2543175">
                  <a:extLst>
                    <a:ext uri="{9D8B030D-6E8A-4147-A177-3AD203B41FA5}">
                      <a16:colId xmlns:a16="http://schemas.microsoft.com/office/drawing/2014/main" val="20872008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dirty="0">
                          <a:solidFill>
                            <a:schemeClr val="accent1"/>
                          </a:solidFill>
                          <a:effectLst/>
                        </a:rPr>
                        <a:t>Python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dirty="0">
                          <a:solidFill>
                            <a:schemeClr val="accent1"/>
                          </a:solidFill>
                          <a:effectLst/>
                        </a:rPr>
                        <a:t>JSON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555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 err="1">
                          <a:solidFill>
                            <a:schemeClr val="accent1"/>
                          </a:solidFill>
                          <a:effectLst/>
                        </a:rPr>
                        <a:t>dict</a:t>
                      </a:r>
                      <a:endParaRPr lang="en-US" sz="2000" b="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>
                          <a:solidFill>
                            <a:schemeClr val="accent1"/>
                          </a:solidFill>
                          <a:effectLst/>
                        </a:rPr>
                        <a:t>object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984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accent1"/>
                          </a:solidFill>
                          <a:effectLst/>
                        </a:rPr>
                        <a:t>list, tuple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>
                          <a:solidFill>
                            <a:schemeClr val="accent1"/>
                          </a:solidFill>
                          <a:effectLst/>
                        </a:rPr>
                        <a:t>array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47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accent1"/>
                          </a:solidFill>
                          <a:effectLst/>
                        </a:rPr>
                        <a:t>str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accent1"/>
                          </a:solidFill>
                          <a:effectLst/>
                        </a:rPr>
                        <a:t>string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345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accent1"/>
                          </a:solidFill>
                          <a:effectLst/>
                        </a:rPr>
                        <a:t>int, long, float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accent1"/>
                          </a:solidFill>
                          <a:effectLst/>
                        </a:rPr>
                        <a:t>number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111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accent1"/>
                          </a:solidFill>
                          <a:effectLst/>
                        </a:rPr>
                        <a:t>True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accent1"/>
                          </a:solidFill>
                          <a:effectLst/>
                        </a:rPr>
                        <a:t>true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154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accent1"/>
                          </a:solidFill>
                          <a:effectLst/>
                        </a:rPr>
                        <a:t>False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accent1"/>
                          </a:solidFill>
                          <a:effectLst/>
                        </a:rPr>
                        <a:t>false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531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accent1"/>
                          </a:solidFill>
                          <a:effectLst/>
                        </a:rPr>
                        <a:t>None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accent1"/>
                          </a:solidFill>
                          <a:effectLst/>
                        </a:rPr>
                        <a:t>null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8268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F4558B-EE64-4CF0-8B14-CF9F37E277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6224" y="1215010"/>
            <a:ext cx="11520000" cy="542353"/>
          </a:xfrm>
        </p:spPr>
        <p:txBody>
          <a:bodyPr/>
          <a:lstStyle/>
          <a:p>
            <a:r>
              <a:rPr lang="en-US" b="0" dirty="0"/>
              <a:t>Python objects are translated to JSON according to an intuitive conversion.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08D2E5-FFC6-4808-9EDA-28E955A8D7FB}"/>
              </a:ext>
            </a:extLst>
          </p:cNvPr>
          <p:cNvGraphicFramePr>
            <a:graphicFrameLocks noGrp="1"/>
          </p:cNvGraphicFramePr>
          <p:nvPr/>
        </p:nvGraphicFramePr>
        <p:xfrm>
          <a:off x="6562727" y="2193607"/>
          <a:ext cx="4729164" cy="3596640"/>
        </p:xfrm>
        <a:graphic>
          <a:graphicData uri="http://schemas.openxmlformats.org/drawingml/2006/table">
            <a:tbl>
              <a:tblPr/>
              <a:tblGrid>
                <a:gridCol w="2364582">
                  <a:extLst>
                    <a:ext uri="{9D8B030D-6E8A-4147-A177-3AD203B41FA5}">
                      <a16:colId xmlns:a16="http://schemas.microsoft.com/office/drawing/2014/main" val="3756636863"/>
                    </a:ext>
                  </a:extLst>
                </a:gridCol>
                <a:gridCol w="2364582">
                  <a:extLst>
                    <a:ext uri="{9D8B030D-6E8A-4147-A177-3AD203B41FA5}">
                      <a16:colId xmlns:a16="http://schemas.microsoft.com/office/drawing/2014/main" val="10511278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1" dirty="0">
                          <a:solidFill>
                            <a:schemeClr val="accent1"/>
                          </a:solidFill>
                          <a:effectLst/>
                        </a:rPr>
                        <a:t>JSON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1" dirty="0">
                          <a:solidFill>
                            <a:schemeClr val="accent1"/>
                          </a:solidFill>
                          <a:effectLst/>
                        </a:rPr>
                        <a:t>Python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831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solidFill>
                            <a:schemeClr val="accent1"/>
                          </a:solidFill>
                          <a:effectLst/>
                        </a:rPr>
                        <a:t>object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 err="1">
                          <a:solidFill>
                            <a:schemeClr val="accent1"/>
                          </a:solidFill>
                          <a:effectLst/>
                        </a:rPr>
                        <a:t>dict</a:t>
                      </a:r>
                      <a:endParaRPr lang="en-US" sz="20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054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solidFill>
                            <a:schemeClr val="accent1"/>
                          </a:solidFill>
                          <a:effectLst/>
                        </a:rPr>
                        <a:t>array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solidFill>
                            <a:schemeClr val="accent1"/>
                          </a:solidFill>
                          <a:effectLst/>
                        </a:rPr>
                        <a:t>list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683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solidFill>
                            <a:schemeClr val="accent1"/>
                          </a:solidFill>
                          <a:effectLst/>
                        </a:rPr>
                        <a:t>string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solidFill>
                            <a:schemeClr val="accent1"/>
                          </a:solidFill>
                          <a:effectLst/>
                        </a:rPr>
                        <a:t>str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298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solidFill>
                            <a:schemeClr val="accent1"/>
                          </a:solidFill>
                          <a:effectLst/>
                        </a:rPr>
                        <a:t>number (int)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solidFill>
                            <a:schemeClr val="accent1"/>
                          </a:solidFill>
                          <a:effectLst/>
                        </a:rPr>
                        <a:t>int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783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solidFill>
                            <a:schemeClr val="accent1"/>
                          </a:solidFill>
                          <a:effectLst/>
                        </a:rPr>
                        <a:t>number (real)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solidFill>
                            <a:schemeClr val="accent1"/>
                          </a:solidFill>
                          <a:effectLst/>
                        </a:rPr>
                        <a:t>float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218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solidFill>
                            <a:schemeClr val="accent1"/>
                          </a:solidFill>
                          <a:effectLst/>
                        </a:rPr>
                        <a:t>true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solidFill>
                            <a:schemeClr val="accent1"/>
                          </a:solidFill>
                          <a:effectLst/>
                        </a:rPr>
                        <a:t>True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304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solidFill>
                            <a:schemeClr val="accent1"/>
                          </a:solidFill>
                          <a:effectLst/>
                        </a:rPr>
                        <a:t>false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solidFill>
                            <a:schemeClr val="accent1"/>
                          </a:solidFill>
                          <a:effectLst/>
                        </a:rPr>
                        <a:t>False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495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solidFill>
                            <a:schemeClr val="accent1"/>
                          </a:solidFill>
                          <a:effectLst/>
                        </a:rPr>
                        <a:t>null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solidFill>
                            <a:schemeClr val="accent1"/>
                          </a:solidFill>
                          <a:effectLst/>
                        </a:rPr>
                        <a:t>None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058274"/>
                  </a:ext>
                </a:extLst>
              </a:tr>
            </a:tbl>
          </a:graphicData>
        </a:graphic>
      </p:graphicFrame>
      <p:pic>
        <p:nvPicPr>
          <p:cNvPr id="6" name="Google Shape;133;p27">
            <a:extLst>
              <a:ext uri="{FF2B5EF4-FFF2-40B4-BE49-F238E27FC236}">
                <a16:creationId xmlns:a16="http://schemas.microsoft.com/office/drawing/2014/main" id="{B02FB183-AD6F-126F-6A00-81BDB11A12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8286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765"/>
    </mc:Choice>
    <mc:Fallback xmlns="">
      <p:transition spd="slow" advTm="7976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06C9-7BBA-449F-9309-3B85405CE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dumps()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9686F-BCBB-4CB8-88C5-B201D1EEAB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5492" y="1080810"/>
            <a:ext cx="11520000" cy="2213990"/>
          </a:xfrm>
        </p:spPr>
        <p:txBody>
          <a:bodyPr>
            <a:normAutofit fontScale="92500" lnSpcReduction="10000"/>
          </a:bodyPr>
          <a:lstStyle/>
          <a:p>
            <a:r>
              <a:rPr lang="en-US" b="0" dirty="0"/>
              <a:t>To analyze and debug JSON data, we may need to print it in a more readable format. </a:t>
            </a:r>
          </a:p>
          <a:p>
            <a:r>
              <a:rPr lang="en-US" b="0" dirty="0"/>
              <a:t>This can be done by passing additional parameters indent and </a:t>
            </a:r>
            <a:r>
              <a:rPr lang="en-US" b="0" dirty="0" err="1"/>
              <a:t>sort_keys</a:t>
            </a:r>
            <a:r>
              <a:rPr lang="en-US" b="0" dirty="0"/>
              <a:t> to </a:t>
            </a:r>
            <a:r>
              <a:rPr lang="en-US" b="0" dirty="0" err="1"/>
              <a:t>json.dumps</a:t>
            </a:r>
            <a:r>
              <a:rPr lang="en-US" b="0" dirty="0"/>
              <a:t>() and </a:t>
            </a:r>
            <a:r>
              <a:rPr lang="en-US" b="0" dirty="0" err="1"/>
              <a:t>json.dump</a:t>
            </a:r>
            <a:r>
              <a:rPr lang="en-US" b="0" dirty="0"/>
              <a:t>() method.</a:t>
            </a:r>
          </a:p>
          <a:p>
            <a:r>
              <a:rPr lang="en-US" b="0" dirty="0"/>
              <a:t>The default value of indent is None. And, the default value of </a:t>
            </a:r>
            <a:r>
              <a:rPr lang="en-US" b="0" dirty="0" err="1"/>
              <a:t>sort_keys</a:t>
            </a:r>
            <a:r>
              <a:rPr lang="en-US" b="0" dirty="0"/>
              <a:t> is False.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3CE7F2-FB97-446D-A330-BC5CA1735C32}"/>
              </a:ext>
            </a:extLst>
          </p:cNvPr>
          <p:cNvSpPr/>
          <p:nvPr/>
        </p:nvSpPr>
        <p:spPr>
          <a:xfrm>
            <a:off x="561243" y="3448901"/>
            <a:ext cx="1123424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import json</a:t>
            </a:r>
          </a:p>
          <a:p>
            <a:endParaRPr lang="en-US" dirty="0"/>
          </a:p>
          <a:p>
            <a:r>
              <a:rPr lang="en-US" dirty="0" err="1"/>
              <a:t>orgn_str</a:t>
            </a:r>
            <a:r>
              <a:rPr lang="en-US" dirty="0"/>
              <a:t> = '{"Company": “ABCD ", "Technologies": "C, CPP, Java, Python", "location": "Hyderabad"}'</a:t>
            </a:r>
          </a:p>
          <a:p>
            <a:endParaRPr lang="en-US" dirty="0"/>
          </a:p>
          <a:p>
            <a:r>
              <a:rPr lang="en-US" dirty="0" err="1"/>
              <a:t>orgn_dict</a:t>
            </a:r>
            <a:r>
              <a:rPr lang="en-US" dirty="0"/>
              <a:t> = </a:t>
            </a:r>
            <a:r>
              <a:rPr lang="en-US" dirty="0" err="1"/>
              <a:t>json.loads</a:t>
            </a:r>
            <a:r>
              <a:rPr lang="en-US" dirty="0"/>
              <a:t>(</a:t>
            </a:r>
            <a:r>
              <a:rPr lang="en-US" dirty="0" err="1"/>
              <a:t>orgn_str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print(</a:t>
            </a:r>
            <a:r>
              <a:rPr lang="en-US" dirty="0" err="1"/>
              <a:t>json.dumps</a:t>
            </a:r>
            <a:r>
              <a:rPr lang="en-US" dirty="0"/>
              <a:t>(</a:t>
            </a:r>
            <a:r>
              <a:rPr lang="en-US" dirty="0" err="1"/>
              <a:t>orgn_dict</a:t>
            </a:r>
            <a:r>
              <a:rPr lang="en-US" dirty="0"/>
              <a:t>, indent = 8, </a:t>
            </a:r>
            <a:r>
              <a:rPr lang="en-US" dirty="0" err="1"/>
              <a:t>sort_keys</a:t>
            </a:r>
            <a:r>
              <a:rPr lang="en-US" dirty="0"/>
              <a:t>=True))</a:t>
            </a:r>
          </a:p>
        </p:txBody>
      </p:sp>
      <p:pic>
        <p:nvPicPr>
          <p:cNvPr id="5" name="Google Shape;133;p27">
            <a:extLst>
              <a:ext uri="{FF2B5EF4-FFF2-40B4-BE49-F238E27FC236}">
                <a16:creationId xmlns:a16="http://schemas.microsoft.com/office/drawing/2014/main" id="{EA6095B7-35D4-E1C5-9902-E014E75D6B4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42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449"/>
    </mc:Choice>
    <mc:Fallback xmlns="">
      <p:transition spd="slow" advTm="12944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6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6"/>
          <p:cNvSpPr txBox="1"/>
          <p:nvPr/>
        </p:nvSpPr>
        <p:spPr>
          <a:xfrm>
            <a:off x="2212931" y="2036552"/>
            <a:ext cx="8206925" cy="129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 fontAlgn="base"/>
            <a:r>
              <a:rPr lang="en-US" sz="4200" dirty="0">
                <a:solidFill>
                  <a:schemeClr val="accent1"/>
                </a:solidFill>
              </a:rPr>
              <a:t>Reading web using JSON data</a:t>
            </a:r>
          </a:p>
        </p:txBody>
      </p:sp>
      <p:pic>
        <p:nvPicPr>
          <p:cNvPr id="3" name="Google Shape;133;p27">
            <a:extLst>
              <a:ext uri="{FF2B5EF4-FFF2-40B4-BE49-F238E27FC236}">
                <a16:creationId xmlns:a16="http://schemas.microsoft.com/office/drawing/2014/main" id="{6FA29A7E-2371-CB00-657E-C674342997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394" y="6294489"/>
            <a:ext cx="5875606" cy="468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33;p27">
            <a:extLst>
              <a:ext uri="{FF2B5EF4-FFF2-40B4-BE49-F238E27FC236}">
                <a16:creationId xmlns:a16="http://schemas.microsoft.com/office/drawing/2014/main" id="{E4875A1F-6819-EA36-82AD-0ECD1265DF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3;p27">
            <a:extLst>
              <a:ext uri="{FF2B5EF4-FFF2-40B4-BE49-F238E27FC236}">
                <a16:creationId xmlns:a16="http://schemas.microsoft.com/office/drawing/2014/main" id="{53E26D7E-4B36-6E45-97CD-1290410058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8794" y="64935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06C9-7BBA-449F-9309-3B85405CE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JSON data from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9686F-BCBB-4CB8-88C5-B201D1EEAB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5492" y="1080809"/>
            <a:ext cx="11520000" cy="4962803"/>
          </a:xfrm>
        </p:spPr>
        <p:txBody>
          <a:bodyPr>
            <a:normAutofit/>
          </a:bodyPr>
          <a:lstStyle/>
          <a:p>
            <a:r>
              <a:rPr lang="en-US" sz="2200" b="0" dirty="0"/>
              <a:t>Try to implement an example how to read JSON data from live web site and store in a file Locally.</a:t>
            </a:r>
          </a:p>
          <a:p>
            <a:r>
              <a:rPr lang="en-US" sz="2200" b="0" dirty="0"/>
              <a:t>To download data from web, we need to take the help of </a:t>
            </a:r>
            <a:r>
              <a:rPr lang="en-US" sz="2200" dirty="0"/>
              <a:t>requests module</a:t>
            </a:r>
            <a:r>
              <a:rPr lang="en-US" sz="2200" b="0" dirty="0"/>
              <a:t> of Python.</a:t>
            </a:r>
          </a:p>
          <a:p>
            <a:r>
              <a:rPr lang="en-US" sz="2400" dirty="0"/>
              <a:t>Web link is :  </a:t>
            </a:r>
            <a:r>
              <a:rPr lang="en-US" sz="2400" dirty="0">
                <a:hlinkClick r:id="rId2"/>
              </a:rPr>
              <a:t>https://jsonplaceholder.typicode.com/todos</a:t>
            </a:r>
            <a:endParaRPr lang="en-US" sz="2400" dirty="0"/>
          </a:p>
          <a:p>
            <a:r>
              <a:rPr lang="en-US" sz="2200" b="0" dirty="0"/>
              <a:t>The requests module allows you to send HTTP requests using Python.</a:t>
            </a:r>
          </a:p>
          <a:p>
            <a:r>
              <a:rPr lang="en-US" sz="2200" b="0" dirty="0"/>
              <a:t>We can capture the return value of get(), which is an instance of Response, and stored it in a variable called response. </a:t>
            </a:r>
          </a:p>
          <a:p>
            <a:pPr marL="0" indent="0">
              <a:buNone/>
            </a:pPr>
            <a:r>
              <a:rPr lang="en-US" sz="2200" b="0" dirty="0"/>
              <a:t>     </a:t>
            </a:r>
            <a:r>
              <a:rPr lang="en-US" sz="2200" b="0" dirty="0" err="1"/>
              <a:t>Exanple</a:t>
            </a:r>
            <a:r>
              <a:rPr lang="en-US" sz="2200" b="0" dirty="0"/>
              <a:t> : response = </a:t>
            </a:r>
            <a:r>
              <a:rPr lang="en-US" sz="2200" b="0" dirty="0" err="1"/>
              <a:t>requests.get</a:t>
            </a:r>
            <a:r>
              <a:rPr lang="en-US" sz="2200" b="0" dirty="0"/>
              <a:t>("https://jsonplaceholder.typicode.com/</a:t>
            </a:r>
            <a:r>
              <a:rPr lang="en-US" sz="2200" b="0" dirty="0" err="1"/>
              <a:t>todos</a:t>
            </a:r>
            <a:r>
              <a:rPr lang="en-US" sz="2200" b="0" dirty="0"/>
              <a:t>")</a:t>
            </a:r>
          </a:p>
          <a:p>
            <a:endParaRPr lang="en-US" sz="2200" b="0" dirty="0"/>
          </a:p>
        </p:txBody>
      </p:sp>
      <p:pic>
        <p:nvPicPr>
          <p:cNvPr id="4" name="Google Shape;133;p27">
            <a:extLst>
              <a:ext uri="{FF2B5EF4-FFF2-40B4-BE49-F238E27FC236}">
                <a16:creationId xmlns:a16="http://schemas.microsoft.com/office/drawing/2014/main" id="{8FA62645-8F1F-5996-CDA4-0C25C12F5A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289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729"/>
    </mc:Choice>
    <mc:Fallback xmlns="">
      <p:transition spd="slow" advTm="76729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485D7-D012-45DB-B395-515D502D7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91" y="95489"/>
            <a:ext cx="11654571" cy="939371"/>
          </a:xfrm>
        </p:spPr>
        <p:txBody>
          <a:bodyPr>
            <a:noAutofit/>
          </a:bodyPr>
          <a:lstStyle/>
          <a:p>
            <a:r>
              <a:rPr lang="en-US" sz="3600" b="0" dirty="0"/>
              <a:t>Structure of the data by visiting the endpoint in a browser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7393CA-CDA4-410C-B801-73AF19607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316" y="1858297"/>
            <a:ext cx="7289145" cy="362257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C4A510-02B7-40F6-AB4C-20FC855DC6B5}"/>
              </a:ext>
            </a:extLst>
          </p:cNvPr>
          <p:cNvSpPr/>
          <p:nvPr/>
        </p:nvSpPr>
        <p:spPr>
          <a:xfrm>
            <a:off x="490539" y="2271740"/>
            <a:ext cx="402431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{</a:t>
            </a:r>
          </a:p>
          <a:p>
            <a:r>
              <a:rPr lang="en-US" sz="2200" dirty="0"/>
              <a:t>    "</a:t>
            </a:r>
            <a:r>
              <a:rPr lang="en-US" sz="2200" dirty="0" err="1"/>
              <a:t>userId</a:t>
            </a:r>
            <a:r>
              <a:rPr lang="en-US" sz="2200" dirty="0"/>
              <a:t>": 1,</a:t>
            </a:r>
          </a:p>
          <a:p>
            <a:r>
              <a:rPr lang="en-US" sz="2200" dirty="0"/>
              <a:t>    "id": 1,</a:t>
            </a:r>
          </a:p>
          <a:p>
            <a:r>
              <a:rPr lang="en-US" sz="2200" dirty="0"/>
              <a:t>    "title": "delectus </a:t>
            </a:r>
            <a:r>
              <a:rPr lang="en-US" sz="2200" dirty="0" err="1"/>
              <a:t>aut</a:t>
            </a:r>
            <a:r>
              <a:rPr lang="en-US" sz="2200" dirty="0"/>
              <a:t> </a:t>
            </a:r>
            <a:r>
              <a:rPr lang="en-US" sz="2200" dirty="0" err="1"/>
              <a:t>autem</a:t>
            </a:r>
            <a:r>
              <a:rPr lang="en-US" sz="2200" dirty="0"/>
              <a:t>",</a:t>
            </a:r>
          </a:p>
          <a:p>
            <a:r>
              <a:rPr lang="en-US" sz="2200" dirty="0"/>
              <a:t>    "completed": false</a:t>
            </a:r>
          </a:p>
          <a:p>
            <a:r>
              <a:rPr lang="en-US" sz="2200" dirty="0"/>
              <a:t>}</a:t>
            </a:r>
          </a:p>
        </p:txBody>
      </p:sp>
      <p:pic>
        <p:nvPicPr>
          <p:cNvPr id="3" name="Google Shape;133;p27">
            <a:extLst>
              <a:ext uri="{FF2B5EF4-FFF2-40B4-BE49-F238E27FC236}">
                <a16:creationId xmlns:a16="http://schemas.microsoft.com/office/drawing/2014/main" id="{54FC12A5-B2A5-6DA7-95A8-822D14FA99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098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311"/>
    </mc:Choice>
    <mc:Fallback xmlns="">
      <p:transition spd="slow" advTm="2531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81FEA-9E67-4785-9774-E4A70C2ED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53BEDA-CF49-4442-AAF2-60D804664AF7}"/>
              </a:ext>
            </a:extLst>
          </p:cNvPr>
          <p:cNvSpPr/>
          <p:nvPr/>
        </p:nvSpPr>
        <p:spPr>
          <a:xfrm>
            <a:off x="504825" y="1168002"/>
            <a:ext cx="1118235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import json</a:t>
            </a:r>
          </a:p>
          <a:p>
            <a:r>
              <a:rPr lang="en-US" sz="2000" dirty="0"/>
              <a:t>import requests</a:t>
            </a:r>
          </a:p>
          <a:p>
            <a:r>
              <a:rPr lang="en-US" sz="2000" dirty="0"/>
              <a:t>response = </a:t>
            </a:r>
            <a:r>
              <a:rPr lang="en-US" sz="2000" dirty="0" err="1"/>
              <a:t>requests.get</a:t>
            </a:r>
            <a:r>
              <a:rPr lang="en-US" sz="2000" dirty="0"/>
              <a:t>("https://jsonplaceholder.typicode.com/</a:t>
            </a:r>
            <a:r>
              <a:rPr lang="en-US" sz="2000" dirty="0" err="1"/>
              <a:t>todos</a:t>
            </a:r>
            <a:r>
              <a:rPr lang="en-US" sz="2000" dirty="0"/>
              <a:t>")</a:t>
            </a:r>
          </a:p>
          <a:p>
            <a:r>
              <a:rPr lang="en-US" sz="2000" dirty="0" err="1"/>
              <a:t>todos</a:t>
            </a:r>
            <a:r>
              <a:rPr lang="en-US" sz="2000" dirty="0"/>
              <a:t> = </a:t>
            </a:r>
            <a:r>
              <a:rPr lang="en-US" sz="2000" dirty="0" err="1"/>
              <a:t>json.loads</a:t>
            </a:r>
            <a:r>
              <a:rPr lang="en-US" sz="2000" dirty="0"/>
              <a:t>(</a:t>
            </a:r>
            <a:r>
              <a:rPr lang="en-US" sz="2000" dirty="0" err="1"/>
              <a:t>response.text</a:t>
            </a:r>
            <a:r>
              <a:rPr lang="en-US" sz="2000" dirty="0"/>
              <a:t>)</a:t>
            </a:r>
          </a:p>
          <a:p>
            <a:endParaRPr lang="en-US" sz="2000" dirty="0"/>
          </a:p>
          <a:p>
            <a:r>
              <a:rPr lang="en-US" sz="2000" dirty="0"/>
              <a:t>print(type(</a:t>
            </a:r>
            <a:r>
              <a:rPr lang="en-US" sz="2000" dirty="0" err="1"/>
              <a:t>todos</a:t>
            </a:r>
            <a:r>
              <a:rPr lang="en-US" sz="2000" dirty="0"/>
              <a:t>))</a:t>
            </a:r>
          </a:p>
          <a:p>
            <a:endParaRPr lang="en-US" sz="2000" dirty="0"/>
          </a:p>
          <a:p>
            <a:r>
              <a:rPr lang="en-US" sz="2000" dirty="0"/>
              <a:t>for row in </a:t>
            </a:r>
            <a:r>
              <a:rPr lang="en-US" sz="2000" dirty="0" err="1"/>
              <a:t>todos</a:t>
            </a:r>
            <a:r>
              <a:rPr lang="en-US" sz="2000" dirty="0"/>
              <a:t>[:10]:</a:t>
            </a:r>
          </a:p>
          <a:p>
            <a:r>
              <a:rPr lang="en-US" sz="2000" dirty="0"/>
              <a:t>    print(row)</a:t>
            </a:r>
          </a:p>
          <a:p>
            <a:r>
              <a:rPr lang="en-US" sz="2000" dirty="0"/>
              <a:t>    </a:t>
            </a:r>
          </a:p>
          <a:p>
            <a:r>
              <a:rPr lang="en-US" sz="2000" dirty="0"/>
              <a:t>with open('todo.txt', 'w') as </a:t>
            </a:r>
            <a:r>
              <a:rPr lang="en-US" sz="2000" dirty="0" err="1"/>
              <a:t>json_file</a:t>
            </a:r>
            <a:r>
              <a:rPr lang="en-US" sz="2000" dirty="0"/>
              <a:t>: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json.dump</a:t>
            </a:r>
            <a:r>
              <a:rPr lang="en-US" sz="2000" dirty="0"/>
              <a:t>(</a:t>
            </a:r>
            <a:r>
              <a:rPr lang="en-US" sz="2000" dirty="0" err="1"/>
              <a:t>todos</a:t>
            </a:r>
            <a:r>
              <a:rPr lang="en-US" sz="2000" dirty="0"/>
              <a:t>, </a:t>
            </a:r>
            <a:r>
              <a:rPr lang="en-US" sz="2000" dirty="0" err="1"/>
              <a:t>json_file</a:t>
            </a:r>
            <a:r>
              <a:rPr lang="en-US" sz="200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0DF234-62EE-42EE-9F77-B49BD339D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526" y="2332436"/>
            <a:ext cx="7326312" cy="3357562"/>
          </a:xfrm>
          <a:prstGeom prst="rect">
            <a:avLst/>
          </a:prstGeom>
        </p:spPr>
      </p:pic>
      <p:pic>
        <p:nvPicPr>
          <p:cNvPr id="3" name="Google Shape;133;p27">
            <a:extLst>
              <a:ext uri="{FF2B5EF4-FFF2-40B4-BE49-F238E27FC236}">
                <a16:creationId xmlns:a16="http://schemas.microsoft.com/office/drawing/2014/main" id="{58FC0258-96AD-42CC-D8A3-7FD11DD67D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309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676"/>
    </mc:Choice>
    <mc:Fallback xmlns="">
      <p:transition spd="slow" advTm="87676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6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6"/>
          <p:cNvSpPr txBox="1"/>
          <p:nvPr/>
        </p:nvSpPr>
        <p:spPr>
          <a:xfrm>
            <a:off x="1863905" y="2387135"/>
            <a:ext cx="8206925" cy="119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 fontAlgn="base"/>
            <a:r>
              <a:rPr lang="en-US" sz="4200" dirty="0">
                <a:solidFill>
                  <a:schemeClr val="accent1"/>
                </a:solidFill>
              </a:rPr>
              <a:t>Introduction to XML</a:t>
            </a:r>
          </a:p>
        </p:txBody>
      </p:sp>
      <p:sp>
        <p:nvSpPr>
          <p:cNvPr id="122" name="Google Shape;122;p26"/>
          <p:cNvSpPr txBox="1"/>
          <p:nvPr/>
        </p:nvSpPr>
        <p:spPr>
          <a:xfrm>
            <a:off x="9507893" y="5475850"/>
            <a:ext cx="2360667" cy="37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Dr Raju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pic>
        <p:nvPicPr>
          <p:cNvPr id="3" name="Google Shape;133;p27">
            <a:extLst>
              <a:ext uri="{FF2B5EF4-FFF2-40B4-BE49-F238E27FC236}">
                <a16:creationId xmlns:a16="http://schemas.microsoft.com/office/drawing/2014/main" id="{6FA29A7E-2371-CB00-657E-C674342997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394" y="6294489"/>
            <a:ext cx="5875606" cy="468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33;p27">
            <a:extLst>
              <a:ext uri="{FF2B5EF4-FFF2-40B4-BE49-F238E27FC236}">
                <a16:creationId xmlns:a16="http://schemas.microsoft.com/office/drawing/2014/main" id="{E4875A1F-6819-EA36-82AD-0ECD1265DF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06C9-7BBA-449F-9309-3B85405CE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9686F-BCBB-4CB8-88C5-B201D1EEAB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5492" y="1223685"/>
            <a:ext cx="11520000" cy="5148540"/>
          </a:xfrm>
        </p:spPr>
        <p:txBody>
          <a:bodyPr>
            <a:normAutofit fontScale="92500" lnSpcReduction="20000"/>
          </a:bodyPr>
          <a:lstStyle/>
          <a:p>
            <a:pPr lvl="0">
              <a:lnSpc>
                <a:spcPct val="200000"/>
              </a:lnSpc>
            </a:pPr>
            <a:r>
              <a:rPr lang="en-US" sz="2200" b="0" dirty="0"/>
              <a:t>XML stands for Extensible Markup Language.</a:t>
            </a:r>
          </a:p>
          <a:p>
            <a:pPr lvl="0">
              <a:lnSpc>
                <a:spcPct val="200000"/>
              </a:lnSpc>
            </a:pPr>
            <a:r>
              <a:rPr lang="en-US" sz="2200" b="0" dirty="0"/>
              <a:t>XML was designed to describe data.</a:t>
            </a:r>
          </a:p>
          <a:p>
            <a:pPr lvl="0">
              <a:lnSpc>
                <a:spcPct val="200000"/>
              </a:lnSpc>
            </a:pPr>
            <a:r>
              <a:rPr lang="en-US" sz="2200" b="0" dirty="0"/>
              <a:t>We must define your own tags. </a:t>
            </a:r>
          </a:p>
          <a:p>
            <a:pPr lvl="0">
              <a:lnSpc>
                <a:spcPct val="200000"/>
              </a:lnSpc>
            </a:pPr>
            <a:r>
              <a:rPr lang="en-US" sz="2200" b="0" dirty="0"/>
              <a:t>XML is much more difficult to parse than JSON.</a:t>
            </a:r>
          </a:p>
          <a:p>
            <a:pPr lvl="0">
              <a:lnSpc>
                <a:spcPct val="200000"/>
              </a:lnSpc>
            </a:pPr>
            <a:r>
              <a:rPr lang="en-US" sz="2200" b="0" dirty="0"/>
              <a:t>XML docs are interoperable or language-independent.</a:t>
            </a:r>
          </a:p>
          <a:p>
            <a:pPr lvl="0">
              <a:lnSpc>
                <a:spcPct val="200000"/>
              </a:lnSpc>
            </a:pPr>
            <a:r>
              <a:rPr lang="en-US" sz="2200" b="0" dirty="0"/>
              <a:t> An XML </a:t>
            </a:r>
            <a:r>
              <a:rPr lang="en-US" sz="2200" b="0" i="1" dirty="0"/>
              <a:t>document </a:t>
            </a:r>
            <a:r>
              <a:rPr lang="en-US" sz="2200" b="0" dirty="0"/>
              <a:t>contains wide variety of data. </a:t>
            </a:r>
          </a:p>
          <a:p>
            <a:pPr marL="0" indent="0">
              <a:buNone/>
            </a:pPr>
            <a:r>
              <a:rPr lang="en-US" dirty="0"/>
              <a:t>       </a:t>
            </a:r>
            <a:endParaRPr lang="en-US" b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708725-B79B-4A92-9CA8-ECC90EDFC27E}"/>
              </a:ext>
            </a:extLst>
          </p:cNvPr>
          <p:cNvSpPr/>
          <p:nvPr/>
        </p:nvSpPr>
        <p:spPr>
          <a:xfrm>
            <a:off x="6809025" y="1859339"/>
            <a:ext cx="473527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&lt;DEPTS&gt;  </a:t>
            </a:r>
          </a:p>
          <a:p>
            <a:r>
              <a:rPr lang="en-US" dirty="0"/>
              <a:t>          &lt;DEPT type = “Core”&gt;</a:t>
            </a:r>
          </a:p>
          <a:p>
            <a:r>
              <a:rPr lang="en-US" dirty="0"/>
              <a:t>                    &lt;DEPTNO&gt;101&lt;/DEPTNO&gt; </a:t>
            </a:r>
          </a:p>
          <a:p>
            <a:r>
              <a:rPr lang="en-US" dirty="0"/>
              <a:t>                    &lt;DNAME&gt;IT&lt;/DNAME&gt;</a:t>
            </a:r>
          </a:p>
          <a:p>
            <a:r>
              <a:rPr lang="en-US" dirty="0"/>
              <a:t>          &lt;/DEPT&gt; </a:t>
            </a:r>
          </a:p>
          <a:p>
            <a:r>
              <a:rPr lang="en-US" dirty="0"/>
              <a:t>          </a:t>
            </a:r>
          </a:p>
          <a:p>
            <a:r>
              <a:rPr lang="en-US" dirty="0"/>
              <a:t>          &lt;DEPT type = “Core”&gt; &gt;    </a:t>
            </a:r>
          </a:p>
          <a:p>
            <a:r>
              <a:rPr lang="en-US" dirty="0"/>
              <a:t>                    &lt;DEPTNO&gt;102&lt;/DEPTNO&gt; </a:t>
            </a:r>
          </a:p>
          <a:p>
            <a:r>
              <a:rPr lang="en-US" dirty="0"/>
              <a:t>                    &lt;DNAME&gt;CSE&lt;/DNAME&gt;  </a:t>
            </a:r>
          </a:p>
          <a:p>
            <a:r>
              <a:rPr lang="en-US" dirty="0"/>
              <a:t>           &lt;/DEPT&gt; </a:t>
            </a:r>
          </a:p>
          <a:p>
            <a:r>
              <a:rPr lang="en-US" dirty="0"/>
              <a:t>&lt;/DEPTS&gt;</a:t>
            </a:r>
          </a:p>
        </p:txBody>
      </p:sp>
      <p:pic>
        <p:nvPicPr>
          <p:cNvPr id="4" name="Google Shape;133;p27">
            <a:extLst>
              <a:ext uri="{FF2B5EF4-FFF2-40B4-BE49-F238E27FC236}">
                <a16:creationId xmlns:a16="http://schemas.microsoft.com/office/drawing/2014/main" id="{85AC3598-018F-54A2-04C0-8307DB55038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6995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543"/>
    </mc:Choice>
    <mc:Fallback xmlns="">
      <p:transition spd="slow" advTm="80543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8005-F861-4836-9727-61B89CB4C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Rules for 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B884C-2AE2-49F2-8DD8-1A9A3BDD4A3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0" dirty="0"/>
              <a:t>All XML elements must have a closing tag</a:t>
            </a:r>
          </a:p>
          <a:p>
            <a:pPr lv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0" dirty="0"/>
              <a:t>XML tags are case sensitive</a:t>
            </a:r>
          </a:p>
          <a:p>
            <a:pPr lv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0" dirty="0"/>
              <a:t>All XML elements must be properly nested</a:t>
            </a:r>
          </a:p>
          <a:p>
            <a:pPr lv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0" dirty="0"/>
              <a:t>All XML documents must have a root element</a:t>
            </a:r>
          </a:p>
          <a:p>
            <a:pPr lv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0" dirty="0"/>
              <a:t>Attribute values must always be quoted</a:t>
            </a:r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42BBD4-7781-4F21-9DAC-DCC109742ADC}"/>
              </a:ext>
            </a:extLst>
          </p:cNvPr>
          <p:cNvSpPr/>
          <p:nvPr/>
        </p:nvSpPr>
        <p:spPr>
          <a:xfrm>
            <a:off x="7267575" y="1859339"/>
            <a:ext cx="492442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&lt;DEPTS&gt;  </a:t>
            </a:r>
          </a:p>
          <a:p>
            <a:r>
              <a:rPr lang="en-US" dirty="0"/>
              <a:t>          &lt;DEPT type = “Core”&gt;</a:t>
            </a:r>
          </a:p>
          <a:p>
            <a:r>
              <a:rPr lang="en-US" dirty="0"/>
              <a:t>                    &lt;DEPTNO&gt;101&lt;/DEPTNO&gt; </a:t>
            </a:r>
          </a:p>
          <a:p>
            <a:r>
              <a:rPr lang="en-US" dirty="0"/>
              <a:t>                    &lt;DNAME&gt;IT&lt;/DNAME&gt;</a:t>
            </a:r>
          </a:p>
          <a:p>
            <a:r>
              <a:rPr lang="en-US" dirty="0"/>
              <a:t>          &lt;/DEPT&gt; </a:t>
            </a:r>
          </a:p>
          <a:p>
            <a:r>
              <a:rPr lang="en-US" dirty="0"/>
              <a:t>          </a:t>
            </a:r>
          </a:p>
          <a:p>
            <a:r>
              <a:rPr lang="en-US" dirty="0"/>
              <a:t>          &lt;DEPT type = “Core”&gt; &gt;    </a:t>
            </a:r>
          </a:p>
          <a:p>
            <a:r>
              <a:rPr lang="en-US" dirty="0"/>
              <a:t>                    &lt;DEPTNO&gt;102&lt;/DEPTNO&gt; </a:t>
            </a:r>
          </a:p>
          <a:p>
            <a:r>
              <a:rPr lang="en-US" dirty="0"/>
              <a:t>                    &lt;DNAME&gt;CSE&lt;/DNAME&gt;  </a:t>
            </a:r>
          </a:p>
          <a:p>
            <a:r>
              <a:rPr lang="en-US" dirty="0"/>
              <a:t>           &lt;/DEPT&gt; </a:t>
            </a:r>
          </a:p>
          <a:p>
            <a:r>
              <a:rPr lang="en-US" dirty="0"/>
              <a:t>&lt;/DEPTS&gt;</a:t>
            </a:r>
          </a:p>
        </p:txBody>
      </p:sp>
      <p:pic>
        <p:nvPicPr>
          <p:cNvPr id="4" name="Google Shape;133;p27">
            <a:extLst>
              <a:ext uri="{FF2B5EF4-FFF2-40B4-BE49-F238E27FC236}">
                <a16:creationId xmlns:a16="http://schemas.microsoft.com/office/drawing/2014/main" id="{2F3C716F-636F-A7B9-361A-578237E0FA5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9317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811"/>
    </mc:Choice>
    <mc:Fallback xmlns="">
      <p:transition spd="slow" advTm="12581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B59C2-F219-46A4-A271-577845499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Parser?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4B094-6F3C-4D0C-9A7A-894518AC7B0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0" dirty="0"/>
              <a:t>Is a tool which load, parse (validate) and process (understands XML document structure) XML documents</a:t>
            </a:r>
          </a:p>
          <a:p>
            <a:r>
              <a:rPr lang="en-US" b="0" dirty="0"/>
              <a:t>Depends on the parser events may be fired or object given to the developer to process on his/her own.</a:t>
            </a:r>
          </a:p>
          <a:p>
            <a:pPr marL="0" indent="0">
              <a:buNone/>
            </a:pPr>
            <a:r>
              <a:rPr lang="en-US" dirty="0"/>
              <a:t>      Lifecycle of a Parser</a:t>
            </a:r>
          </a:p>
          <a:p>
            <a:r>
              <a:rPr lang="en-US" sz="2400" b="0" dirty="0"/>
              <a:t>Loading: </a:t>
            </a:r>
          </a:p>
          <a:p>
            <a:r>
              <a:rPr lang="en-US" sz="2400" b="0" dirty="0"/>
              <a:t>Parsing</a:t>
            </a:r>
          </a:p>
          <a:p>
            <a:r>
              <a:rPr lang="en-US" sz="2400" b="0" dirty="0"/>
              <a:t>Processing</a:t>
            </a:r>
          </a:p>
        </p:txBody>
      </p:sp>
      <p:pic>
        <p:nvPicPr>
          <p:cNvPr id="4" name="Google Shape;133;p27">
            <a:extLst>
              <a:ext uri="{FF2B5EF4-FFF2-40B4-BE49-F238E27FC236}">
                <a16:creationId xmlns:a16="http://schemas.microsoft.com/office/drawing/2014/main" id="{D8CB7A19-A4C3-89CB-E263-780BDB4FCD1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4512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616"/>
    </mc:Choice>
    <mc:Fallback xmlns="">
      <p:transition spd="slow" advTm="77616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3FBE4-384F-4AD0-B1AB-10101BA40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Lifecycle of XML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C1FB5-4557-4F1C-AF9C-B6074AF187A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6224" y="1215010"/>
            <a:ext cx="11139489" cy="496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0" dirty="0" err="1"/>
              <a:t>i</a:t>
            </a:r>
            <a:r>
              <a:rPr lang="en-US" b="0" dirty="0"/>
              <a:t>) </a:t>
            </a:r>
            <a:r>
              <a:rPr lang="en-US" dirty="0"/>
              <a:t>Loading</a:t>
            </a:r>
            <a:r>
              <a:rPr lang="en-US" b="0" dirty="0"/>
              <a:t>: Irrespective of the XML form (file/string/byte[]/</a:t>
            </a:r>
            <a:r>
              <a:rPr lang="en-US" b="0" dirty="0" err="1"/>
              <a:t>url</a:t>
            </a:r>
            <a:r>
              <a:rPr lang="en-US" b="0" dirty="0"/>
              <a:t>) the document must be I/Ped into parser as a stream of bytes</a:t>
            </a:r>
          </a:p>
          <a:p>
            <a:pPr marL="0" indent="0">
              <a:buNone/>
            </a:pPr>
            <a:r>
              <a:rPr lang="en-US" b="0" dirty="0"/>
              <a:t>ii) </a:t>
            </a:r>
            <a:r>
              <a:rPr lang="en-US" dirty="0"/>
              <a:t>Parsing</a:t>
            </a:r>
            <a:r>
              <a:rPr lang="en-US" b="0" dirty="0"/>
              <a:t>: </a:t>
            </a:r>
          </a:p>
          <a:p>
            <a:pPr marL="0" indent="0">
              <a:buNone/>
            </a:pPr>
            <a:r>
              <a:rPr lang="en-US" dirty="0"/>
              <a:t>a) Well-formed verification (Rules for XML)</a:t>
            </a:r>
          </a:p>
          <a:p>
            <a:pPr marL="0" indent="0">
              <a:buNone/>
            </a:pPr>
            <a:r>
              <a:rPr lang="en-US" dirty="0"/>
              <a:t>b) Validation (optional)</a:t>
            </a:r>
          </a:p>
          <a:p>
            <a:pPr marL="685800" lvl="3" indent="-57150">
              <a:lnSpc>
                <a:spcPct val="150000"/>
              </a:lnSpc>
              <a:buNone/>
            </a:pPr>
            <a:r>
              <a:rPr lang="en-US" b="0" dirty="0"/>
              <a:t>   -XML structure can be defined in two ways:</a:t>
            </a:r>
          </a:p>
          <a:p>
            <a:pPr marL="685800" lvl="3" indent="-57150">
              <a:lnSpc>
                <a:spcPct val="150000"/>
              </a:lnSpc>
              <a:buNone/>
            </a:pPr>
            <a:r>
              <a:rPr lang="en-US" b="0" dirty="0"/>
              <a:t>  </a:t>
            </a:r>
            <a:r>
              <a:rPr lang="en-US" b="0" dirty="0" err="1"/>
              <a:t>i</a:t>
            </a:r>
            <a:r>
              <a:rPr lang="en-US" b="0" dirty="0"/>
              <a:t>) DTD (define simple doc structures) - Document Type Definition</a:t>
            </a:r>
          </a:p>
          <a:p>
            <a:pPr marL="685800" lvl="3" indent="-57150">
              <a:lnSpc>
                <a:spcPct val="150000"/>
              </a:lnSpc>
              <a:buNone/>
            </a:pPr>
            <a:r>
              <a:rPr lang="en-US" b="0" dirty="0"/>
              <a:t> ii) Schema (set of rules) - define complex structure definitions</a:t>
            </a:r>
          </a:p>
          <a:p>
            <a:pPr marL="685800" lvl="3" indent="-57150">
              <a:lnSpc>
                <a:spcPct val="150000"/>
              </a:lnSpc>
              <a:buNone/>
            </a:pPr>
            <a:r>
              <a:rPr lang="en-US" b="0" dirty="0"/>
              <a:t>The process of verifying XML document structure compared with structured defined in DTD/Schema</a:t>
            </a:r>
          </a:p>
        </p:txBody>
      </p:sp>
      <p:pic>
        <p:nvPicPr>
          <p:cNvPr id="4" name="Google Shape;133;p27">
            <a:extLst>
              <a:ext uri="{FF2B5EF4-FFF2-40B4-BE49-F238E27FC236}">
                <a16:creationId xmlns:a16="http://schemas.microsoft.com/office/drawing/2014/main" id="{E2711CAF-2E97-1459-E62D-5552E7594B7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968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907"/>
    </mc:Choice>
    <mc:Fallback xmlns="">
      <p:transition spd="slow" advTm="97907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54E2C-3A28-426E-8A21-8D66C1FD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Lifecycle of XML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F858E-2B32-4DC6-98C7-C5677626667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6224" y="1034860"/>
            <a:ext cx="11520000" cy="514815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iii) Process: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There are two types parsers available: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a) SAX (Simple API for XML Parsing)</a:t>
            </a:r>
          </a:p>
          <a:p>
            <a:pPr marL="914400" lvl="3">
              <a:lnSpc>
                <a:spcPct val="120000"/>
              </a:lnSpc>
              <a:spcBef>
                <a:spcPts val="0"/>
              </a:spcBef>
            </a:pPr>
            <a:r>
              <a:rPr lang="en-US" b="0" dirty="0"/>
              <a:t>First released parser</a:t>
            </a:r>
          </a:p>
          <a:p>
            <a:pPr marL="914400" lvl="3">
              <a:lnSpc>
                <a:spcPct val="120000"/>
              </a:lnSpc>
              <a:spcBef>
                <a:spcPts val="0"/>
              </a:spcBef>
            </a:pPr>
            <a:r>
              <a:rPr lang="en-US" b="0" dirty="0"/>
              <a:t>Functionality limited to read only</a:t>
            </a:r>
          </a:p>
          <a:p>
            <a:pPr marL="914400" lvl="3">
              <a:lnSpc>
                <a:spcPct val="120000"/>
              </a:lnSpc>
              <a:spcBef>
                <a:spcPts val="0"/>
              </a:spcBef>
            </a:pPr>
            <a:r>
              <a:rPr lang="en-US" b="0" dirty="0"/>
              <a:t>Event driven parser (fires event for each node on our application)</a:t>
            </a:r>
          </a:p>
          <a:p>
            <a:pPr marL="914400" lvl="3">
              <a:lnSpc>
                <a:spcPct val="120000"/>
              </a:lnSpc>
              <a:spcBef>
                <a:spcPts val="0"/>
              </a:spcBef>
            </a:pPr>
            <a:r>
              <a:rPr lang="en-US" b="0" dirty="0"/>
              <a:t>Fastest</a:t>
            </a:r>
          </a:p>
          <a:p>
            <a:pPr marL="914400" lvl="3">
              <a:lnSpc>
                <a:spcPct val="120000"/>
              </a:lnSpc>
              <a:spcBef>
                <a:spcPts val="0"/>
              </a:spcBef>
            </a:pPr>
            <a:r>
              <a:rPr lang="en-US" b="0" dirty="0"/>
              <a:t>Developer cannot hold control over on parsing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b) DOM (Document Object Model)</a:t>
            </a:r>
          </a:p>
          <a:p>
            <a:pPr marL="914400" lvl="3">
              <a:lnSpc>
                <a:spcPct val="120000"/>
              </a:lnSpc>
              <a:spcBef>
                <a:spcPts val="0"/>
              </a:spcBef>
            </a:pPr>
            <a:r>
              <a:rPr lang="en-US" b="0" dirty="0"/>
              <a:t>Released next to SAX</a:t>
            </a:r>
          </a:p>
          <a:p>
            <a:pPr marL="914400" lvl="3">
              <a:lnSpc>
                <a:spcPct val="120000"/>
              </a:lnSpc>
              <a:spcBef>
                <a:spcPts val="0"/>
              </a:spcBef>
            </a:pPr>
            <a:r>
              <a:rPr lang="en-US" b="0" dirty="0"/>
              <a:t>Functionality supports all DML operations</a:t>
            </a:r>
          </a:p>
          <a:p>
            <a:pPr marL="914400" lvl="3">
              <a:lnSpc>
                <a:spcPct val="120000"/>
              </a:lnSpc>
              <a:spcBef>
                <a:spcPts val="0"/>
              </a:spcBef>
            </a:pPr>
            <a:r>
              <a:rPr lang="en-US" b="0" dirty="0"/>
              <a:t>Object Tree based (XML parser understands the document structure and prepares collection of objects called as collection of Nodes - </a:t>
            </a:r>
            <a:r>
              <a:rPr lang="en-US" b="0" dirty="0" err="1"/>
              <a:t>NodeList</a:t>
            </a:r>
            <a:r>
              <a:rPr lang="en-US" b="0" dirty="0"/>
              <a:t>)</a:t>
            </a:r>
          </a:p>
          <a:p>
            <a:pPr marL="914400" lvl="3">
              <a:lnSpc>
                <a:spcPct val="120000"/>
              </a:lnSpc>
              <a:spcBef>
                <a:spcPts val="0"/>
              </a:spcBef>
            </a:pPr>
            <a:r>
              <a:rPr lang="en-US" b="0" dirty="0"/>
              <a:t>Slow</a:t>
            </a:r>
          </a:p>
          <a:p>
            <a:pPr marL="914400" lvl="3">
              <a:lnSpc>
                <a:spcPct val="120000"/>
              </a:lnSpc>
              <a:spcBef>
                <a:spcPts val="0"/>
              </a:spcBef>
            </a:pPr>
            <a:r>
              <a:rPr lang="en-US" b="0" dirty="0"/>
              <a:t>Developer is having every control over on XML document</a:t>
            </a:r>
          </a:p>
        </p:txBody>
      </p:sp>
      <p:pic>
        <p:nvPicPr>
          <p:cNvPr id="4" name="Google Shape;133;p27">
            <a:extLst>
              <a:ext uri="{FF2B5EF4-FFF2-40B4-BE49-F238E27FC236}">
                <a16:creationId xmlns:a16="http://schemas.microsoft.com/office/drawing/2014/main" id="{3986D85B-7DE9-863F-0FBB-23BF6BFAF89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017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057"/>
    </mc:Choice>
    <mc:Fallback xmlns="">
      <p:transition spd="slow" advTm="105057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018E4-14A5-4BD9-B146-0CA14AF45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err="1"/>
              <a:t>xml.etree.ElementTree</a:t>
            </a:r>
            <a:r>
              <a:rPr lang="en-US" b="0" dirty="0"/>
              <a:t> module for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1F5C4-7A65-44B2-B34F-5AEDBF4C17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6223" y="1215010"/>
            <a:ext cx="11710989" cy="520007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en-US" b="0" dirty="0"/>
              <a:t>The </a:t>
            </a:r>
            <a:r>
              <a:rPr lang="en-US" b="0" dirty="0" err="1"/>
              <a:t>xml.etree.ElementTree</a:t>
            </a:r>
            <a:r>
              <a:rPr lang="en-US" b="0" dirty="0"/>
              <a:t> module implements API for parsing and creating XML data.</a:t>
            </a:r>
          </a:p>
          <a:p>
            <a:pPr>
              <a:spcBef>
                <a:spcPts val="600"/>
              </a:spcBef>
            </a:pPr>
            <a:r>
              <a:rPr lang="en-US" b="0" dirty="0"/>
              <a:t>XML is an inherently hierarchical data format, represents as tree type.</a:t>
            </a:r>
          </a:p>
          <a:p>
            <a:pPr>
              <a:spcBef>
                <a:spcPts val="600"/>
              </a:spcBef>
            </a:pPr>
            <a:r>
              <a:rPr lang="en-US" b="0" dirty="0"/>
              <a:t>ET has two classes for this purpose – </a:t>
            </a:r>
          </a:p>
          <a:p>
            <a:pPr lvl="3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0" dirty="0" err="1"/>
              <a:t>ElementTree</a:t>
            </a:r>
            <a:r>
              <a:rPr lang="en-US" sz="2000" b="0" dirty="0"/>
              <a:t> represents the whole XML document as a tree, and </a:t>
            </a:r>
          </a:p>
          <a:p>
            <a:pPr lvl="3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0" dirty="0"/>
              <a:t>Element represents a single node in this tree. </a:t>
            </a:r>
          </a:p>
          <a:p>
            <a:pPr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>
                <a:solidFill>
                  <a:schemeClr val="tx1"/>
                </a:solidFill>
              </a:rPr>
              <a:t>fromstring</a:t>
            </a:r>
            <a:r>
              <a:rPr lang="en-US" sz="2000" dirty="0">
                <a:solidFill>
                  <a:schemeClr val="tx1"/>
                </a:solidFill>
              </a:rPr>
              <a:t>() parses XML from a string directly into an Element, which is the root element of the parsed tree.</a:t>
            </a:r>
          </a:p>
          <a:p>
            <a:pPr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>
                <a:solidFill>
                  <a:schemeClr val="tx1"/>
                </a:solidFill>
              </a:rPr>
              <a:t>Element.find</a:t>
            </a:r>
            <a:r>
              <a:rPr lang="en-US" sz="2000" dirty="0">
                <a:solidFill>
                  <a:schemeClr val="tx1"/>
                </a:solidFill>
              </a:rPr>
              <a:t>() finds the first child with a particular tag, and </a:t>
            </a:r>
          </a:p>
          <a:p>
            <a:pPr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>
                <a:solidFill>
                  <a:schemeClr val="tx1"/>
                </a:solidFill>
              </a:rPr>
              <a:t>Element.text</a:t>
            </a:r>
            <a:r>
              <a:rPr lang="en-US" sz="2000" dirty="0">
                <a:solidFill>
                  <a:schemeClr val="tx1"/>
                </a:solidFill>
              </a:rPr>
              <a:t> accesses the element’s text content. </a:t>
            </a:r>
          </a:p>
          <a:p>
            <a:pPr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>
                <a:solidFill>
                  <a:schemeClr val="tx1"/>
                </a:solidFill>
              </a:rPr>
              <a:t>Element.get</a:t>
            </a:r>
            <a:r>
              <a:rPr lang="en-US" sz="2000" dirty="0">
                <a:solidFill>
                  <a:schemeClr val="tx1"/>
                </a:solidFill>
              </a:rPr>
              <a:t>() accesses the element’s attributes.</a:t>
            </a:r>
            <a:endParaRPr lang="en-US" sz="2000" b="0" dirty="0">
              <a:solidFill>
                <a:schemeClr val="tx1"/>
              </a:solidFill>
            </a:endParaRPr>
          </a:p>
          <a:p>
            <a:endParaRPr lang="en-US" b="0" dirty="0"/>
          </a:p>
        </p:txBody>
      </p:sp>
      <p:pic>
        <p:nvPicPr>
          <p:cNvPr id="4" name="Google Shape;133;p27">
            <a:extLst>
              <a:ext uri="{FF2B5EF4-FFF2-40B4-BE49-F238E27FC236}">
                <a16:creationId xmlns:a16="http://schemas.microsoft.com/office/drawing/2014/main" id="{4D831950-8385-8B7C-3ED0-3C5C03D7B24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712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383"/>
    </mc:Choice>
    <mc:Fallback xmlns="">
      <p:transition spd="slow" advTm="138383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6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6"/>
          <p:cNvSpPr txBox="1"/>
          <p:nvPr/>
        </p:nvSpPr>
        <p:spPr>
          <a:xfrm>
            <a:off x="2212931" y="2036552"/>
            <a:ext cx="8206925" cy="129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 fontAlgn="base"/>
            <a:r>
              <a:rPr lang="en-US" sz="4200" dirty="0">
                <a:solidFill>
                  <a:schemeClr val="accent1"/>
                </a:solidFill>
              </a:rPr>
              <a:t>Working with Python XML</a:t>
            </a:r>
          </a:p>
        </p:txBody>
      </p:sp>
      <p:sp>
        <p:nvSpPr>
          <p:cNvPr id="122" name="Google Shape;122;p26"/>
          <p:cNvSpPr txBox="1"/>
          <p:nvPr/>
        </p:nvSpPr>
        <p:spPr>
          <a:xfrm>
            <a:off x="9507893" y="5475850"/>
            <a:ext cx="2360667" cy="37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Dr Raju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pic>
        <p:nvPicPr>
          <p:cNvPr id="3" name="Google Shape;133;p27">
            <a:extLst>
              <a:ext uri="{FF2B5EF4-FFF2-40B4-BE49-F238E27FC236}">
                <a16:creationId xmlns:a16="http://schemas.microsoft.com/office/drawing/2014/main" id="{6FA29A7E-2371-CB00-657E-C674342997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394" y="6294489"/>
            <a:ext cx="5875606" cy="468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33;p27">
            <a:extLst>
              <a:ext uri="{FF2B5EF4-FFF2-40B4-BE49-F238E27FC236}">
                <a16:creationId xmlns:a16="http://schemas.microsoft.com/office/drawing/2014/main" id="{E4875A1F-6819-EA36-82AD-0ECD1265DF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3;p27">
            <a:extLst>
              <a:ext uri="{FF2B5EF4-FFF2-40B4-BE49-F238E27FC236}">
                <a16:creationId xmlns:a16="http://schemas.microsoft.com/office/drawing/2014/main" id="{E510466F-D0D8-F1B3-22FC-E27B6E89D7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8794" y="64935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2FED-B76E-486A-B9F3-FC64A4970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XML data -1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7E3450-6502-47EC-A731-384C03C7C34A}"/>
              </a:ext>
            </a:extLst>
          </p:cNvPr>
          <p:cNvSpPr/>
          <p:nvPr/>
        </p:nvSpPr>
        <p:spPr>
          <a:xfrm>
            <a:off x="490538" y="1192023"/>
            <a:ext cx="6496050" cy="5093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import </a:t>
            </a:r>
            <a:r>
              <a:rPr lang="en-US" sz="2000" dirty="0" err="1"/>
              <a:t>xml.etree.ElementTree</a:t>
            </a:r>
            <a:r>
              <a:rPr lang="en-US" sz="2000" dirty="0"/>
              <a:t> as ET</a:t>
            </a:r>
          </a:p>
          <a:p>
            <a:endParaRPr lang="en-US" sz="2000" dirty="0"/>
          </a:p>
          <a:p>
            <a:r>
              <a:rPr lang="en-US" sz="2000" dirty="0"/>
              <a:t>data = '''</a:t>
            </a:r>
          </a:p>
          <a:p>
            <a:r>
              <a:rPr lang="en-US" dirty="0"/>
              <a:t>&lt;Company&gt;</a:t>
            </a:r>
          </a:p>
          <a:p>
            <a:r>
              <a:rPr lang="en-US" dirty="0"/>
              <a:t>    &lt;name&gt;ABCD&lt;/name&gt;</a:t>
            </a:r>
          </a:p>
          <a:p>
            <a:r>
              <a:rPr lang="en-US" dirty="0"/>
              <a:t>    &lt;type&gt;Online Platform&lt;/type&gt;</a:t>
            </a:r>
          </a:p>
          <a:p>
            <a:r>
              <a:rPr lang="en-US" dirty="0"/>
              <a:t>    &lt;email id= "support@naresh.com" mobile = “1234-567890"/&gt;</a:t>
            </a:r>
          </a:p>
          <a:p>
            <a:r>
              <a:rPr lang="en-US" dirty="0"/>
              <a:t>&lt;/Company&gt;'''</a:t>
            </a:r>
          </a:p>
          <a:p>
            <a:endParaRPr lang="en-US" sz="20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tree = </a:t>
            </a:r>
            <a:r>
              <a:rPr lang="en-US" sz="2000" dirty="0" err="1"/>
              <a:t>ET.fromstring</a:t>
            </a:r>
            <a:r>
              <a:rPr lang="en-US" sz="2000" dirty="0"/>
              <a:t>(data)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print('Name:', </a:t>
            </a:r>
            <a:r>
              <a:rPr lang="en-US" sz="2000" dirty="0" err="1"/>
              <a:t>tree.find</a:t>
            </a:r>
            <a:r>
              <a:rPr lang="en-US" sz="2000" dirty="0"/>
              <a:t>('name').text)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print('Type:', </a:t>
            </a:r>
            <a:r>
              <a:rPr lang="en-US" sz="2000" dirty="0" err="1"/>
              <a:t>tree.find</a:t>
            </a:r>
            <a:r>
              <a:rPr lang="en-US" sz="2000" dirty="0"/>
              <a:t>('type').text)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print('</a:t>
            </a:r>
            <a:r>
              <a:rPr lang="en-US" sz="2000" dirty="0" err="1"/>
              <a:t>EMail</a:t>
            </a:r>
            <a:r>
              <a:rPr lang="en-US" sz="2000" dirty="0"/>
              <a:t>:', </a:t>
            </a:r>
            <a:r>
              <a:rPr lang="en-US" sz="2000" dirty="0" err="1"/>
              <a:t>tree.find</a:t>
            </a:r>
            <a:r>
              <a:rPr lang="en-US" sz="2000" dirty="0"/>
              <a:t>('email').get('id'))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print('Mobile:', </a:t>
            </a:r>
            <a:r>
              <a:rPr lang="en-US" sz="2000" dirty="0" err="1"/>
              <a:t>tree.find</a:t>
            </a:r>
            <a:r>
              <a:rPr lang="en-US" sz="2000" dirty="0"/>
              <a:t>('email').get('mobile'))</a:t>
            </a:r>
          </a:p>
        </p:txBody>
      </p:sp>
      <p:pic>
        <p:nvPicPr>
          <p:cNvPr id="3" name="Google Shape;133;p27">
            <a:extLst>
              <a:ext uri="{FF2B5EF4-FFF2-40B4-BE49-F238E27FC236}">
                <a16:creationId xmlns:a16="http://schemas.microsoft.com/office/drawing/2014/main" id="{36CAD2AC-1AED-E061-29B8-8A0892FFBA0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27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2704"/>
    </mc:Choice>
    <mc:Fallback xmlns="">
      <p:transition spd="slow" advTm="252704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1B695-3454-4F53-94A2-21F329E1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XML data -2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8F05AE-3162-458E-A211-96335ECD14CD}"/>
              </a:ext>
            </a:extLst>
          </p:cNvPr>
          <p:cNvSpPr/>
          <p:nvPr/>
        </p:nvSpPr>
        <p:spPr>
          <a:xfrm>
            <a:off x="5943600" y="1477773"/>
            <a:ext cx="419576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student =  </a:t>
            </a:r>
            <a:r>
              <a:rPr lang="en-US" dirty="0" err="1"/>
              <a:t>ET.fromstring</a:t>
            </a:r>
            <a:r>
              <a:rPr lang="en-US" dirty="0"/>
              <a:t>(input)</a:t>
            </a:r>
          </a:p>
          <a:p>
            <a:endParaRPr lang="en-US" dirty="0"/>
          </a:p>
          <a:p>
            <a:r>
              <a:rPr lang="en-US" dirty="0" err="1"/>
              <a:t>lst</a:t>
            </a:r>
            <a:r>
              <a:rPr lang="en-US" dirty="0"/>
              <a:t> = </a:t>
            </a:r>
            <a:r>
              <a:rPr lang="en-US" dirty="0" err="1"/>
              <a:t>student.findall</a:t>
            </a:r>
            <a:r>
              <a:rPr lang="en-US" dirty="0"/>
              <a:t>('user')</a:t>
            </a:r>
          </a:p>
          <a:p>
            <a:r>
              <a:rPr lang="en-US" dirty="0"/>
              <a:t>print(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lst</a:t>
            </a:r>
            <a:r>
              <a:rPr lang="en-US" dirty="0"/>
              <a:t>))</a:t>
            </a:r>
          </a:p>
          <a:p>
            <a:endParaRPr lang="en-US" dirty="0"/>
          </a:p>
          <a:p>
            <a:r>
              <a:rPr lang="en-US" dirty="0"/>
              <a:t>for item in </a:t>
            </a:r>
            <a:r>
              <a:rPr lang="en-US" dirty="0" err="1"/>
              <a:t>lst</a:t>
            </a:r>
            <a:r>
              <a:rPr lang="en-US" dirty="0"/>
              <a:t>:</a:t>
            </a:r>
          </a:p>
          <a:p>
            <a:r>
              <a:rPr lang="en-US" dirty="0"/>
              <a:t>   print('Name : ', </a:t>
            </a:r>
            <a:r>
              <a:rPr lang="en-US" dirty="0" err="1"/>
              <a:t>item.find</a:t>
            </a:r>
            <a:r>
              <a:rPr lang="en-US" dirty="0"/>
              <a:t>('name').text)</a:t>
            </a:r>
          </a:p>
          <a:p>
            <a:r>
              <a:rPr lang="en-US" dirty="0"/>
              <a:t>   print('ID   :',</a:t>
            </a:r>
            <a:r>
              <a:rPr lang="en-US" dirty="0" err="1"/>
              <a:t>item.find</a:t>
            </a:r>
            <a:r>
              <a:rPr lang="en-US" dirty="0"/>
              <a:t>('id').text)</a:t>
            </a:r>
          </a:p>
          <a:p>
            <a:r>
              <a:rPr lang="en-US" dirty="0"/>
              <a:t>   print('Record:',</a:t>
            </a:r>
            <a:r>
              <a:rPr lang="en-US" dirty="0" err="1"/>
              <a:t>item.get</a:t>
            </a:r>
            <a:r>
              <a:rPr lang="en-US" dirty="0"/>
              <a:t>("x"))</a:t>
            </a:r>
          </a:p>
          <a:p>
            <a:r>
              <a:rPr lang="en-US" dirty="0"/>
              <a:t>   print()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F8548C-C82F-44FA-AE32-93674E12CEDB}"/>
              </a:ext>
            </a:extLst>
          </p:cNvPr>
          <p:cNvSpPr/>
          <p:nvPr/>
        </p:nvSpPr>
        <p:spPr>
          <a:xfrm>
            <a:off x="633413" y="1261466"/>
            <a:ext cx="433863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import </a:t>
            </a:r>
            <a:r>
              <a:rPr lang="en-US" sz="2000" dirty="0" err="1"/>
              <a:t>xml.etree.ElementTree</a:t>
            </a:r>
            <a:r>
              <a:rPr lang="en-US" sz="2000" dirty="0"/>
              <a:t> as ET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input = '''</a:t>
            </a:r>
          </a:p>
          <a:p>
            <a:r>
              <a:rPr lang="en-US" sz="2000" dirty="0"/>
              <a:t>&lt;student&gt;</a:t>
            </a:r>
          </a:p>
          <a:p>
            <a:r>
              <a:rPr lang="en-US" sz="2000" dirty="0"/>
              <a:t>    &lt;user x='1'&gt;</a:t>
            </a:r>
          </a:p>
          <a:p>
            <a:r>
              <a:rPr lang="en-US" sz="2000" dirty="0"/>
              <a:t>              &lt;id&gt;007&lt;/id&gt;</a:t>
            </a:r>
          </a:p>
          <a:p>
            <a:r>
              <a:rPr lang="en-US" sz="2000" dirty="0"/>
              <a:t>              &lt;name&gt;Virat&lt;/name&gt;</a:t>
            </a:r>
          </a:p>
          <a:p>
            <a:r>
              <a:rPr lang="en-US" sz="2000" dirty="0"/>
              <a:t>        &lt;/user&gt;</a:t>
            </a:r>
          </a:p>
          <a:p>
            <a:r>
              <a:rPr lang="en-US" sz="2000" dirty="0"/>
              <a:t>    &lt;user x='2'&gt;</a:t>
            </a:r>
          </a:p>
          <a:p>
            <a:r>
              <a:rPr lang="en-US" sz="2000" dirty="0"/>
              <a:t>	&lt;id&gt;010&lt;/id&gt;</a:t>
            </a:r>
          </a:p>
          <a:p>
            <a:r>
              <a:rPr lang="en-US" sz="2000" dirty="0"/>
              <a:t>	&lt;name&gt;Rohith&lt;/name&gt;</a:t>
            </a:r>
          </a:p>
          <a:p>
            <a:r>
              <a:rPr lang="en-US" sz="2000" dirty="0"/>
              <a:t>        &lt;/user&gt;</a:t>
            </a:r>
          </a:p>
          <a:p>
            <a:r>
              <a:rPr lang="en-US" sz="2000" dirty="0"/>
              <a:t>&lt;/student&gt;''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78EE84-77F8-4FD6-A7C5-46DF224BB57C}"/>
              </a:ext>
            </a:extLst>
          </p:cNvPr>
          <p:cNvSpPr/>
          <p:nvPr/>
        </p:nvSpPr>
        <p:spPr>
          <a:xfrm>
            <a:off x="9491662" y="4099263"/>
            <a:ext cx="246697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Name :  Virat</a:t>
            </a:r>
          </a:p>
          <a:p>
            <a:r>
              <a:rPr lang="en-US" dirty="0">
                <a:solidFill>
                  <a:schemeClr val="accent1"/>
                </a:solidFill>
              </a:rPr>
              <a:t>ID   : 007</a:t>
            </a:r>
          </a:p>
          <a:p>
            <a:r>
              <a:rPr lang="en-US" dirty="0">
                <a:solidFill>
                  <a:schemeClr val="accent1"/>
                </a:solidFill>
              </a:rPr>
              <a:t>Record: 1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Name :  Rohith</a:t>
            </a:r>
          </a:p>
          <a:p>
            <a:r>
              <a:rPr lang="en-US" dirty="0">
                <a:solidFill>
                  <a:schemeClr val="accent1"/>
                </a:solidFill>
              </a:rPr>
              <a:t>ID   : 010</a:t>
            </a:r>
          </a:p>
          <a:p>
            <a:r>
              <a:rPr lang="en-US" dirty="0">
                <a:solidFill>
                  <a:schemeClr val="accent1"/>
                </a:solidFill>
              </a:rPr>
              <a:t>Record: 2</a:t>
            </a:r>
          </a:p>
        </p:txBody>
      </p:sp>
      <p:pic>
        <p:nvPicPr>
          <p:cNvPr id="3" name="Google Shape;133;p27">
            <a:extLst>
              <a:ext uri="{FF2B5EF4-FFF2-40B4-BE49-F238E27FC236}">
                <a16:creationId xmlns:a16="http://schemas.microsoft.com/office/drawing/2014/main" id="{493CC7C9-C915-22BB-6F1E-71B1EA68603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16394" y="6341142"/>
            <a:ext cx="5875606" cy="46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445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0920"/>
    </mc:Choice>
    <mc:Fallback xmlns="">
      <p:transition spd="slow" advTm="240920"/>
    </mc:Fallback>
  </mc:AlternateContent>
</p:sld>
</file>

<file path=ppt/theme/theme1.xml><?xml version="1.0" encoding="utf-8"?>
<a:theme xmlns:a="http://schemas.openxmlformats.org/drawingml/2006/main" name="1_GRE LivePrep 02">
  <a:themeElements>
    <a:clrScheme name="GRE LivePre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13CB2"/>
      </a:accent1>
      <a:accent2>
        <a:srgbClr val="ED7D31"/>
      </a:accent2>
      <a:accent3>
        <a:srgbClr val="A5A5A5"/>
      </a:accent3>
      <a:accent4>
        <a:srgbClr val="FFF14E"/>
      </a:accent4>
      <a:accent5>
        <a:srgbClr val="ECF2FE"/>
      </a:accent5>
      <a:accent6>
        <a:srgbClr val="4679A7"/>
      </a:accent6>
      <a:hlink>
        <a:srgbClr val="0563C1"/>
      </a:hlink>
      <a:folHlink>
        <a:srgbClr val="954F72"/>
      </a:folHlink>
    </a:clrScheme>
    <a:fontScheme name="LivePrep Videos">
      <a:majorFont>
        <a:latin typeface="Google Sans"/>
        <a:ea typeface=""/>
        <a:cs typeface=""/>
      </a:majorFont>
      <a:minorFont>
        <a:latin typeface="Goog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1EBAF91B10FF49A748E66F98B802C4" ma:contentTypeVersion="12" ma:contentTypeDescription="Create a new document." ma:contentTypeScope="" ma:versionID="573f1e76536fef7292ab94622ef1d066">
  <xsd:schema xmlns:xsd="http://www.w3.org/2001/XMLSchema" xmlns:xs="http://www.w3.org/2001/XMLSchema" xmlns:p="http://schemas.microsoft.com/office/2006/metadata/properties" xmlns:ns3="1d05c8e8-1ef2-4880-80d8-e5ebcfdb3bf3" xmlns:ns4="e5f24933-e9b3-418b-8809-e586fcfca804" targetNamespace="http://schemas.microsoft.com/office/2006/metadata/properties" ma:root="true" ma:fieldsID="a3d38bbfb86e7995ff54e7ddc85a2eea" ns3:_="" ns4:_="">
    <xsd:import namespace="1d05c8e8-1ef2-4880-80d8-e5ebcfdb3bf3"/>
    <xsd:import namespace="e5f24933-e9b3-418b-8809-e586fcfca80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05c8e8-1ef2-4880-80d8-e5ebcfdb3bf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24933-e9b3-418b-8809-e586fcfca8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2C2941-FDF1-490B-987A-6CCA44794E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05c8e8-1ef2-4880-80d8-e5ebcfdb3bf3"/>
    <ds:schemaRef ds:uri="e5f24933-e9b3-418b-8809-e586fcfca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2BDBA70-171A-4E02-9D34-EB5D94EB4A40}">
  <ds:schemaRefs>
    <ds:schemaRef ds:uri="1d05c8e8-1ef2-4880-80d8-e5ebcfdb3bf3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e5f24933-e9b3-418b-8809-e586fcfca804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13418F7-EFF1-4972-9394-99DD94A4A1E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4033</TotalTime>
  <Words>2030</Words>
  <Application>Microsoft Office PowerPoint</Application>
  <PresentationFormat>Widescreen</PresentationFormat>
  <Paragraphs>295</Paragraphs>
  <Slides>29</Slides>
  <Notes>9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Courier New</vt:lpstr>
      <vt:lpstr>Google Sans</vt:lpstr>
      <vt:lpstr>Times New Roman</vt:lpstr>
      <vt:lpstr>Wingdings</vt:lpstr>
      <vt:lpstr>1_GRE LivePrep 02</vt:lpstr>
      <vt:lpstr>PowerPoint Presentation</vt:lpstr>
      <vt:lpstr>Introduction to JSON</vt:lpstr>
      <vt:lpstr>Introduction to JSON</vt:lpstr>
      <vt:lpstr>Structure of JSON</vt:lpstr>
      <vt:lpstr>PowerPoint Presentation</vt:lpstr>
      <vt:lpstr>JSON</vt:lpstr>
      <vt:lpstr>Converting JSON string into Python Dictionary object</vt:lpstr>
      <vt:lpstr>Reading JSON object from file </vt:lpstr>
      <vt:lpstr>Converting Python dictionary to JSON object</vt:lpstr>
      <vt:lpstr>dump()</vt:lpstr>
      <vt:lpstr>Writing JSON to a file</vt:lpstr>
      <vt:lpstr>PowerPoint Presentation</vt:lpstr>
      <vt:lpstr>Serialization and Deserialization</vt:lpstr>
      <vt:lpstr>Python objects and their equivalent conversion to JSON</vt:lpstr>
      <vt:lpstr>dumps()</vt:lpstr>
      <vt:lpstr>PowerPoint Presentation</vt:lpstr>
      <vt:lpstr>Reading JSON data from web</vt:lpstr>
      <vt:lpstr>Structure of the data by visiting the endpoint in a browser</vt:lpstr>
      <vt:lpstr>Implementation</vt:lpstr>
      <vt:lpstr>PowerPoint Presentation</vt:lpstr>
      <vt:lpstr>Introduction to XML</vt:lpstr>
      <vt:lpstr>Rules for XML</vt:lpstr>
      <vt:lpstr>What is a Parser?</vt:lpstr>
      <vt:lpstr>Lifecycle of XML parser</vt:lpstr>
      <vt:lpstr>Lifecycle of XML parser</vt:lpstr>
      <vt:lpstr>xml.etree.ElementTree module for Python</vt:lpstr>
      <vt:lpstr>PowerPoint Presentation</vt:lpstr>
      <vt:lpstr>Accessing XML data -1</vt:lpstr>
      <vt:lpstr>Accessing XML data -2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Verbal Reasoning</dc:title>
  <dc:creator>Deepti Abdullah</dc:creator>
  <cp:lastModifiedBy>Ganapathi Raju</cp:lastModifiedBy>
  <cp:revision>1518</cp:revision>
  <dcterms:created xsi:type="dcterms:W3CDTF">2019-01-25T09:00:17Z</dcterms:created>
  <dcterms:modified xsi:type="dcterms:W3CDTF">2025-10-28T02:23:30Z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0x0101006E1EBAF91B10FF49A748E66F98B802C4</vt:lpwstr>
  </property>
</Properties>
</file>