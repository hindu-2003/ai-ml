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708" r:id="rId2"/>
    <p:sldId id="710" r:id="rId3"/>
    <p:sldId id="691" r:id="rId4"/>
    <p:sldId id="700" r:id="rId5"/>
    <p:sldId id="698" r:id="rId6"/>
    <p:sldId id="699" r:id="rId7"/>
    <p:sldId id="701" r:id="rId8"/>
    <p:sldId id="704" r:id="rId9"/>
    <p:sldId id="702" r:id="rId10"/>
    <p:sldId id="703" r:id="rId11"/>
    <p:sldId id="705" r:id="rId12"/>
    <p:sldId id="706" r:id="rId13"/>
    <p:sldId id="707" r:id="rId14"/>
    <p:sldId id="730" r:id="rId15"/>
    <p:sldId id="731" r:id="rId16"/>
    <p:sldId id="575" r:id="rId17"/>
    <p:sldId id="572" r:id="rId18"/>
    <p:sldId id="521" r:id="rId19"/>
    <p:sldId id="525" r:id="rId20"/>
    <p:sldId id="529" r:id="rId21"/>
    <p:sldId id="576" r:id="rId22"/>
    <p:sldId id="530" r:id="rId23"/>
    <p:sldId id="578" r:id="rId24"/>
    <p:sldId id="531" r:id="rId25"/>
    <p:sldId id="540" r:id="rId26"/>
    <p:sldId id="541" r:id="rId27"/>
    <p:sldId id="542" r:id="rId28"/>
    <p:sldId id="580" r:id="rId29"/>
    <p:sldId id="53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napatiRaju Nadimpalli" initials="GN" lastIdx="1" clrIdx="0">
    <p:extLst>
      <p:ext uri="{19B8F6BF-5375-455C-9EA6-DF929625EA0E}">
        <p15:presenceInfo xmlns:p15="http://schemas.microsoft.com/office/powerpoint/2012/main" userId="d9f10cd8c1805c6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autoAdjust="0"/>
    <p:restoredTop sz="94660"/>
  </p:normalViewPr>
  <p:slideViewPr>
    <p:cSldViewPr snapToGrid="0">
      <p:cViewPr varScale="1">
        <p:scale>
          <a:sx n="82" d="100"/>
          <a:sy n="82" d="100"/>
        </p:scale>
        <p:origin x="76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CCE5D-B39B-41EF-8C01-4F721209B96E}" type="datetimeFigureOut">
              <a:rPr lang="en-US" smtClean="0"/>
              <a:t>4/28/2025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B1B0D-589E-436B-9E12-696F0017BD64}" type="slidenum">
              <a:rPr lang="en-US" smtClean="0"/>
              <a:t>‹#›</a:t>
            </a:fld>
            <a:endParaRPr lang="en-US"/>
          </a:p>
        </p:txBody>
      </p:sp>
    </p:spTree>
    <p:extLst>
      <p:ext uri="{BB962C8B-B14F-4D97-AF65-F5344CB8AC3E}">
        <p14:creationId xmlns:p14="http://schemas.microsoft.com/office/powerpoint/2010/main" val="3550989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3200">
                <a:solidFill>
                  <a:schemeClr val="tx1"/>
                </a:solidFill>
                <a:latin typeface="Palatino Linotype" charset="0"/>
                <a:ea typeface="ＭＳ Ｐゴシック" charset="0"/>
              </a:defRPr>
            </a:lvl1pPr>
            <a:lvl2pPr marL="742950" indent="-285750" defTabSz="990600" eaLnBrk="0" hangingPunct="0">
              <a:defRPr sz="3200">
                <a:solidFill>
                  <a:schemeClr val="tx1"/>
                </a:solidFill>
                <a:latin typeface="Palatino Linotype" charset="0"/>
                <a:ea typeface="ＭＳ Ｐゴシック" charset="0"/>
              </a:defRPr>
            </a:lvl2pPr>
            <a:lvl3pPr marL="1143000" indent="-228600" defTabSz="990600" eaLnBrk="0" hangingPunct="0">
              <a:defRPr sz="3200">
                <a:solidFill>
                  <a:schemeClr val="tx1"/>
                </a:solidFill>
                <a:latin typeface="Palatino Linotype" charset="0"/>
                <a:ea typeface="ＭＳ Ｐゴシック" charset="0"/>
              </a:defRPr>
            </a:lvl3pPr>
            <a:lvl4pPr marL="1600200" indent="-228600" defTabSz="990600" eaLnBrk="0" hangingPunct="0">
              <a:defRPr sz="3200">
                <a:solidFill>
                  <a:schemeClr val="tx1"/>
                </a:solidFill>
                <a:latin typeface="Palatino Linotype" charset="0"/>
                <a:ea typeface="ＭＳ Ｐゴシック" charset="0"/>
              </a:defRPr>
            </a:lvl4pPr>
            <a:lvl5pPr marL="2057400" indent="-228600" defTabSz="990600" eaLnBrk="0" hangingPunct="0">
              <a:defRPr sz="3200">
                <a:solidFill>
                  <a:schemeClr val="tx1"/>
                </a:solidFill>
                <a:latin typeface="Palatino Linotype" charset="0"/>
                <a:ea typeface="ＭＳ Ｐゴシック" charset="0"/>
              </a:defRPr>
            </a:lvl5pPr>
            <a:lvl6pPr marL="2514600" indent="-228600" defTabSz="990600" eaLnBrk="0" fontAlgn="base" hangingPunct="0">
              <a:spcBef>
                <a:spcPct val="0"/>
              </a:spcBef>
              <a:spcAft>
                <a:spcPct val="0"/>
              </a:spcAft>
              <a:defRPr sz="3200">
                <a:solidFill>
                  <a:schemeClr val="tx1"/>
                </a:solidFill>
                <a:latin typeface="Palatino Linotype" charset="0"/>
                <a:ea typeface="ＭＳ Ｐゴシック" charset="0"/>
              </a:defRPr>
            </a:lvl6pPr>
            <a:lvl7pPr marL="2971800" indent="-228600" defTabSz="990600" eaLnBrk="0" fontAlgn="base" hangingPunct="0">
              <a:spcBef>
                <a:spcPct val="0"/>
              </a:spcBef>
              <a:spcAft>
                <a:spcPct val="0"/>
              </a:spcAft>
              <a:defRPr sz="3200">
                <a:solidFill>
                  <a:schemeClr val="tx1"/>
                </a:solidFill>
                <a:latin typeface="Palatino Linotype" charset="0"/>
                <a:ea typeface="ＭＳ Ｐゴシック" charset="0"/>
              </a:defRPr>
            </a:lvl7pPr>
            <a:lvl8pPr marL="3429000" indent="-228600" defTabSz="990600" eaLnBrk="0" fontAlgn="base" hangingPunct="0">
              <a:spcBef>
                <a:spcPct val="0"/>
              </a:spcBef>
              <a:spcAft>
                <a:spcPct val="0"/>
              </a:spcAft>
              <a:defRPr sz="3200">
                <a:solidFill>
                  <a:schemeClr val="tx1"/>
                </a:solidFill>
                <a:latin typeface="Palatino Linotype" charset="0"/>
                <a:ea typeface="ＭＳ Ｐゴシック" charset="0"/>
              </a:defRPr>
            </a:lvl8pPr>
            <a:lvl9pPr marL="3886200" indent="-228600" defTabSz="990600" eaLnBrk="0" fontAlgn="base" hangingPunct="0">
              <a:spcBef>
                <a:spcPct val="0"/>
              </a:spcBef>
              <a:spcAft>
                <a:spcPct val="0"/>
              </a:spcAft>
              <a:defRPr sz="3200">
                <a:solidFill>
                  <a:schemeClr val="tx1"/>
                </a:solidFill>
                <a:latin typeface="Palatino Linotype" charset="0"/>
                <a:ea typeface="ＭＳ Ｐゴシック" charset="0"/>
              </a:defRPr>
            </a:lvl9pPr>
          </a:lstStyle>
          <a:p>
            <a:pPr eaLnBrk="1" hangingPunct="1"/>
            <a:fld id="{8E54F352-8704-1149-A585-EF65C50C0008}" type="slidenum">
              <a:rPr lang="tr-TR" sz="1300">
                <a:latin typeface="Arial" charset="0"/>
              </a:rPr>
              <a:pPr eaLnBrk="1" hangingPunct="1"/>
              <a:t>20</a:t>
            </a:fld>
            <a:endParaRPr lang="tr-TR" sz="130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4108">
              <a:defRPr kumimoji="1" sz="3500">
                <a:solidFill>
                  <a:schemeClr val="tx1"/>
                </a:solidFill>
                <a:latin typeface="Abadi MT Condensed Light" pitchFamily="34" charset="0"/>
              </a:defRPr>
            </a:lvl1pPr>
            <a:lvl2pPr marL="731286" indent="-281264" defTabSz="914108">
              <a:defRPr kumimoji="1" sz="3500">
                <a:solidFill>
                  <a:schemeClr val="tx1"/>
                </a:solidFill>
                <a:latin typeface="Abadi MT Condensed Light" pitchFamily="34" charset="0"/>
              </a:defRPr>
            </a:lvl2pPr>
            <a:lvl3pPr marL="1125055" indent="-225011" defTabSz="914108">
              <a:defRPr kumimoji="1" sz="3500">
                <a:solidFill>
                  <a:schemeClr val="tx1"/>
                </a:solidFill>
                <a:latin typeface="Abadi MT Condensed Light" pitchFamily="34" charset="0"/>
              </a:defRPr>
            </a:lvl3pPr>
            <a:lvl4pPr marL="1575077" indent="-225011" defTabSz="914108">
              <a:defRPr kumimoji="1" sz="3500">
                <a:solidFill>
                  <a:schemeClr val="tx1"/>
                </a:solidFill>
                <a:latin typeface="Abadi MT Condensed Light" pitchFamily="34" charset="0"/>
              </a:defRPr>
            </a:lvl4pPr>
            <a:lvl5pPr marL="2025099" indent="-225011" defTabSz="914108">
              <a:defRPr kumimoji="1" sz="3500">
                <a:solidFill>
                  <a:schemeClr val="tx1"/>
                </a:solidFill>
                <a:latin typeface="Abadi MT Condensed Light" pitchFamily="34" charset="0"/>
              </a:defRPr>
            </a:lvl5pPr>
            <a:lvl6pPr marL="2475121" indent="-225011" defTabSz="914108" eaLnBrk="0" fontAlgn="base" hangingPunct="0">
              <a:spcBef>
                <a:spcPct val="0"/>
              </a:spcBef>
              <a:spcAft>
                <a:spcPct val="0"/>
              </a:spcAft>
              <a:defRPr kumimoji="1" sz="3500">
                <a:solidFill>
                  <a:schemeClr val="tx1"/>
                </a:solidFill>
                <a:latin typeface="Abadi MT Condensed Light" pitchFamily="34" charset="0"/>
              </a:defRPr>
            </a:lvl6pPr>
            <a:lvl7pPr marL="2925143" indent="-225011" defTabSz="914108" eaLnBrk="0" fontAlgn="base" hangingPunct="0">
              <a:spcBef>
                <a:spcPct val="0"/>
              </a:spcBef>
              <a:spcAft>
                <a:spcPct val="0"/>
              </a:spcAft>
              <a:defRPr kumimoji="1" sz="3500">
                <a:solidFill>
                  <a:schemeClr val="tx1"/>
                </a:solidFill>
                <a:latin typeface="Abadi MT Condensed Light" pitchFamily="34" charset="0"/>
              </a:defRPr>
            </a:lvl7pPr>
            <a:lvl8pPr marL="3375165" indent="-225011" defTabSz="914108" eaLnBrk="0" fontAlgn="base" hangingPunct="0">
              <a:spcBef>
                <a:spcPct val="0"/>
              </a:spcBef>
              <a:spcAft>
                <a:spcPct val="0"/>
              </a:spcAft>
              <a:defRPr kumimoji="1" sz="3500">
                <a:solidFill>
                  <a:schemeClr val="tx1"/>
                </a:solidFill>
                <a:latin typeface="Abadi MT Condensed Light" pitchFamily="34" charset="0"/>
              </a:defRPr>
            </a:lvl8pPr>
            <a:lvl9pPr marL="3825187" indent="-225011" defTabSz="914108" eaLnBrk="0" fontAlgn="base" hangingPunct="0">
              <a:spcBef>
                <a:spcPct val="0"/>
              </a:spcBef>
              <a:spcAft>
                <a:spcPct val="0"/>
              </a:spcAft>
              <a:defRPr kumimoji="1" sz="3500">
                <a:solidFill>
                  <a:schemeClr val="tx1"/>
                </a:solidFill>
                <a:latin typeface="Abadi MT Condensed Light" pitchFamily="34" charset="0"/>
              </a:defRPr>
            </a:lvl9pPr>
          </a:lstStyle>
          <a:p>
            <a:fld id="{D440305D-77D7-4760-ACED-24EB13A2970E}" type="slidenum">
              <a:rPr kumimoji="0" lang="en-US" altLang="en-US" sz="1200">
                <a:latin typeface="Times New Roman" pitchFamily="18" charset="0"/>
              </a:rPr>
              <a:pPr/>
              <a:t>21</a:t>
            </a:fld>
            <a:endParaRPr kumimoji="0" lang="en-US" altLang="en-US" sz="1200">
              <a:latin typeface="Times New Roman"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4108">
              <a:defRPr kumimoji="1" sz="3500">
                <a:solidFill>
                  <a:schemeClr val="tx1"/>
                </a:solidFill>
                <a:latin typeface="Abadi MT Condensed Light" pitchFamily="34" charset="0"/>
              </a:defRPr>
            </a:lvl1pPr>
            <a:lvl2pPr marL="731286" indent="-281264" defTabSz="914108">
              <a:defRPr kumimoji="1" sz="3500">
                <a:solidFill>
                  <a:schemeClr val="tx1"/>
                </a:solidFill>
                <a:latin typeface="Abadi MT Condensed Light" pitchFamily="34" charset="0"/>
              </a:defRPr>
            </a:lvl2pPr>
            <a:lvl3pPr marL="1125055" indent="-225011" defTabSz="914108">
              <a:defRPr kumimoji="1" sz="3500">
                <a:solidFill>
                  <a:schemeClr val="tx1"/>
                </a:solidFill>
                <a:latin typeface="Abadi MT Condensed Light" pitchFamily="34" charset="0"/>
              </a:defRPr>
            </a:lvl3pPr>
            <a:lvl4pPr marL="1575077" indent="-225011" defTabSz="914108">
              <a:defRPr kumimoji="1" sz="3500">
                <a:solidFill>
                  <a:schemeClr val="tx1"/>
                </a:solidFill>
                <a:latin typeface="Abadi MT Condensed Light" pitchFamily="34" charset="0"/>
              </a:defRPr>
            </a:lvl4pPr>
            <a:lvl5pPr marL="2025099" indent="-225011" defTabSz="914108">
              <a:defRPr kumimoji="1" sz="3500">
                <a:solidFill>
                  <a:schemeClr val="tx1"/>
                </a:solidFill>
                <a:latin typeface="Abadi MT Condensed Light" pitchFamily="34" charset="0"/>
              </a:defRPr>
            </a:lvl5pPr>
            <a:lvl6pPr marL="2475121" indent="-225011" defTabSz="914108" eaLnBrk="0" fontAlgn="base" hangingPunct="0">
              <a:spcBef>
                <a:spcPct val="0"/>
              </a:spcBef>
              <a:spcAft>
                <a:spcPct val="0"/>
              </a:spcAft>
              <a:defRPr kumimoji="1" sz="3500">
                <a:solidFill>
                  <a:schemeClr val="tx1"/>
                </a:solidFill>
                <a:latin typeface="Abadi MT Condensed Light" pitchFamily="34" charset="0"/>
              </a:defRPr>
            </a:lvl6pPr>
            <a:lvl7pPr marL="2925143" indent="-225011" defTabSz="914108" eaLnBrk="0" fontAlgn="base" hangingPunct="0">
              <a:spcBef>
                <a:spcPct val="0"/>
              </a:spcBef>
              <a:spcAft>
                <a:spcPct val="0"/>
              </a:spcAft>
              <a:defRPr kumimoji="1" sz="3500">
                <a:solidFill>
                  <a:schemeClr val="tx1"/>
                </a:solidFill>
                <a:latin typeface="Abadi MT Condensed Light" pitchFamily="34" charset="0"/>
              </a:defRPr>
            </a:lvl7pPr>
            <a:lvl8pPr marL="3375165" indent="-225011" defTabSz="914108" eaLnBrk="0" fontAlgn="base" hangingPunct="0">
              <a:spcBef>
                <a:spcPct val="0"/>
              </a:spcBef>
              <a:spcAft>
                <a:spcPct val="0"/>
              </a:spcAft>
              <a:defRPr kumimoji="1" sz="3500">
                <a:solidFill>
                  <a:schemeClr val="tx1"/>
                </a:solidFill>
                <a:latin typeface="Abadi MT Condensed Light" pitchFamily="34" charset="0"/>
              </a:defRPr>
            </a:lvl8pPr>
            <a:lvl9pPr marL="3825187" indent="-225011" defTabSz="914108" eaLnBrk="0" fontAlgn="base" hangingPunct="0">
              <a:spcBef>
                <a:spcPct val="0"/>
              </a:spcBef>
              <a:spcAft>
                <a:spcPct val="0"/>
              </a:spcAft>
              <a:defRPr kumimoji="1" sz="3500">
                <a:solidFill>
                  <a:schemeClr val="tx1"/>
                </a:solidFill>
                <a:latin typeface="Abadi MT Condensed Light" pitchFamily="34" charset="0"/>
              </a:defRPr>
            </a:lvl9pPr>
          </a:lstStyle>
          <a:p>
            <a:fld id="{39F2FC29-6888-41C3-BBFE-6A6122F19FA4}" type="slidenum">
              <a:rPr kumimoji="0" lang="en-US" altLang="en-US" sz="1200">
                <a:latin typeface="Times New Roman" pitchFamily="18" charset="0"/>
              </a:rPr>
              <a:pPr/>
              <a:t>23</a:t>
            </a:fld>
            <a:endParaRPr kumimoji="0" lang="en-US" altLang="en-US" sz="1200">
              <a:latin typeface="Times New Roman"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D912-63E3-41FE-8709-B972E40740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7CAEAC-205B-4F31-BF00-9BA0B1536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E4EE40-8054-49F7-9CD0-6F3715C93B8C}"/>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5" name="Footer Placeholder 4">
            <a:extLst>
              <a:ext uri="{FF2B5EF4-FFF2-40B4-BE49-F238E27FC236}">
                <a16:creationId xmlns:a16="http://schemas.microsoft.com/office/drawing/2014/main" id="{9475D998-8CDB-479A-8CA9-98276B4083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B7099-771B-43EB-ACCC-878C43BEE0E5}"/>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89600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0864-095F-44F9-B204-8E877E0A28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6B7187-0484-42D4-96AF-6931119118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21B64-F3A3-4F74-8B81-E673943D9E95}"/>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5" name="Footer Placeholder 4">
            <a:extLst>
              <a:ext uri="{FF2B5EF4-FFF2-40B4-BE49-F238E27FC236}">
                <a16:creationId xmlns:a16="http://schemas.microsoft.com/office/drawing/2014/main" id="{F2DF36FD-4C82-4A62-A091-576CE32219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62825C-C0E7-462C-B2C1-7A8EB5B8C539}"/>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906151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8B3C-A7F9-4D97-800E-25F4AAF956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AAE67-D713-47BB-B863-03975F646F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1D1E49-3C4C-4B35-A3A3-EDC7A56463AB}"/>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5" name="Footer Placeholder 4">
            <a:extLst>
              <a:ext uri="{FF2B5EF4-FFF2-40B4-BE49-F238E27FC236}">
                <a16:creationId xmlns:a16="http://schemas.microsoft.com/office/drawing/2014/main" id="{332B648A-C44F-4807-B797-F67B338F6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E50A3-5692-49C1-8950-2C6EECACA92A}"/>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03241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BDDA-36A7-44B0-9398-9C8CA7904A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E68ADD-4521-47BC-B302-4167DA9FE0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6CF162-AD6B-46E6-8F7E-0C593CA908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D71D3D-6CAA-4B69-930F-DFE2881D3190}"/>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6" name="Footer Placeholder 5">
            <a:extLst>
              <a:ext uri="{FF2B5EF4-FFF2-40B4-BE49-F238E27FC236}">
                <a16:creationId xmlns:a16="http://schemas.microsoft.com/office/drawing/2014/main" id="{47160CF4-BA97-4D73-9C10-943473D1B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C7B0F-6E16-4537-BE9B-9D45E0103140}"/>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507924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F51D-E22B-4C73-929D-3B9B9AB4A6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26D1F8-9B3A-4B49-BA7C-19EA8DEA95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B8F2DA-EB39-4845-8B34-622F273AD1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14613E-997C-41A1-B557-2B801BFC2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FA3ABD-CCCC-4D67-ADAC-CDF709DDC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8ACB99-0697-4B75-8104-CFB78CD0C1B9}"/>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8" name="Footer Placeholder 7">
            <a:extLst>
              <a:ext uri="{FF2B5EF4-FFF2-40B4-BE49-F238E27FC236}">
                <a16:creationId xmlns:a16="http://schemas.microsoft.com/office/drawing/2014/main" id="{3EE20A3E-BAD3-497A-AEAC-755AC22C1D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2303E4-B860-478A-9D68-F5977994C0AC}"/>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01932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5C197-7ABB-48B1-AF7F-161856CAC9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77841D-D759-41BB-A4C9-6CAE8EF31E59}"/>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4" name="Footer Placeholder 3">
            <a:extLst>
              <a:ext uri="{FF2B5EF4-FFF2-40B4-BE49-F238E27FC236}">
                <a16:creationId xmlns:a16="http://schemas.microsoft.com/office/drawing/2014/main" id="{574B8C1C-4608-429B-93E5-AC41A469E9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2268F7-2B35-4AF3-A6E5-B41A724A7E78}"/>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253249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E2EDD0-A3A6-4DAD-A411-8370AB907770}"/>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3" name="Footer Placeholder 2">
            <a:extLst>
              <a:ext uri="{FF2B5EF4-FFF2-40B4-BE49-F238E27FC236}">
                <a16:creationId xmlns:a16="http://schemas.microsoft.com/office/drawing/2014/main" id="{C1F9F723-619D-486C-8B20-57E2CE3AFF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DC94DF-9E1D-41CA-AF11-B39DAB477503}"/>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88522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58B6-C084-46B7-87FF-FCE2454F0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FC0463-6B84-4972-A403-1E0BDB893B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83DD6A-3012-4A6D-827B-408CDC3D4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58BE0-A78F-4742-81DC-704F9E56CEF7}"/>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6" name="Footer Placeholder 5">
            <a:extLst>
              <a:ext uri="{FF2B5EF4-FFF2-40B4-BE49-F238E27FC236}">
                <a16:creationId xmlns:a16="http://schemas.microsoft.com/office/drawing/2014/main" id="{1BBC1A93-DC56-4C2A-AF67-33DBFB41D6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4D976-C3DD-4FA9-BA07-4218F79190A0}"/>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667215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6604-F25C-4174-9436-F10FD8192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B4EB0F-610D-40AE-B89D-241EC0E5F1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49229C-2A98-4F68-A68A-09566E859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5D1188-30FE-4F17-BEDE-5C3694851D1E}"/>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6" name="Footer Placeholder 5">
            <a:extLst>
              <a:ext uri="{FF2B5EF4-FFF2-40B4-BE49-F238E27FC236}">
                <a16:creationId xmlns:a16="http://schemas.microsoft.com/office/drawing/2014/main" id="{19AEB850-0C36-4A22-B079-D998C5CBAA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C7874-4130-46BF-8651-5E990084B6C4}"/>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36406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085A1-5218-47FC-B6BB-B8913FACD5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195DF7-134F-40E3-BBA2-F626A990AC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BA54E-B2F1-45BA-9141-571A8DF112CF}"/>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5" name="Footer Placeholder 4">
            <a:extLst>
              <a:ext uri="{FF2B5EF4-FFF2-40B4-BE49-F238E27FC236}">
                <a16:creationId xmlns:a16="http://schemas.microsoft.com/office/drawing/2014/main" id="{AE0308AD-692F-47BA-BD4F-8BA82E903F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EDC02-373B-4840-9214-D3E4DC4A1C24}"/>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388596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BD648-3E13-45FA-8D71-4BB30A7CBA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869380-8F1B-44F0-8255-C7E7250EB1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AE7EAA-8738-4C9E-A293-CCC06B48C0FC}"/>
              </a:ext>
            </a:extLst>
          </p:cNvPr>
          <p:cNvSpPr>
            <a:spLocks noGrp="1"/>
          </p:cNvSpPr>
          <p:nvPr>
            <p:ph type="dt" sz="half" idx="10"/>
          </p:nvPr>
        </p:nvSpPr>
        <p:spPr/>
        <p:txBody>
          <a:bodyPr/>
          <a:lstStyle/>
          <a:p>
            <a:fld id="{D4CA0B54-205F-424F-8473-9E7B386C941A}" type="datetimeFigureOut">
              <a:rPr lang="en-US" smtClean="0"/>
              <a:t>4/28/2025</a:t>
            </a:fld>
            <a:endParaRPr lang="en-US"/>
          </a:p>
        </p:txBody>
      </p:sp>
      <p:sp>
        <p:nvSpPr>
          <p:cNvPr id="5" name="Footer Placeholder 4">
            <a:extLst>
              <a:ext uri="{FF2B5EF4-FFF2-40B4-BE49-F238E27FC236}">
                <a16:creationId xmlns:a16="http://schemas.microsoft.com/office/drawing/2014/main" id="{0D19A517-3D92-4DCC-A6FD-21C5E75440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B822C-4A1D-4E61-BCB0-0ACFC7674737}"/>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7957861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B661FB50-D1F8-034E-98C4-3940C4910421}" type="slidenum">
              <a:rPr lang="en-US"/>
              <a:pPr/>
              <a:t>‹#›</a:t>
            </a:fld>
            <a:endParaRPr lang="en-US"/>
          </a:p>
        </p:txBody>
      </p:sp>
    </p:spTree>
    <p:extLst>
      <p:ext uri="{BB962C8B-B14F-4D97-AF65-F5344CB8AC3E}">
        <p14:creationId xmlns:p14="http://schemas.microsoft.com/office/powerpoint/2010/main" val="2207744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5C7D45-FAB3-4B26-BF1A-4CABB107A7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13B396-DD94-4675-B453-50F45BA994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EC511-3182-4223-8050-0C86D0B21E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CA0B54-205F-424F-8473-9E7B386C941A}" type="datetimeFigureOut">
              <a:rPr lang="en-US" smtClean="0"/>
              <a:t>4/28/2025</a:t>
            </a:fld>
            <a:endParaRPr lang="en-US"/>
          </a:p>
        </p:txBody>
      </p:sp>
      <p:sp>
        <p:nvSpPr>
          <p:cNvPr id="5" name="Footer Placeholder 4">
            <a:extLst>
              <a:ext uri="{FF2B5EF4-FFF2-40B4-BE49-F238E27FC236}">
                <a16:creationId xmlns:a16="http://schemas.microsoft.com/office/drawing/2014/main" id="{DB2C7999-BF3F-438D-A1BE-0CC72B4177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99A727-BE08-4517-B910-9B033712B0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3C825F-A010-48C1-90C2-DBB3B4D4B2FA}" type="slidenum">
              <a:rPr lang="en-US" smtClean="0"/>
              <a:t>‹#›</a:t>
            </a:fld>
            <a:endParaRPr lang="en-US"/>
          </a:p>
        </p:txBody>
      </p:sp>
    </p:spTree>
    <p:extLst>
      <p:ext uri="{BB962C8B-B14F-4D97-AF65-F5344CB8AC3E}">
        <p14:creationId xmlns:p14="http://schemas.microsoft.com/office/powerpoint/2010/main" val="1862943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3089-89A6-08E1-1EA3-FC1E7A579085}"/>
              </a:ext>
            </a:extLst>
          </p:cNvPr>
          <p:cNvSpPr>
            <a:spLocks noGrp="1"/>
          </p:cNvSpPr>
          <p:nvPr>
            <p:ph type="ctrTitle"/>
          </p:nvPr>
        </p:nvSpPr>
        <p:spPr>
          <a:xfrm>
            <a:off x="1909869" y="2090432"/>
            <a:ext cx="9144000" cy="886033"/>
          </a:xfrm>
        </p:spPr>
        <p:txBody>
          <a:bodyPr>
            <a:normAutofit/>
          </a:bodyPr>
          <a:lstStyle/>
          <a:p>
            <a:r>
              <a:rPr lang="en-US" sz="4400" b="1" dirty="0">
                <a:solidFill>
                  <a:srgbClr val="0070C0"/>
                </a:solidFill>
              </a:rPr>
              <a:t>Machine Learning</a:t>
            </a:r>
          </a:p>
        </p:txBody>
      </p:sp>
      <p:sp>
        <p:nvSpPr>
          <p:cNvPr id="3" name="Subtitle 2">
            <a:extLst>
              <a:ext uri="{FF2B5EF4-FFF2-40B4-BE49-F238E27FC236}">
                <a16:creationId xmlns:a16="http://schemas.microsoft.com/office/drawing/2014/main" id="{336F4FEB-73EB-4E12-3888-C4C74546CAEE}"/>
              </a:ext>
            </a:extLst>
          </p:cNvPr>
          <p:cNvSpPr>
            <a:spLocks noGrp="1"/>
          </p:cNvSpPr>
          <p:nvPr>
            <p:ph type="subTitle" idx="1"/>
          </p:nvPr>
        </p:nvSpPr>
        <p:spPr>
          <a:xfrm>
            <a:off x="1794994" y="3274490"/>
            <a:ext cx="9144000" cy="929678"/>
          </a:xfrm>
        </p:spPr>
        <p:txBody>
          <a:bodyPr>
            <a:normAutofit/>
          </a:bodyPr>
          <a:lstStyle/>
          <a:p>
            <a:r>
              <a:rPr lang="en-US" sz="3200" dirty="0">
                <a:solidFill>
                  <a:schemeClr val="accent1"/>
                </a:solidFill>
              </a:rPr>
              <a:t>Data Preprocessing</a:t>
            </a:r>
          </a:p>
          <a:p>
            <a:endParaRPr lang="en-US" dirty="0">
              <a:solidFill>
                <a:srgbClr val="0070C0"/>
              </a:solidFill>
            </a:endParaRPr>
          </a:p>
        </p:txBody>
      </p:sp>
    </p:spTree>
    <p:extLst>
      <p:ext uri="{BB962C8B-B14F-4D97-AF65-F5344CB8AC3E}">
        <p14:creationId xmlns:p14="http://schemas.microsoft.com/office/powerpoint/2010/main" val="2906242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C8F1DB-1C92-4DD2-BA4D-5CD46A6AA91C}"/>
              </a:ext>
            </a:extLst>
          </p:cNvPr>
          <p:cNvSpPr/>
          <p:nvPr/>
        </p:nvSpPr>
        <p:spPr>
          <a:xfrm>
            <a:off x="458287" y="250584"/>
            <a:ext cx="10872322" cy="584775"/>
          </a:xfrm>
          <a:prstGeom prst="rect">
            <a:avLst/>
          </a:prstGeom>
        </p:spPr>
        <p:txBody>
          <a:bodyPr wrap="square">
            <a:spAutoFit/>
          </a:bodyPr>
          <a:lstStyle/>
          <a:p>
            <a:pPr algn="ctr"/>
            <a:r>
              <a:rPr lang="en-US" sz="3200" b="1" dirty="0">
                <a:solidFill>
                  <a:schemeClr val="accent2">
                    <a:lumMod val="75000"/>
                  </a:schemeClr>
                </a:solidFill>
                <a:latin typeface="Cambria" panose="02040503050406030204" pitchFamily="18" charset="0"/>
                <a:cs typeface="Times New Roman" panose="02020603050405020304" pitchFamily="18" charset="0"/>
              </a:rPr>
              <a:t>Steps in Data Science</a:t>
            </a:r>
            <a:endParaRPr lang="en-US" sz="2000" b="1" dirty="0">
              <a:solidFill>
                <a:schemeClr val="accent2">
                  <a:lumMod val="75000"/>
                </a:schemeClr>
              </a:solidFill>
              <a:latin typeface="Cambria" panose="020405030504060302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E762FE0-1A26-4ED4-91A2-EECA8CEF51F5}"/>
              </a:ext>
            </a:extLst>
          </p:cNvPr>
          <p:cNvSpPr/>
          <p:nvPr/>
        </p:nvSpPr>
        <p:spPr>
          <a:xfrm>
            <a:off x="1086678" y="1384595"/>
            <a:ext cx="5009322" cy="3884333"/>
          </a:xfrm>
          <a:prstGeom prst="rect">
            <a:avLst/>
          </a:prstGeom>
        </p:spPr>
        <p:txBody>
          <a:bodyPr wrap="square">
            <a:spAutoFit/>
          </a:bodyPr>
          <a:lstStyle/>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Problem Identification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Collection/Generation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Preprocessing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Exploration </a:t>
            </a:r>
            <a:r>
              <a:rPr lang="en-US" sz="1600" dirty="0">
                <a:solidFill>
                  <a:schemeClr val="accent1">
                    <a:lumMod val="50000"/>
                  </a:schemeClr>
                </a:solidFill>
                <a:latin typeface="Cambria" panose="02040503050406030204" pitchFamily="18" charset="0"/>
                <a:cs typeface="Times New Roman" panose="02020603050405020304" pitchFamily="18" charset="0"/>
              </a:rPr>
              <a:t>(EDA)</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Building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Evaluation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Analyze Results</a:t>
            </a:r>
            <a:endParaRPr lang="en-US" sz="1400" dirty="0">
              <a:solidFill>
                <a:schemeClr val="accent1">
                  <a:lumMod val="50000"/>
                </a:schemeClr>
              </a:solidFill>
              <a:latin typeface="Cambria" panose="020405030504060302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1943B2FF-059A-46F2-B069-5B87CCF5241E}"/>
              </a:ext>
            </a:extLst>
          </p:cNvPr>
          <p:cNvSpPr/>
          <p:nvPr/>
        </p:nvSpPr>
        <p:spPr>
          <a:xfrm>
            <a:off x="6336791" y="1357664"/>
            <a:ext cx="3992197" cy="3955442"/>
          </a:xfrm>
          <a:prstGeom prst="rect">
            <a:avLst/>
          </a:prstGeom>
        </p:spPr>
        <p:txBody>
          <a:bodyPr wrap="square">
            <a:spAutoFit/>
          </a:bodyPr>
          <a:lstStyle/>
          <a:p>
            <a:pPr algn="just">
              <a:lnSpc>
                <a:spcPct val="200000"/>
              </a:lnSpc>
            </a:pPr>
            <a:r>
              <a:rPr lang="en-US" sz="1600" b="1" dirty="0">
                <a:solidFill>
                  <a:schemeClr val="accent1">
                    <a:lumMod val="50000"/>
                  </a:schemeClr>
                </a:solidFill>
                <a:latin typeface="Cambria" panose="02040503050406030204" pitchFamily="18" charset="0"/>
                <a:cs typeface="Times New Roman" panose="02020603050405020304" pitchFamily="18" charset="0"/>
              </a:rPr>
              <a:t>Data Wrangling / Munging</a:t>
            </a:r>
            <a:r>
              <a:rPr lang="en-US" sz="1600" b="1" dirty="0">
                <a:solidFill>
                  <a:schemeClr val="accent1">
                    <a:lumMod val="50000"/>
                  </a:schemeClr>
                </a:solidFill>
                <a:latin typeface="Cambria" panose="02040503050406030204" pitchFamily="18" charset="0"/>
              </a:rPr>
              <a:t> </a:t>
            </a:r>
            <a:endParaRPr lang="en-US" sz="1600" b="1" dirty="0">
              <a:solidFill>
                <a:schemeClr val="accent1">
                  <a:lumMod val="50000"/>
                </a:schemeClr>
              </a:solidFill>
              <a:latin typeface="Cambria" panose="02040503050406030204" pitchFamily="18" charset="0"/>
              <a:cs typeface="Times New Roman" panose="02020603050405020304" pitchFamily="18" charset="0"/>
            </a:endParaRP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Imputation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Integration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Encoding / Decoding</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Outlier Analysis</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Transformation / Normalization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Dimensionality Reduction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Feature Engineering</a:t>
            </a:r>
          </a:p>
        </p:txBody>
      </p:sp>
      <p:sp>
        <p:nvSpPr>
          <p:cNvPr id="2" name="Footer Placeholder 1">
            <a:extLst>
              <a:ext uri="{FF2B5EF4-FFF2-40B4-BE49-F238E27FC236}">
                <a16:creationId xmlns:a16="http://schemas.microsoft.com/office/drawing/2014/main" id="{BCECF0DD-4BEE-C591-98B0-A9FE73DD1CB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220928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B5240A-98F7-472C-BBEC-52CD0F9F94F4}"/>
              </a:ext>
            </a:extLst>
          </p:cNvPr>
          <p:cNvSpPr/>
          <p:nvPr/>
        </p:nvSpPr>
        <p:spPr>
          <a:xfrm>
            <a:off x="204717" y="592344"/>
            <a:ext cx="11191164" cy="5653920"/>
          </a:xfrm>
          <a:prstGeom prst="rect">
            <a:avLst/>
          </a:prstGeom>
        </p:spPr>
        <p:txBody>
          <a:bodyPr wrap="square">
            <a:spAutoFit/>
          </a:bodyPr>
          <a:lstStyle/>
          <a:p>
            <a:pPr algn="ctr">
              <a:lnSpc>
                <a:spcPts val="1800"/>
              </a:lnSpc>
              <a:spcAft>
                <a:spcPts val="648"/>
              </a:spcAft>
            </a:pPr>
            <a:r>
              <a:rPr lang="en-US" sz="4400" b="1" dirty="0">
                <a:solidFill>
                  <a:schemeClr val="accent2">
                    <a:lumMod val="75000"/>
                  </a:schemeClr>
                </a:solidFill>
                <a:latin typeface="Cambria" panose="02040503050406030204" pitchFamily="18" charset="0"/>
              </a:rPr>
              <a:t>Vocabulary</a:t>
            </a:r>
            <a:endParaRPr lang="en-US" sz="3600" b="1" dirty="0">
              <a:solidFill>
                <a:schemeClr val="accent2">
                  <a:lumMod val="75000"/>
                </a:schemeClr>
              </a:solidFill>
              <a:latin typeface="Cambria" panose="02040503050406030204" pitchFamily="18" charset="0"/>
            </a:endParaRP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Target: </a:t>
            </a:r>
            <a:r>
              <a:rPr lang="en-US" sz="2000" dirty="0">
                <a:solidFill>
                  <a:schemeClr val="accent1">
                    <a:lumMod val="50000"/>
                  </a:schemeClr>
                </a:solidFill>
                <a:latin typeface="Cambria" panose="02040503050406030204" pitchFamily="18" charset="0"/>
                <a:cs typeface="Times New Roman" panose="02020603050405020304" pitchFamily="18" charset="0"/>
              </a:rPr>
              <a:t>Predicted category or value of the data (discrete / continuous) </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Column to be predicted </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Response, Output, Dependent Variable, Labels </a:t>
            </a: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Features: </a:t>
            </a:r>
            <a:r>
              <a:rPr lang="en-US" sz="2000" dirty="0">
                <a:solidFill>
                  <a:schemeClr val="accent1">
                    <a:lumMod val="50000"/>
                  </a:schemeClr>
                </a:solidFill>
                <a:latin typeface="Cambria" panose="02040503050406030204" pitchFamily="18" charset="0"/>
                <a:cs typeface="Times New Roman" panose="02020603050405020304" pitchFamily="18" charset="0"/>
              </a:rPr>
              <a:t>Properties of the data used for prediction</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Non-Target columns </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Predictors, Input, Independent var, attributes </a:t>
            </a: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Example: </a:t>
            </a:r>
            <a:r>
              <a:rPr lang="en-US" sz="2000" dirty="0">
                <a:solidFill>
                  <a:schemeClr val="accent1">
                    <a:lumMod val="50000"/>
                  </a:schemeClr>
                </a:solidFill>
                <a:latin typeface="Cambria" panose="02040503050406030204" pitchFamily="18" charset="0"/>
                <a:cs typeface="Times New Roman" panose="02020603050405020304" pitchFamily="18" charset="0"/>
              </a:rPr>
              <a:t>a single data point within the data (one row)</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Observations, Record, Instance, row, data points </a:t>
            </a: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Label: </a:t>
            </a:r>
            <a:r>
              <a:rPr lang="en-US" sz="2000" dirty="0">
                <a:solidFill>
                  <a:schemeClr val="accent1">
                    <a:lumMod val="50000"/>
                  </a:schemeClr>
                </a:solidFill>
                <a:latin typeface="Cambria" panose="02040503050406030204" pitchFamily="18" charset="0"/>
                <a:cs typeface="Times New Roman" panose="02020603050405020304" pitchFamily="18" charset="0"/>
              </a:rPr>
              <a:t>The target value for a single data point</a:t>
            </a:r>
          </a:p>
          <a:p>
            <a:pPr>
              <a:lnSpc>
                <a:spcPct val="150000"/>
              </a:lnSpc>
            </a:pPr>
            <a:r>
              <a:rPr lang="en-US" sz="2000" dirty="0">
                <a:solidFill>
                  <a:schemeClr val="accent1">
                    <a:lumMod val="50000"/>
                  </a:schemeClr>
                </a:solidFill>
                <a:latin typeface="Cambria" panose="02040503050406030204" pitchFamily="18" charset="0"/>
                <a:cs typeface="Times New Roman" panose="02020603050405020304" pitchFamily="18" charset="0"/>
              </a:rPr>
              <a:t>                  answer, Category, Y axis </a:t>
            </a:r>
          </a:p>
        </p:txBody>
      </p:sp>
      <p:pic>
        <p:nvPicPr>
          <p:cNvPr id="4" name="Content Placeholder 3">
            <a:extLst>
              <a:ext uri="{FF2B5EF4-FFF2-40B4-BE49-F238E27FC236}">
                <a16:creationId xmlns:a16="http://schemas.microsoft.com/office/drawing/2014/main" id="{49E1A4CE-794F-457D-B155-BCF7DC5EBF89}"/>
              </a:ext>
            </a:extLst>
          </p:cNvPr>
          <p:cNvPicPr>
            <a:picLocks noChangeAspect="1"/>
          </p:cNvPicPr>
          <p:nvPr/>
        </p:nvPicPr>
        <p:blipFill>
          <a:blip r:embed="rId2"/>
          <a:stretch>
            <a:fillRect/>
          </a:stretch>
        </p:blipFill>
        <p:spPr>
          <a:xfrm>
            <a:off x="7203851" y="2014330"/>
            <a:ext cx="4783432" cy="2507569"/>
          </a:xfrm>
          <a:prstGeom prst="rect">
            <a:avLst/>
          </a:prstGeom>
        </p:spPr>
      </p:pic>
      <p:sp>
        <p:nvSpPr>
          <p:cNvPr id="5" name="Footer Placeholder 4">
            <a:extLst>
              <a:ext uri="{FF2B5EF4-FFF2-40B4-BE49-F238E27FC236}">
                <a16:creationId xmlns:a16="http://schemas.microsoft.com/office/drawing/2014/main" id="{EEBD285F-5CDD-08AF-F339-266E86D6A604}"/>
              </a:ext>
            </a:extLst>
          </p:cNvPr>
          <p:cNvSpPr>
            <a:spLocks noGrp="1"/>
          </p:cNvSpPr>
          <p:nvPr>
            <p:ph type="ftr" sz="quarter" idx="11"/>
          </p:nvPr>
        </p:nvSpPr>
        <p:spPr/>
        <p:txBody>
          <a:bodyPr/>
          <a:lstStyle/>
          <a:p>
            <a:r>
              <a:rPr lang="it-IT" b="1">
                <a:solidFill>
                  <a:schemeClr val="accent1">
                    <a:lumMod val="50000"/>
                  </a:schemeClr>
                </a:solidFill>
                <a:latin typeface="Cambria" panose="02040503050406030204" pitchFamily="18" charset="0"/>
              </a:rPr>
              <a:t>DATA SCIENCE@ Harsha Hyderabad                          </a:t>
            </a:r>
            <a:endParaRPr lang="en-US" b="1">
              <a:solidFill>
                <a:schemeClr val="accent1">
                  <a:lumMod val="50000"/>
                </a:schemeClr>
              </a:solidFill>
              <a:latin typeface="Cambria" panose="02040503050406030204" pitchFamily="18" charset="0"/>
            </a:endParaRPr>
          </a:p>
        </p:txBody>
      </p:sp>
    </p:spTree>
    <p:extLst>
      <p:ext uri="{BB962C8B-B14F-4D97-AF65-F5344CB8AC3E}">
        <p14:creationId xmlns:p14="http://schemas.microsoft.com/office/powerpoint/2010/main" val="3325093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9FA6C-FA23-4571-8D49-F56EC1255B0E}"/>
              </a:ext>
            </a:extLst>
          </p:cNvPr>
          <p:cNvSpPr>
            <a:spLocks noGrp="1"/>
          </p:cNvSpPr>
          <p:nvPr>
            <p:ph type="title"/>
          </p:nvPr>
        </p:nvSpPr>
        <p:spPr>
          <a:xfrm>
            <a:off x="838200" y="119466"/>
            <a:ext cx="10515600" cy="713048"/>
          </a:xfrm>
        </p:spPr>
        <p:txBody>
          <a:bodyPr>
            <a:normAutofit/>
          </a:bodyPr>
          <a:lstStyle/>
          <a:p>
            <a:pPr algn="ctr"/>
            <a:r>
              <a:rPr lang="en-US" sz="3600" dirty="0">
                <a:latin typeface="Times New Roman" panose="02020603050405020304" pitchFamily="18" charset="0"/>
                <a:cs typeface="Times New Roman" panose="02020603050405020304" pitchFamily="18" charset="0"/>
              </a:rPr>
              <a:t>Data Generation</a:t>
            </a:r>
          </a:p>
        </p:txBody>
      </p:sp>
      <p:sp>
        <p:nvSpPr>
          <p:cNvPr id="3" name="Content Placeholder 2">
            <a:extLst>
              <a:ext uri="{FF2B5EF4-FFF2-40B4-BE49-F238E27FC236}">
                <a16:creationId xmlns:a16="http://schemas.microsoft.com/office/drawing/2014/main" id="{BE0C1282-89B5-4285-8B50-D55AEE3F55AC}"/>
              </a:ext>
            </a:extLst>
          </p:cNvPr>
          <p:cNvSpPr>
            <a:spLocks noGrp="1"/>
          </p:cNvSpPr>
          <p:nvPr>
            <p:ph idx="1"/>
          </p:nvPr>
        </p:nvSpPr>
        <p:spPr>
          <a:xfrm>
            <a:off x="259307" y="952168"/>
            <a:ext cx="4640239" cy="3224047"/>
          </a:xfrm>
        </p:spPr>
        <p:txBody>
          <a:bodyPr>
            <a:normAutofit/>
          </a:bodyPr>
          <a:lstStyle/>
          <a:p>
            <a:pPr marL="0" indent="0">
              <a:buNone/>
            </a:pPr>
            <a:r>
              <a:rPr lang="en-IN" sz="2200" dirty="0">
                <a:latin typeface="Times New Roman" panose="02020603050405020304" pitchFamily="18" charset="0"/>
                <a:cs typeface="Times New Roman" panose="02020603050405020304" pitchFamily="18" charset="0"/>
              </a:rPr>
              <a:t>Range of this attributes are as follows:</a:t>
            </a:r>
          </a:p>
          <a:p>
            <a:r>
              <a:rPr lang="en-IN" sz="2200" dirty="0" err="1">
                <a:latin typeface="Times New Roman" panose="02020603050405020304" pitchFamily="18" charset="0"/>
                <a:cs typeface="Times New Roman" panose="02020603050405020304" pitchFamily="18" charset="0"/>
              </a:rPr>
              <a:t>Employee_id</a:t>
            </a:r>
            <a:r>
              <a:rPr lang="en-IN" sz="2200" dirty="0">
                <a:latin typeface="Times New Roman" panose="02020603050405020304" pitchFamily="18" charset="0"/>
                <a:cs typeface="Times New Roman" panose="02020603050405020304" pitchFamily="18" charset="0"/>
              </a:rPr>
              <a:t> : 1-100</a:t>
            </a:r>
          </a:p>
          <a:p>
            <a:r>
              <a:rPr lang="en-IN" sz="2200" dirty="0">
                <a:latin typeface="Times New Roman" panose="02020603050405020304" pitchFamily="18" charset="0"/>
                <a:cs typeface="Times New Roman" panose="02020603050405020304" pitchFamily="18" charset="0"/>
              </a:rPr>
              <a:t>Age : 25-62</a:t>
            </a:r>
          </a:p>
          <a:p>
            <a:r>
              <a:rPr lang="en-IN" sz="2200" dirty="0">
                <a:latin typeface="Times New Roman" panose="02020603050405020304" pitchFamily="18" charset="0"/>
                <a:cs typeface="Times New Roman" panose="02020603050405020304" pitchFamily="18" charset="0"/>
              </a:rPr>
              <a:t>Basic pay : 15,600-67000</a:t>
            </a:r>
          </a:p>
          <a:p>
            <a:r>
              <a:rPr lang="en-IN" sz="2200" dirty="0" err="1">
                <a:latin typeface="Times New Roman" panose="02020603050405020304" pitchFamily="18" charset="0"/>
                <a:cs typeface="Times New Roman" panose="02020603050405020304" pitchFamily="18" charset="0"/>
              </a:rPr>
              <a:t>No.of</a:t>
            </a:r>
            <a:r>
              <a:rPr lang="en-IN" sz="2200" dirty="0">
                <a:latin typeface="Times New Roman" panose="02020603050405020304" pitchFamily="18" charset="0"/>
                <a:cs typeface="Times New Roman" panose="02020603050405020304" pitchFamily="18" charset="0"/>
              </a:rPr>
              <a:t> clients :1-1000</a:t>
            </a:r>
          </a:p>
          <a:p>
            <a:r>
              <a:rPr lang="en-IN" sz="2200" dirty="0">
                <a:latin typeface="Times New Roman" panose="02020603050405020304" pitchFamily="18" charset="0"/>
                <a:cs typeface="Times New Roman" panose="02020603050405020304" pitchFamily="18" charset="0"/>
              </a:rPr>
              <a:t>Years of Services :0-40</a:t>
            </a:r>
          </a:p>
          <a:p>
            <a:r>
              <a:rPr lang="en-IN" sz="2200" dirty="0">
                <a:latin typeface="Times New Roman" panose="02020603050405020304" pitchFamily="18" charset="0"/>
                <a:cs typeface="Times New Roman" panose="02020603050405020304" pitchFamily="18" charset="0"/>
              </a:rPr>
              <a:t>Performance Score:0/1</a:t>
            </a:r>
          </a:p>
          <a:p>
            <a:endParaRPr 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A43A5E4-F425-4D3D-BB61-5EB3ABB80A4B}"/>
              </a:ext>
            </a:extLst>
          </p:cNvPr>
          <p:cNvPicPr>
            <a:picLocks noChangeAspect="1"/>
          </p:cNvPicPr>
          <p:nvPr/>
        </p:nvPicPr>
        <p:blipFill>
          <a:blip r:embed="rId2"/>
          <a:stretch>
            <a:fillRect/>
          </a:stretch>
        </p:blipFill>
        <p:spPr>
          <a:xfrm>
            <a:off x="3883188" y="1642054"/>
            <a:ext cx="9489912" cy="4144383"/>
          </a:xfrm>
          <a:prstGeom prst="rect">
            <a:avLst/>
          </a:prstGeom>
        </p:spPr>
      </p:pic>
    </p:spTree>
    <p:extLst>
      <p:ext uri="{BB962C8B-B14F-4D97-AF65-F5344CB8AC3E}">
        <p14:creationId xmlns:p14="http://schemas.microsoft.com/office/powerpoint/2010/main" val="1929278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EEFEB2-3B04-4276-9E15-DE11F9B015A5}"/>
              </a:ext>
            </a:extLst>
          </p:cNvPr>
          <p:cNvSpPr>
            <a:spLocks noGrp="1"/>
          </p:cNvSpPr>
          <p:nvPr>
            <p:ph type="title"/>
          </p:nvPr>
        </p:nvSpPr>
        <p:spPr>
          <a:xfrm>
            <a:off x="838200" y="365126"/>
            <a:ext cx="10515600" cy="699400"/>
          </a:xfrm>
        </p:spPr>
        <p:txBody>
          <a:bodyPr>
            <a:normAutofit/>
          </a:bodyPr>
          <a:lstStyle/>
          <a:p>
            <a:pPr algn="ctr"/>
            <a:r>
              <a:rPr lang="en-US" sz="3600" dirty="0">
                <a:latin typeface="Times New Roman" panose="02020603050405020304" pitchFamily="18" charset="0"/>
                <a:cs typeface="Times New Roman" panose="02020603050405020304" pitchFamily="18" charset="0"/>
              </a:rPr>
              <a:t>Data Imputation</a:t>
            </a:r>
          </a:p>
        </p:txBody>
      </p:sp>
      <p:sp>
        <p:nvSpPr>
          <p:cNvPr id="7" name="Content Placeholder 6">
            <a:extLst>
              <a:ext uri="{FF2B5EF4-FFF2-40B4-BE49-F238E27FC236}">
                <a16:creationId xmlns:a16="http://schemas.microsoft.com/office/drawing/2014/main" id="{CE2F973C-7224-4529-9532-87468CC221A5}"/>
              </a:ext>
            </a:extLst>
          </p:cNvPr>
          <p:cNvSpPr>
            <a:spLocks noGrp="1"/>
          </p:cNvSpPr>
          <p:nvPr>
            <p:ph idx="1"/>
          </p:nvPr>
        </p:nvSpPr>
        <p:spPr>
          <a:xfrm>
            <a:off x="660779" y="1253331"/>
            <a:ext cx="10515600" cy="4351338"/>
          </a:xfrm>
        </p:spPr>
        <p:txBody>
          <a:bodyPr/>
          <a:lstStyle/>
          <a:p>
            <a:r>
              <a:rPr lang="en-US" sz="2200" dirty="0">
                <a:latin typeface="Times New Roman" panose="02020603050405020304" pitchFamily="18" charset="0"/>
                <a:cs typeface="Times New Roman" panose="02020603050405020304" pitchFamily="18" charset="0"/>
              </a:rPr>
              <a:t>Many real-world datasets may contain missing values for various reasons. They are often encoded as </a:t>
            </a:r>
            <a:r>
              <a:rPr lang="en-US" sz="2200" dirty="0" err="1">
                <a:latin typeface="Times New Roman" panose="02020603050405020304" pitchFamily="18" charset="0"/>
                <a:cs typeface="Times New Roman" panose="02020603050405020304" pitchFamily="18" charset="0"/>
              </a:rPr>
              <a:t>NaNs</a:t>
            </a:r>
            <a:r>
              <a:rPr lang="en-US" sz="2200" dirty="0">
                <a:latin typeface="Times New Roman" panose="02020603050405020304" pitchFamily="18" charset="0"/>
                <a:cs typeface="Times New Roman" panose="02020603050405020304" pitchFamily="18" charset="0"/>
              </a:rPr>
              <a:t>, blanks or any other placeholders. </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Rule 1: Discrete/Continuous values will be imputed with mean/median/standard deviation </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Rule 2: Categorical values will be imputed with mode.</a:t>
            </a:r>
          </a:p>
          <a:p>
            <a:endParaRPr lang="en-US" sz="22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
        <p:nvSpPr>
          <p:cNvPr id="9" name="Rectangle: Rounded Corners 8">
            <a:extLst>
              <a:ext uri="{FF2B5EF4-FFF2-40B4-BE49-F238E27FC236}">
                <a16:creationId xmlns:a16="http://schemas.microsoft.com/office/drawing/2014/main" id="{5B8EC9AD-ACFC-403C-ABD1-D0297B63DDC6}"/>
              </a:ext>
            </a:extLst>
          </p:cNvPr>
          <p:cNvSpPr/>
          <p:nvPr/>
        </p:nvSpPr>
        <p:spPr>
          <a:xfrm>
            <a:off x="2315570" y="3753134"/>
            <a:ext cx="7206018" cy="24565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e1['Age'].</a:t>
            </a:r>
            <a:r>
              <a:rPr lang="en-US" dirty="0" err="1"/>
              <a:t>fillna</a:t>
            </a:r>
            <a:r>
              <a:rPr lang="en-US" dirty="0"/>
              <a:t>(e['Age'].mean(),</a:t>
            </a:r>
            <a:r>
              <a:rPr lang="en-US" dirty="0" err="1"/>
              <a:t>inplace</a:t>
            </a:r>
            <a:r>
              <a:rPr lang="en-US" dirty="0"/>
              <a:t>=True)</a:t>
            </a:r>
          </a:p>
          <a:p>
            <a:pPr>
              <a:lnSpc>
                <a:spcPct val="150000"/>
              </a:lnSpc>
            </a:pPr>
            <a:r>
              <a:rPr lang="en-US" dirty="0"/>
              <a:t>e1['Basic Pay'].</a:t>
            </a:r>
            <a:r>
              <a:rPr lang="en-US" dirty="0" err="1"/>
              <a:t>fillna</a:t>
            </a:r>
            <a:r>
              <a:rPr lang="en-US" dirty="0"/>
              <a:t>(e['Basic Pay'].mean(),</a:t>
            </a:r>
            <a:r>
              <a:rPr lang="en-US" dirty="0" err="1"/>
              <a:t>inplace</a:t>
            </a:r>
            <a:r>
              <a:rPr lang="en-US" dirty="0"/>
              <a:t>=True)</a:t>
            </a:r>
          </a:p>
          <a:p>
            <a:pPr>
              <a:lnSpc>
                <a:spcPct val="150000"/>
              </a:lnSpc>
            </a:pPr>
            <a:r>
              <a:rPr lang="en-US" dirty="0"/>
              <a:t>e1['No of Clients'].</a:t>
            </a:r>
            <a:r>
              <a:rPr lang="en-US" dirty="0" err="1"/>
              <a:t>fillna</a:t>
            </a:r>
            <a:r>
              <a:rPr lang="en-US" dirty="0"/>
              <a:t>(e['No of Clients'].mean(),</a:t>
            </a:r>
            <a:r>
              <a:rPr lang="en-US" dirty="0" err="1"/>
              <a:t>inplace</a:t>
            </a:r>
            <a:r>
              <a:rPr lang="en-US" dirty="0"/>
              <a:t>=True)</a:t>
            </a:r>
          </a:p>
          <a:p>
            <a:pPr>
              <a:lnSpc>
                <a:spcPct val="150000"/>
              </a:lnSpc>
            </a:pPr>
            <a:r>
              <a:rPr lang="en-US" dirty="0"/>
              <a:t>e1['Years of Service'].</a:t>
            </a:r>
            <a:r>
              <a:rPr lang="en-US" dirty="0" err="1"/>
              <a:t>fillna</a:t>
            </a:r>
            <a:r>
              <a:rPr lang="en-US" dirty="0"/>
              <a:t>(e['Years of Service'].mean(),</a:t>
            </a:r>
            <a:r>
              <a:rPr lang="en-US" dirty="0" err="1"/>
              <a:t>inplace</a:t>
            </a:r>
            <a:r>
              <a:rPr lang="en-US" dirty="0"/>
              <a:t>=True)</a:t>
            </a:r>
          </a:p>
          <a:p>
            <a:pPr>
              <a:lnSpc>
                <a:spcPct val="150000"/>
              </a:lnSpc>
            </a:pPr>
            <a:r>
              <a:rPr lang="en-US" dirty="0"/>
              <a:t>print(e1.head(5))</a:t>
            </a:r>
          </a:p>
        </p:txBody>
      </p:sp>
    </p:spTree>
    <p:extLst>
      <p:ext uri="{BB962C8B-B14F-4D97-AF65-F5344CB8AC3E}">
        <p14:creationId xmlns:p14="http://schemas.microsoft.com/office/powerpoint/2010/main" val="233706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DC31-A01F-4E80-9538-7A4344F97B3B}"/>
              </a:ext>
            </a:extLst>
          </p:cNvPr>
          <p:cNvSpPr>
            <a:spLocks noGrp="1"/>
          </p:cNvSpPr>
          <p:nvPr>
            <p:ph type="title"/>
          </p:nvPr>
        </p:nvSpPr>
        <p:spPr>
          <a:xfrm>
            <a:off x="838200" y="109182"/>
            <a:ext cx="10515600" cy="764276"/>
          </a:xfrm>
        </p:spPr>
        <p:txBody>
          <a:bodyPr>
            <a:normAutofit/>
          </a:bodyPr>
          <a:lstStyle/>
          <a:p>
            <a:pPr algn="ctr"/>
            <a:r>
              <a:rPr lang="en-US" sz="3600" dirty="0">
                <a:latin typeface="Times New Roman" panose="02020603050405020304" pitchFamily="18" charset="0"/>
                <a:cs typeface="Times New Roman" panose="02020603050405020304" pitchFamily="18" charset="0"/>
              </a:rPr>
              <a:t>Data Encoding</a:t>
            </a:r>
          </a:p>
        </p:txBody>
      </p:sp>
      <p:sp>
        <p:nvSpPr>
          <p:cNvPr id="3" name="Content Placeholder 2">
            <a:extLst>
              <a:ext uri="{FF2B5EF4-FFF2-40B4-BE49-F238E27FC236}">
                <a16:creationId xmlns:a16="http://schemas.microsoft.com/office/drawing/2014/main" id="{BA110FE7-1369-4215-9B5A-4DC39A9588ED}"/>
              </a:ext>
            </a:extLst>
          </p:cNvPr>
          <p:cNvSpPr>
            <a:spLocks noGrp="1"/>
          </p:cNvSpPr>
          <p:nvPr>
            <p:ph idx="1"/>
          </p:nvPr>
        </p:nvSpPr>
        <p:spPr>
          <a:xfrm>
            <a:off x="469710" y="873458"/>
            <a:ext cx="11403841" cy="5090614"/>
          </a:xfrm>
        </p:spPr>
        <p:txBody>
          <a:bodyPr>
            <a:normAutofit/>
          </a:bodyPr>
          <a:lstStyle/>
          <a:p>
            <a:pPr>
              <a:lnSpc>
                <a:spcPct val="100000"/>
              </a:lnSpc>
            </a:pPr>
            <a:r>
              <a:rPr lang="en-US" sz="2200" dirty="0">
                <a:latin typeface="Times New Roman" panose="02020603050405020304" pitchFamily="18" charset="0"/>
                <a:cs typeface="Times New Roman" panose="02020603050405020304" pitchFamily="18" charset="0"/>
              </a:rPr>
              <a:t>Most of Machine Learning libraries represent data in numerical values rather than categorical values.</a:t>
            </a:r>
          </a:p>
          <a:p>
            <a:pPr>
              <a:lnSpc>
                <a:spcPct val="100000"/>
              </a:lnSpc>
            </a:pPr>
            <a:r>
              <a:rPr lang="en-US" sz="2200" dirty="0">
                <a:latin typeface="Times New Roman" panose="02020603050405020304" pitchFamily="18" charset="0"/>
                <a:cs typeface="Times New Roman" panose="02020603050405020304" pitchFamily="18" charset="0"/>
              </a:rPr>
              <a:t>import “</a:t>
            </a:r>
            <a:r>
              <a:rPr lang="en-US" sz="2200" dirty="0" err="1">
                <a:latin typeface="Times New Roman" panose="02020603050405020304" pitchFamily="18" charset="0"/>
                <a:cs typeface="Times New Roman" panose="02020603050405020304" pitchFamily="18" charset="0"/>
              </a:rPr>
              <a:t>LabelEncoder</a:t>
            </a:r>
            <a:r>
              <a:rPr lang="en-US" sz="2200" dirty="0">
                <a:latin typeface="Times New Roman" panose="02020603050405020304" pitchFamily="18" charset="0"/>
                <a:cs typeface="Times New Roman" panose="02020603050405020304" pitchFamily="18" charset="0"/>
              </a:rPr>
              <a:t>” class from “</a:t>
            </a:r>
            <a:r>
              <a:rPr lang="en-US" sz="2200" dirty="0" err="1">
                <a:latin typeface="Times New Roman" panose="02020603050405020304" pitchFamily="18" charset="0"/>
                <a:cs typeface="Times New Roman" panose="02020603050405020304" pitchFamily="18" charset="0"/>
              </a:rPr>
              <a:t>sklearn.preprocessing</a:t>
            </a:r>
            <a:r>
              <a:rPr lang="en-US" sz="2200" dirty="0">
                <a:latin typeface="Times New Roman" panose="02020603050405020304" pitchFamily="18" charset="0"/>
                <a:cs typeface="Times New Roman" panose="02020603050405020304" pitchFamily="18" charset="0"/>
              </a:rPr>
              <a:t>” library and create an object </a:t>
            </a:r>
            <a:r>
              <a:rPr lang="en-US" sz="2200" dirty="0" err="1">
                <a:latin typeface="Times New Roman" panose="02020603050405020304" pitchFamily="18" charset="0"/>
                <a:cs typeface="Times New Roman" panose="02020603050405020304" pitchFamily="18" charset="0"/>
              </a:rPr>
              <a:t>labelencoder_X</a:t>
            </a:r>
            <a:r>
              <a:rPr lang="en-US" sz="2200" dirty="0">
                <a:latin typeface="Times New Roman" panose="02020603050405020304" pitchFamily="18" charset="0"/>
                <a:cs typeface="Times New Roman" panose="02020603050405020304" pitchFamily="18" charset="0"/>
              </a:rPr>
              <a:t> of the </a:t>
            </a:r>
            <a:r>
              <a:rPr lang="en-US" sz="2200" dirty="0" err="1">
                <a:latin typeface="Times New Roman" panose="02020603050405020304" pitchFamily="18" charset="0"/>
                <a:cs typeface="Times New Roman" panose="02020603050405020304" pitchFamily="18" charset="0"/>
              </a:rPr>
              <a:t>LabelEncoder</a:t>
            </a:r>
            <a:r>
              <a:rPr lang="en-US" sz="2200" dirty="0">
                <a:latin typeface="Times New Roman" panose="02020603050405020304" pitchFamily="18" charset="0"/>
                <a:cs typeface="Times New Roman" panose="02020603050405020304" pitchFamily="18" charset="0"/>
              </a:rPr>
              <a:t> class. After that use the </a:t>
            </a:r>
            <a:r>
              <a:rPr lang="en-US" sz="2200" dirty="0" err="1">
                <a:latin typeface="Times New Roman" panose="02020603050405020304" pitchFamily="18" charset="0"/>
                <a:cs typeface="Times New Roman" panose="02020603050405020304" pitchFamily="18" charset="0"/>
              </a:rPr>
              <a:t>fit_transform</a:t>
            </a:r>
            <a:r>
              <a:rPr lang="en-US" sz="2200" dirty="0">
                <a:latin typeface="Times New Roman" panose="02020603050405020304" pitchFamily="18" charset="0"/>
                <a:cs typeface="Times New Roman" panose="02020603050405020304" pitchFamily="18" charset="0"/>
              </a:rPr>
              <a:t> method on the categorical features.</a:t>
            </a:r>
          </a:p>
          <a:p>
            <a:pPr>
              <a:lnSpc>
                <a:spcPct val="100000"/>
              </a:lnSpc>
            </a:pPr>
            <a:r>
              <a:rPr lang="en-US" sz="2200" dirty="0">
                <a:latin typeface="Times New Roman" panose="02020603050405020304" pitchFamily="18" charset="0"/>
                <a:cs typeface="Times New Roman" panose="02020603050405020304" pitchFamily="18" charset="0"/>
              </a:rPr>
              <a:t>One hot encoding transforms categorical features to a format that works better with classification and regression algorithms.</a:t>
            </a:r>
          </a:p>
          <a:p>
            <a:endParaRPr lang="en-US" dirty="0"/>
          </a:p>
        </p:txBody>
      </p:sp>
      <p:sp>
        <p:nvSpPr>
          <p:cNvPr id="4" name="Rectangle: Rounded Corners 3">
            <a:extLst>
              <a:ext uri="{FF2B5EF4-FFF2-40B4-BE49-F238E27FC236}">
                <a16:creationId xmlns:a16="http://schemas.microsoft.com/office/drawing/2014/main" id="{E2F60EAA-416A-49D8-9013-7FE331F7AAAF}"/>
              </a:ext>
            </a:extLst>
          </p:cNvPr>
          <p:cNvSpPr/>
          <p:nvPr/>
        </p:nvSpPr>
        <p:spPr>
          <a:xfrm>
            <a:off x="469710" y="3875964"/>
            <a:ext cx="5153168" cy="242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021C56DC-F9C4-4652-B157-46213ADA53F2}"/>
              </a:ext>
            </a:extLst>
          </p:cNvPr>
          <p:cNvSpPr/>
          <p:nvPr/>
        </p:nvSpPr>
        <p:spPr>
          <a:xfrm>
            <a:off x="6416722" y="3875964"/>
            <a:ext cx="5153168" cy="242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EBDE722-DA51-471D-8EED-BDA5249DE19F}"/>
              </a:ext>
            </a:extLst>
          </p:cNvPr>
          <p:cNvPicPr>
            <a:picLocks noChangeAspect="1"/>
          </p:cNvPicPr>
          <p:nvPr/>
        </p:nvPicPr>
        <p:blipFill>
          <a:blip r:embed="rId2"/>
          <a:stretch>
            <a:fillRect/>
          </a:stretch>
        </p:blipFill>
        <p:spPr>
          <a:xfrm>
            <a:off x="1062038" y="3928565"/>
            <a:ext cx="3752850" cy="2324100"/>
          </a:xfrm>
          <a:prstGeom prst="rect">
            <a:avLst/>
          </a:prstGeom>
        </p:spPr>
      </p:pic>
      <p:pic>
        <p:nvPicPr>
          <p:cNvPr id="7" name="Picture 6">
            <a:extLst>
              <a:ext uri="{FF2B5EF4-FFF2-40B4-BE49-F238E27FC236}">
                <a16:creationId xmlns:a16="http://schemas.microsoft.com/office/drawing/2014/main" id="{DF847FB5-8241-4CD8-BF71-E0FA552AF6F3}"/>
              </a:ext>
            </a:extLst>
          </p:cNvPr>
          <p:cNvPicPr>
            <a:picLocks noChangeAspect="1"/>
          </p:cNvPicPr>
          <p:nvPr/>
        </p:nvPicPr>
        <p:blipFill>
          <a:blip r:embed="rId3"/>
          <a:stretch>
            <a:fillRect/>
          </a:stretch>
        </p:blipFill>
        <p:spPr>
          <a:xfrm>
            <a:off x="7916981" y="4070019"/>
            <a:ext cx="2152650" cy="2038350"/>
          </a:xfrm>
          <a:prstGeom prst="rect">
            <a:avLst/>
          </a:prstGeom>
        </p:spPr>
      </p:pic>
    </p:spTree>
    <p:extLst>
      <p:ext uri="{BB962C8B-B14F-4D97-AF65-F5344CB8AC3E}">
        <p14:creationId xmlns:p14="http://schemas.microsoft.com/office/powerpoint/2010/main" val="3539931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EBFCC-84B7-44D0-8681-6B7A44D3EE24}"/>
              </a:ext>
            </a:extLst>
          </p:cNvPr>
          <p:cNvSpPr>
            <a:spLocks noGrp="1"/>
          </p:cNvSpPr>
          <p:nvPr>
            <p:ph type="title"/>
          </p:nvPr>
        </p:nvSpPr>
        <p:spPr>
          <a:xfrm>
            <a:off x="838200" y="122238"/>
            <a:ext cx="10515600" cy="1082676"/>
          </a:xfrm>
        </p:spPr>
        <p:txBody>
          <a:bodyPr>
            <a:normAutofit/>
          </a:bodyPr>
          <a:lstStyle/>
          <a:p>
            <a:pPr algn="ctr"/>
            <a:r>
              <a:rPr lang="en-US" sz="3600" dirty="0">
                <a:latin typeface="Times New Roman" panose="02020603050405020304" pitchFamily="18" charset="0"/>
                <a:cs typeface="Times New Roman" panose="02020603050405020304" pitchFamily="18" charset="0"/>
              </a:rPr>
              <a:t>Data Encoding</a:t>
            </a:r>
          </a:p>
        </p:txBody>
      </p:sp>
      <p:sp>
        <p:nvSpPr>
          <p:cNvPr id="5" name="Rectangle: Rounded Corners 4">
            <a:extLst>
              <a:ext uri="{FF2B5EF4-FFF2-40B4-BE49-F238E27FC236}">
                <a16:creationId xmlns:a16="http://schemas.microsoft.com/office/drawing/2014/main" id="{02891D2C-C3E9-4AB0-B90C-291869DEEE02}"/>
              </a:ext>
            </a:extLst>
          </p:cNvPr>
          <p:cNvSpPr/>
          <p:nvPr/>
        </p:nvSpPr>
        <p:spPr>
          <a:xfrm>
            <a:off x="390526" y="1326356"/>
            <a:ext cx="4222417" cy="2295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9F1E7990-1E39-4235-ACC8-B09976789BC2}"/>
              </a:ext>
            </a:extLst>
          </p:cNvPr>
          <p:cNvPicPr>
            <a:picLocks noChangeAspect="1"/>
          </p:cNvPicPr>
          <p:nvPr/>
        </p:nvPicPr>
        <p:blipFill>
          <a:blip r:embed="rId2"/>
          <a:stretch>
            <a:fillRect/>
          </a:stretch>
        </p:blipFill>
        <p:spPr>
          <a:xfrm>
            <a:off x="551295" y="1569243"/>
            <a:ext cx="3905250" cy="1809750"/>
          </a:xfrm>
          <a:prstGeom prst="rect">
            <a:avLst/>
          </a:prstGeom>
        </p:spPr>
      </p:pic>
      <p:sp>
        <p:nvSpPr>
          <p:cNvPr id="7" name="Rectangle: Rounded Corners 6">
            <a:extLst>
              <a:ext uri="{FF2B5EF4-FFF2-40B4-BE49-F238E27FC236}">
                <a16:creationId xmlns:a16="http://schemas.microsoft.com/office/drawing/2014/main" id="{DDD2D8C7-6887-4745-AE28-68308B7E39AD}"/>
              </a:ext>
            </a:extLst>
          </p:cNvPr>
          <p:cNvSpPr/>
          <p:nvPr/>
        </p:nvSpPr>
        <p:spPr>
          <a:xfrm>
            <a:off x="6646460" y="1228744"/>
            <a:ext cx="3275462" cy="25384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295883E-E22F-46C0-8ED7-0D174E72E2FF}"/>
              </a:ext>
            </a:extLst>
          </p:cNvPr>
          <p:cNvPicPr>
            <a:picLocks noChangeAspect="1"/>
          </p:cNvPicPr>
          <p:nvPr/>
        </p:nvPicPr>
        <p:blipFill>
          <a:blip r:embed="rId3"/>
          <a:stretch>
            <a:fillRect/>
          </a:stretch>
        </p:blipFill>
        <p:spPr>
          <a:xfrm>
            <a:off x="6946177" y="1426369"/>
            <a:ext cx="2702790" cy="2095500"/>
          </a:xfrm>
          <a:prstGeom prst="rect">
            <a:avLst/>
          </a:prstGeom>
        </p:spPr>
      </p:pic>
      <p:sp>
        <p:nvSpPr>
          <p:cNvPr id="10" name="Rectangle: Rounded Corners 9">
            <a:extLst>
              <a:ext uri="{FF2B5EF4-FFF2-40B4-BE49-F238E27FC236}">
                <a16:creationId xmlns:a16="http://schemas.microsoft.com/office/drawing/2014/main" id="{44A1847E-8962-4F3E-8A3C-FB01542AF508}"/>
              </a:ext>
            </a:extLst>
          </p:cNvPr>
          <p:cNvSpPr/>
          <p:nvPr/>
        </p:nvSpPr>
        <p:spPr>
          <a:xfrm>
            <a:off x="122830" y="4012442"/>
            <a:ext cx="6823347" cy="25384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A166887-6C4C-4D95-953A-1EA020927CDB}"/>
              </a:ext>
            </a:extLst>
          </p:cNvPr>
          <p:cNvPicPr>
            <a:picLocks noChangeAspect="1"/>
          </p:cNvPicPr>
          <p:nvPr/>
        </p:nvPicPr>
        <p:blipFill>
          <a:blip r:embed="rId4"/>
          <a:stretch>
            <a:fillRect/>
          </a:stretch>
        </p:blipFill>
        <p:spPr>
          <a:xfrm>
            <a:off x="215040" y="4015355"/>
            <a:ext cx="6638925" cy="2476500"/>
          </a:xfrm>
          <a:prstGeom prst="rect">
            <a:avLst/>
          </a:prstGeom>
        </p:spPr>
      </p:pic>
      <p:sp>
        <p:nvSpPr>
          <p:cNvPr id="11" name="Rectangle: Rounded Corners 10">
            <a:extLst>
              <a:ext uri="{FF2B5EF4-FFF2-40B4-BE49-F238E27FC236}">
                <a16:creationId xmlns:a16="http://schemas.microsoft.com/office/drawing/2014/main" id="{C31A60DD-C735-492F-B00C-8252B02A962F}"/>
              </a:ext>
            </a:extLst>
          </p:cNvPr>
          <p:cNvSpPr/>
          <p:nvPr/>
        </p:nvSpPr>
        <p:spPr>
          <a:xfrm>
            <a:off x="7451678" y="4299045"/>
            <a:ext cx="4348304" cy="22518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19E8E8D-BE39-4E66-B012-3FEF1E4B1D0A}"/>
              </a:ext>
            </a:extLst>
          </p:cNvPr>
          <p:cNvPicPr>
            <a:picLocks noChangeAspect="1"/>
          </p:cNvPicPr>
          <p:nvPr/>
        </p:nvPicPr>
        <p:blipFill>
          <a:blip r:embed="rId5"/>
          <a:stretch>
            <a:fillRect/>
          </a:stretch>
        </p:blipFill>
        <p:spPr>
          <a:xfrm>
            <a:off x="7434015" y="4466904"/>
            <a:ext cx="4476750" cy="1971675"/>
          </a:xfrm>
          <a:prstGeom prst="rect">
            <a:avLst/>
          </a:prstGeom>
        </p:spPr>
      </p:pic>
    </p:spTree>
    <p:extLst>
      <p:ext uri="{BB962C8B-B14F-4D97-AF65-F5344CB8AC3E}">
        <p14:creationId xmlns:p14="http://schemas.microsoft.com/office/powerpoint/2010/main" val="1308581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FB6B-FD7C-4E33-AFD0-89B86A816FED}"/>
              </a:ext>
            </a:extLst>
          </p:cNvPr>
          <p:cNvSpPr>
            <a:spLocks noGrp="1"/>
          </p:cNvSpPr>
          <p:nvPr>
            <p:ph type="title"/>
          </p:nvPr>
        </p:nvSpPr>
        <p:spPr>
          <a:xfrm>
            <a:off x="838200" y="174057"/>
            <a:ext cx="10515600" cy="713048"/>
          </a:xfrm>
        </p:spPr>
        <p:txBody>
          <a:bodyPr>
            <a:normAutofit/>
          </a:bodyPr>
          <a:lstStyle/>
          <a:p>
            <a:pPr algn="ctr"/>
            <a:r>
              <a:rPr lang="en-US" sz="3600" dirty="0">
                <a:latin typeface="Times New Roman" panose="02020603050405020304" pitchFamily="18" charset="0"/>
                <a:cs typeface="Times New Roman" panose="02020603050405020304" pitchFamily="18" charset="0"/>
              </a:rPr>
              <a:t>Outlier Detection</a:t>
            </a:r>
          </a:p>
        </p:txBody>
      </p:sp>
      <p:sp>
        <p:nvSpPr>
          <p:cNvPr id="3" name="Content Placeholder 2">
            <a:extLst>
              <a:ext uri="{FF2B5EF4-FFF2-40B4-BE49-F238E27FC236}">
                <a16:creationId xmlns:a16="http://schemas.microsoft.com/office/drawing/2014/main" id="{7AE3DAE2-D856-4AC7-84F6-C1BCEAA970C6}"/>
              </a:ext>
            </a:extLst>
          </p:cNvPr>
          <p:cNvSpPr>
            <a:spLocks noGrp="1"/>
          </p:cNvSpPr>
          <p:nvPr>
            <p:ph idx="1"/>
          </p:nvPr>
        </p:nvSpPr>
        <p:spPr>
          <a:xfrm>
            <a:off x="565245" y="1074999"/>
            <a:ext cx="10515600" cy="4351338"/>
          </a:xfrm>
        </p:spPr>
        <p:txBody>
          <a:bodyPr>
            <a:normAutofit/>
          </a:bodyPr>
          <a:lstStyle/>
          <a:p>
            <a:pPr>
              <a:lnSpc>
                <a:spcPct val="150000"/>
              </a:lnSpc>
            </a:pPr>
            <a:r>
              <a:rPr lang="en-US" sz="2200" b="1" dirty="0">
                <a:latin typeface="Times New Roman" panose="02020603050405020304" pitchFamily="18" charset="0"/>
                <a:cs typeface="Times New Roman" panose="02020603050405020304" pitchFamily="18" charset="0"/>
              </a:rPr>
              <a:t>Outliers </a:t>
            </a:r>
            <a:r>
              <a:rPr lang="en-US" sz="2200" dirty="0">
                <a:latin typeface="Times New Roman" panose="02020603050405020304" pitchFamily="18" charset="0"/>
                <a:cs typeface="Times New Roman" panose="02020603050405020304" pitchFamily="18" charset="0"/>
              </a:rPr>
              <a:t>are not just greatest and least values, but values that are very different from the pattern established by the rest of the data. Outliers affect the mean. </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AA1A6D7-230E-4055-846E-B21F6C3A5FA1}"/>
              </a:ext>
            </a:extLst>
          </p:cNvPr>
          <p:cNvPicPr>
            <a:picLocks noChangeAspect="1"/>
          </p:cNvPicPr>
          <p:nvPr/>
        </p:nvPicPr>
        <p:blipFill>
          <a:blip r:embed="rId2"/>
          <a:stretch>
            <a:fillRect/>
          </a:stretch>
        </p:blipFill>
        <p:spPr>
          <a:xfrm>
            <a:off x="412846" y="3009811"/>
            <a:ext cx="5530755" cy="2032919"/>
          </a:xfrm>
          <a:prstGeom prst="rect">
            <a:avLst/>
          </a:prstGeom>
        </p:spPr>
      </p:pic>
      <p:pic>
        <p:nvPicPr>
          <p:cNvPr id="5" name="Picture 4">
            <a:extLst>
              <a:ext uri="{FF2B5EF4-FFF2-40B4-BE49-F238E27FC236}">
                <a16:creationId xmlns:a16="http://schemas.microsoft.com/office/drawing/2014/main" id="{6AB59062-2D48-4E36-8E2F-81D1C5BEABCA}"/>
              </a:ext>
            </a:extLst>
          </p:cNvPr>
          <p:cNvPicPr>
            <a:picLocks noChangeAspect="1"/>
          </p:cNvPicPr>
          <p:nvPr/>
        </p:nvPicPr>
        <p:blipFill>
          <a:blip r:embed="rId3"/>
          <a:stretch>
            <a:fillRect/>
          </a:stretch>
        </p:blipFill>
        <p:spPr>
          <a:xfrm>
            <a:off x="6767514" y="2264817"/>
            <a:ext cx="4313331" cy="4384430"/>
          </a:xfrm>
          <a:prstGeom prst="rect">
            <a:avLst/>
          </a:prstGeom>
        </p:spPr>
      </p:pic>
    </p:spTree>
    <p:extLst>
      <p:ext uri="{BB962C8B-B14F-4D97-AF65-F5344CB8AC3E}">
        <p14:creationId xmlns:p14="http://schemas.microsoft.com/office/powerpoint/2010/main" val="4108722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4203-5D8D-41CD-9FAC-620C381EAC06}"/>
              </a:ext>
            </a:extLst>
          </p:cNvPr>
          <p:cNvSpPr>
            <a:spLocks noGrp="1"/>
          </p:cNvSpPr>
          <p:nvPr>
            <p:ph type="title"/>
          </p:nvPr>
        </p:nvSpPr>
        <p:spPr>
          <a:xfrm>
            <a:off x="838200" y="450850"/>
            <a:ext cx="10515600" cy="658457"/>
          </a:xfrm>
        </p:spPr>
        <p:txBody>
          <a:bodyPr>
            <a:normAutofit/>
          </a:bodyPr>
          <a:lstStyle/>
          <a:p>
            <a:pPr algn="ctr"/>
            <a:r>
              <a:rPr lang="en-US" sz="3600" dirty="0">
                <a:latin typeface="Times New Roman" panose="02020603050405020304" pitchFamily="18" charset="0"/>
                <a:cs typeface="Times New Roman" panose="02020603050405020304" pitchFamily="18" charset="0"/>
              </a:rPr>
              <a:t>Data Normalization</a:t>
            </a:r>
          </a:p>
        </p:txBody>
      </p:sp>
      <p:sp>
        <p:nvSpPr>
          <p:cNvPr id="3" name="Content Placeholder 2">
            <a:extLst>
              <a:ext uri="{FF2B5EF4-FFF2-40B4-BE49-F238E27FC236}">
                <a16:creationId xmlns:a16="http://schemas.microsoft.com/office/drawing/2014/main" id="{37714A4F-4D53-4788-9B5C-2D5FD68D4795}"/>
              </a:ext>
            </a:extLst>
          </p:cNvPr>
          <p:cNvSpPr>
            <a:spLocks noGrp="1"/>
          </p:cNvSpPr>
          <p:nvPr>
            <p:ph idx="1"/>
          </p:nvPr>
        </p:nvSpPr>
        <p:spPr>
          <a:xfrm>
            <a:off x="537950" y="1253331"/>
            <a:ext cx="10515600" cy="3045714"/>
          </a:xfrm>
        </p:spPr>
        <p:txBody>
          <a:bodyPr>
            <a:normAutofit/>
          </a:bodyPr>
          <a:lstStyle/>
          <a:p>
            <a:r>
              <a:rPr lang="en-US" sz="2200" dirty="0">
                <a:latin typeface="Times New Roman" panose="02020603050405020304" pitchFamily="18" charset="0"/>
                <a:cs typeface="Times New Roman" panose="02020603050405020304" pitchFamily="18" charset="0"/>
              </a:rPr>
              <a:t>A </a:t>
            </a:r>
            <a:r>
              <a:rPr lang="en-US" sz="2200" b="1" dirty="0">
                <a:latin typeface="Times New Roman" panose="02020603050405020304" pitchFamily="18" charset="0"/>
                <a:cs typeface="Times New Roman" panose="02020603050405020304" pitchFamily="18" charset="0"/>
              </a:rPr>
              <a:t>normal distribution</a:t>
            </a:r>
            <a:r>
              <a:rPr lang="en-US" sz="2200" dirty="0">
                <a:latin typeface="Times New Roman" panose="02020603050405020304" pitchFamily="18" charset="0"/>
                <a:cs typeface="Times New Roman" panose="02020603050405020304" pitchFamily="18" charset="0"/>
              </a:rPr>
              <a:t>, sometimes called the bell curve, is a distribution that occurs naturally in many situations.</a:t>
            </a:r>
          </a:p>
          <a:p>
            <a:r>
              <a:rPr lang="en-US" sz="2200" dirty="0">
                <a:latin typeface="Times New Roman" panose="02020603050405020304" pitchFamily="18" charset="0"/>
                <a:cs typeface="Times New Roman" panose="02020603050405020304" pitchFamily="18" charset="0"/>
              </a:rPr>
              <a:t>The empirical rule tells you what percentage of your data falls within a certain number of standard deviations from the mean:</a:t>
            </a:r>
          </a:p>
          <a:p>
            <a:r>
              <a:rPr lang="en-US" sz="2200" dirty="0">
                <a:latin typeface="Times New Roman" panose="02020603050405020304" pitchFamily="18" charset="0"/>
                <a:cs typeface="Times New Roman" panose="02020603050405020304" pitchFamily="18" charset="0"/>
              </a:rPr>
              <a:t>68% of the data falls within one standard deviation of the mean.</a:t>
            </a:r>
          </a:p>
          <a:p>
            <a:r>
              <a:rPr lang="en-US" sz="2200" dirty="0">
                <a:latin typeface="Times New Roman" panose="02020603050405020304" pitchFamily="18" charset="0"/>
                <a:cs typeface="Times New Roman" panose="02020603050405020304" pitchFamily="18" charset="0"/>
              </a:rPr>
              <a:t>95% of the data falls within two standard deviations of the mean.</a:t>
            </a:r>
          </a:p>
          <a:p>
            <a:r>
              <a:rPr lang="en-US" sz="2200" dirty="0">
                <a:latin typeface="Times New Roman" panose="02020603050405020304" pitchFamily="18" charset="0"/>
                <a:cs typeface="Times New Roman" panose="02020603050405020304" pitchFamily="18" charset="0"/>
              </a:rPr>
              <a:t> 99.7% of the data falls within three standard deviations of </a:t>
            </a:r>
            <a:r>
              <a:rPr lang="en-US" sz="2000" dirty="0">
                <a:latin typeface="Times New Roman" panose="02020603050405020304" pitchFamily="18" charset="0"/>
                <a:cs typeface="Times New Roman" panose="02020603050405020304" pitchFamily="18" charset="0"/>
              </a:rPr>
              <a:t>the mean.</a:t>
            </a:r>
          </a:p>
        </p:txBody>
      </p:sp>
      <p:pic>
        <p:nvPicPr>
          <p:cNvPr id="6" name="Picture 5">
            <a:extLst>
              <a:ext uri="{FF2B5EF4-FFF2-40B4-BE49-F238E27FC236}">
                <a16:creationId xmlns:a16="http://schemas.microsoft.com/office/drawing/2014/main" id="{FA2F043E-5228-48E3-A664-C71A7131FDE4}"/>
              </a:ext>
            </a:extLst>
          </p:cNvPr>
          <p:cNvPicPr>
            <a:picLocks noChangeAspect="1"/>
          </p:cNvPicPr>
          <p:nvPr/>
        </p:nvPicPr>
        <p:blipFill>
          <a:blip r:embed="rId2"/>
          <a:stretch>
            <a:fillRect/>
          </a:stretch>
        </p:blipFill>
        <p:spPr>
          <a:xfrm>
            <a:off x="790575" y="4082600"/>
            <a:ext cx="6615112" cy="2775400"/>
          </a:xfrm>
          <a:prstGeom prst="rect">
            <a:avLst/>
          </a:prstGeom>
        </p:spPr>
      </p:pic>
      <p:pic>
        <p:nvPicPr>
          <p:cNvPr id="7" name="Picture 6">
            <a:extLst>
              <a:ext uri="{FF2B5EF4-FFF2-40B4-BE49-F238E27FC236}">
                <a16:creationId xmlns:a16="http://schemas.microsoft.com/office/drawing/2014/main" id="{C733A110-6CD6-4789-845A-7C6540411998}"/>
              </a:ext>
            </a:extLst>
          </p:cNvPr>
          <p:cNvPicPr>
            <a:picLocks noChangeAspect="1"/>
          </p:cNvPicPr>
          <p:nvPr/>
        </p:nvPicPr>
        <p:blipFill>
          <a:blip r:embed="rId3"/>
          <a:stretch>
            <a:fillRect/>
          </a:stretch>
        </p:blipFill>
        <p:spPr>
          <a:xfrm>
            <a:off x="8396429" y="4082600"/>
            <a:ext cx="2909746" cy="1161575"/>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506C8205-8E4F-43FD-A3BF-58546B8074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6827" y="5683250"/>
            <a:ext cx="3028950" cy="809625"/>
          </a:xfrm>
          <a:prstGeom prst="rect">
            <a:avLst/>
          </a:prstGeom>
        </p:spPr>
      </p:pic>
    </p:spTree>
    <p:extLst>
      <p:ext uri="{BB962C8B-B14F-4D97-AF65-F5344CB8AC3E}">
        <p14:creationId xmlns:p14="http://schemas.microsoft.com/office/powerpoint/2010/main" val="2633198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A64BAF-5840-4ED5-83B1-1C8568FC7337}"/>
              </a:ext>
            </a:extLst>
          </p:cNvPr>
          <p:cNvPicPr>
            <a:picLocks noChangeAspect="1"/>
          </p:cNvPicPr>
          <p:nvPr/>
        </p:nvPicPr>
        <p:blipFill>
          <a:blip r:embed="rId2"/>
          <a:stretch>
            <a:fillRect/>
          </a:stretch>
        </p:blipFill>
        <p:spPr>
          <a:xfrm>
            <a:off x="361950" y="395287"/>
            <a:ext cx="9267825" cy="1981200"/>
          </a:xfrm>
          <a:prstGeom prst="rect">
            <a:avLst/>
          </a:prstGeom>
        </p:spPr>
      </p:pic>
      <p:pic>
        <p:nvPicPr>
          <p:cNvPr id="6" name="Picture 5">
            <a:extLst>
              <a:ext uri="{FF2B5EF4-FFF2-40B4-BE49-F238E27FC236}">
                <a16:creationId xmlns:a16="http://schemas.microsoft.com/office/drawing/2014/main" id="{002A5B10-8226-477D-8BA8-CF99E26FE582}"/>
              </a:ext>
            </a:extLst>
          </p:cNvPr>
          <p:cNvPicPr>
            <a:picLocks noChangeAspect="1"/>
          </p:cNvPicPr>
          <p:nvPr/>
        </p:nvPicPr>
        <p:blipFill>
          <a:blip r:embed="rId3"/>
          <a:stretch>
            <a:fillRect/>
          </a:stretch>
        </p:blipFill>
        <p:spPr>
          <a:xfrm>
            <a:off x="3131344" y="2541541"/>
            <a:ext cx="5929312" cy="4152900"/>
          </a:xfrm>
          <a:prstGeom prst="rect">
            <a:avLst/>
          </a:prstGeom>
        </p:spPr>
      </p:pic>
    </p:spTree>
    <p:extLst>
      <p:ext uri="{BB962C8B-B14F-4D97-AF65-F5344CB8AC3E}">
        <p14:creationId xmlns:p14="http://schemas.microsoft.com/office/powerpoint/2010/main" val="1516327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AB90-3615-4B10-9655-E5B539FFDA1A}"/>
              </a:ext>
            </a:extLst>
          </p:cNvPr>
          <p:cNvSpPr>
            <a:spLocks noGrp="1"/>
          </p:cNvSpPr>
          <p:nvPr>
            <p:ph type="title"/>
          </p:nvPr>
        </p:nvSpPr>
        <p:spPr>
          <a:xfrm>
            <a:off x="838200" y="365125"/>
            <a:ext cx="10515600" cy="890469"/>
          </a:xfrm>
        </p:spPr>
        <p:txBody>
          <a:bodyPr>
            <a:normAutofit/>
          </a:bodyPr>
          <a:lstStyle/>
          <a:p>
            <a:pPr algn="ctr"/>
            <a:r>
              <a:rPr lang="en-US" sz="3600" dirty="0">
                <a:latin typeface="Times New Roman" panose="02020603050405020304" pitchFamily="18" charset="0"/>
                <a:cs typeface="Times New Roman" panose="02020603050405020304" pitchFamily="18" charset="0"/>
              </a:rPr>
              <a:t>Dimensionality Reduction</a:t>
            </a:r>
          </a:p>
        </p:txBody>
      </p:sp>
      <p:pic>
        <p:nvPicPr>
          <p:cNvPr id="4" name="Content Placeholder 3">
            <a:extLst>
              <a:ext uri="{FF2B5EF4-FFF2-40B4-BE49-F238E27FC236}">
                <a16:creationId xmlns:a16="http://schemas.microsoft.com/office/drawing/2014/main" id="{4DE719D2-D936-4220-823A-345360594A7A}"/>
              </a:ext>
            </a:extLst>
          </p:cNvPr>
          <p:cNvPicPr>
            <a:picLocks noGrp="1" noChangeAspect="1"/>
          </p:cNvPicPr>
          <p:nvPr>
            <p:ph idx="1"/>
          </p:nvPr>
        </p:nvPicPr>
        <p:blipFill>
          <a:blip r:embed="rId2"/>
          <a:stretch>
            <a:fillRect/>
          </a:stretch>
        </p:blipFill>
        <p:spPr>
          <a:xfrm>
            <a:off x="6811086" y="2095335"/>
            <a:ext cx="4857750" cy="3105150"/>
          </a:xfrm>
          <a:prstGeom prst="rect">
            <a:avLst/>
          </a:prstGeom>
        </p:spPr>
      </p:pic>
      <p:sp>
        <p:nvSpPr>
          <p:cNvPr id="5" name="Rectangle 4">
            <a:extLst>
              <a:ext uri="{FF2B5EF4-FFF2-40B4-BE49-F238E27FC236}">
                <a16:creationId xmlns:a16="http://schemas.microsoft.com/office/drawing/2014/main" id="{72C7FC71-91C1-406B-9370-C5F6AD1609F8}"/>
              </a:ext>
            </a:extLst>
          </p:cNvPr>
          <p:cNvSpPr/>
          <p:nvPr/>
        </p:nvSpPr>
        <p:spPr>
          <a:xfrm>
            <a:off x="523164" y="1398031"/>
            <a:ext cx="5972886" cy="4499758"/>
          </a:xfrm>
          <a:prstGeom prst="rect">
            <a:avLst/>
          </a:prstGeom>
        </p:spPr>
        <p:txBody>
          <a:bodyPr wrap="square">
            <a:spAutoFit/>
          </a:bodyPr>
          <a:lstStyle/>
          <a:p>
            <a:pPr marL="342900" indent="-342900" algn="just">
              <a:lnSpc>
                <a:spcPct val="150000"/>
              </a:lnSpc>
              <a:spcAft>
                <a:spcPts val="792"/>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 the number of features increases, the model becomes more complex. </a:t>
            </a:r>
          </a:p>
          <a:p>
            <a:pPr marL="342900" indent="-342900" algn="just">
              <a:lnSpc>
                <a:spcPct val="150000"/>
              </a:lnSpc>
              <a:spcAft>
                <a:spcPts val="792"/>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more the number of features, the more the chances of overfitting. </a:t>
            </a:r>
          </a:p>
          <a:p>
            <a:pPr marL="342900" indent="-342900" algn="just">
              <a:lnSpc>
                <a:spcPct val="150000"/>
              </a:lnSpc>
              <a:spcAft>
                <a:spcPts val="792"/>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PCA</a:t>
            </a: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LDA/SVD</a:t>
            </a:r>
            <a:r>
              <a:rPr lang="en-US" sz="2000" dirty="0">
                <a:latin typeface="Times New Roman" panose="02020603050405020304" pitchFamily="18" charset="0"/>
                <a:cs typeface="Times New Roman" panose="02020603050405020304" pitchFamily="18" charset="0"/>
              </a:rPr>
              <a:t> are examples </a:t>
            </a:r>
          </a:p>
          <a:p>
            <a:pPr marL="342900" indent="-342900" algn="just">
              <a:lnSpc>
                <a:spcPct val="150000"/>
              </a:lnSpc>
              <a:spcAft>
                <a:spcPts val="792"/>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machine learning model that is trained on many features, gets increasingly dependent on the data it was trained on and in turn overfitted, resulting in poor performance on real data, beating the purpose.</a:t>
            </a:r>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5558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13DA-A760-4E0A-8C8E-4421FB64DA3F}"/>
              </a:ext>
            </a:extLst>
          </p:cNvPr>
          <p:cNvSpPr>
            <a:spLocks noGrp="1"/>
          </p:cNvSpPr>
          <p:nvPr>
            <p:ph type="title"/>
          </p:nvPr>
        </p:nvSpPr>
        <p:spPr>
          <a:xfrm>
            <a:off x="838200" y="148144"/>
            <a:ext cx="10515600" cy="726696"/>
          </a:xfrm>
        </p:spPr>
        <p:txBody>
          <a:bodyPr>
            <a:normAutofit/>
          </a:bodyPr>
          <a:lstStyle/>
          <a:p>
            <a:pPr algn="ctr"/>
            <a:r>
              <a:rPr lang="en-US" sz="3600" dirty="0">
                <a:latin typeface="Times New Roman" panose="02020603050405020304" pitchFamily="18" charset="0"/>
                <a:cs typeface="Times New Roman" panose="02020603050405020304" pitchFamily="18" charset="0"/>
              </a:rPr>
              <a:t>Feature Selection and Engineering</a:t>
            </a:r>
          </a:p>
        </p:txBody>
      </p:sp>
      <p:sp>
        <p:nvSpPr>
          <p:cNvPr id="3" name="Content Placeholder 2">
            <a:extLst>
              <a:ext uri="{FF2B5EF4-FFF2-40B4-BE49-F238E27FC236}">
                <a16:creationId xmlns:a16="http://schemas.microsoft.com/office/drawing/2014/main" id="{940BE7BE-28FC-48C2-933C-D4A4A3E2691C}"/>
              </a:ext>
            </a:extLst>
          </p:cNvPr>
          <p:cNvSpPr>
            <a:spLocks noGrp="1"/>
          </p:cNvSpPr>
          <p:nvPr>
            <p:ph idx="1"/>
          </p:nvPr>
        </p:nvSpPr>
        <p:spPr>
          <a:xfrm>
            <a:off x="551597" y="979464"/>
            <a:ext cx="11158182" cy="1831975"/>
          </a:xfrm>
        </p:spPr>
        <p:txBody>
          <a:bodyPr/>
          <a:lstStyle/>
          <a:p>
            <a:pPr>
              <a:lnSpc>
                <a:spcPct val="150000"/>
              </a:lnSpc>
            </a:pPr>
            <a:r>
              <a:rPr lang="en-US" sz="2200" dirty="0">
                <a:latin typeface="Times New Roman" panose="02020603050405020304" pitchFamily="18" charset="0"/>
                <a:cs typeface="Times New Roman" panose="02020603050405020304" pitchFamily="18" charset="0"/>
              </a:rPr>
              <a:t>Feature selection is the process of identifying and selecting relevant features for your sample. </a:t>
            </a:r>
          </a:p>
          <a:p>
            <a:pPr>
              <a:lnSpc>
                <a:spcPct val="150000"/>
              </a:lnSpc>
            </a:pPr>
            <a:r>
              <a:rPr lang="en-US" sz="2200" dirty="0">
                <a:latin typeface="Times New Roman" panose="02020603050405020304" pitchFamily="18" charset="0"/>
                <a:cs typeface="Times New Roman" panose="02020603050405020304" pitchFamily="18" charset="0"/>
              </a:rPr>
              <a:t>Feature engineering is manually generating new features from existing features, by applying some transformation or performing some operation on them.</a:t>
            </a:r>
          </a:p>
          <a:p>
            <a:endParaRPr lang="en-US" dirty="0"/>
          </a:p>
        </p:txBody>
      </p:sp>
      <p:pic>
        <p:nvPicPr>
          <p:cNvPr id="4" name="Picture 3">
            <a:extLst>
              <a:ext uri="{FF2B5EF4-FFF2-40B4-BE49-F238E27FC236}">
                <a16:creationId xmlns:a16="http://schemas.microsoft.com/office/drawing/2014/main" id="{FD41AFA5-5B65-487F-B517-B3AA38FA372C}"/>
              </a:ext>
            </a:extLst>
          </p:cNvPr>
          <p:cNvPicPr>
            <a:picLocks noChangeAspect="1"/>
          </p:cNvPicPr>
          <p:nvPr/>
        </p:nvPicPr>
        <p:blipFill>
          <a:blip r:embed="rId2"/>
          <a:stretch>
            <a:fillRect/>
          </a:stretch>
        </p:blipFill>
        <p:spPr>
          <a:xfrm>
            <a:off x="1240792" y="2811439"/>
            <a:ext cx="4855208" cy="3898417"/>
          </a:xfrm>
          <a:prstGeom prst="rect">
            <a:avLst/>
          </a:prstGeom>
        </p:spPr>
      </p:pic>
      <p:pic>
        <p:nvPicPr>
          <p:cNvPr id="5" name="Picture 4">
            <a:extLst>
              <a:ext uri="{FF2B5EF4-FFF2-40B4-BE49-F238E27FC236}">
                <a16:creationId xmlns:a16="http://schemas.microsoft.com/office/drawing/2014/main" id="{15139701-D0AC-4E28-9B2A-E1F4C448322E}"/>
              </a:ext>
            </a:extLst>
          </p:cNvPr>
          <p:cNvPicPr>
            <a:picLocks noChangeAspect="1"/>
          </p:cNvPicPr>
          <p:nvPr/>
        </p:nvPicPr>
        <p:blipFill>
          <a:blip r:embed="rId3"/>
          <a:stretch>
            <a:fillRect/>
          </a:stretch>
        </p:blipFill>
        <p:spPr>
          <a:xfrm>
            <a:off x="6253162" y="3117585"/>
            <a:ext cx="4883684" cy="3286125"/>
          </a:xfrm>
          <a:prstGeom prst="rect">
            <a:avLst/>
          </a:prstGeom>
        </p:spPr>
      </p:pic>
    </p:spTree>
    <p:extLst>
      <p:ext uri="{BB962C8B-B14F-4D97-AF65-F5344CB8AC3E}">
        <p14:creationId xmlns:p14="http://schemas.microsoft.com/office/powerpoint/2010/main" val="265457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4F7D-B1F4-472D-98A9-9D8C79E0C367}"/>
              </a:ext>
            </a:extLst>
          </p:cNvPr>
          <p:cNvSpPr>
            <a:spLocks noGrp="1"/>
          </p:cNvSpPr>
          <p:nvPr>
            <p:ph type="title"/>
          </p:nvPr>
        </p:nvSpPr>
        <p:spPr>
          <a:xfrm>
            <a:off x="838200" y="105817"/>
            <a:ext cx="10515600" cy="767639"/>
          </a:xfrm>
        </p:spPr>
        <p:txBody>
          <a:bodyPr>
            <a:normAutofit/>
          </a:bodyPr>
          <a:lstStyle/>
          <a:p>
            <a:pPr algn="ctr"/>
            <a:r>
              <a:rPr lang="en-US" sz="3600" dirty="0">
                <a:latin typeface="Times New Roman" panose="02020603050405020304" pitchFamily="18" charset="0"/>
                <a:cs typeface="Times New Roman" panose="02020603050405020304" pitchFamily="18" charset="0"/>
              </a:rPr>
              <a:t>Covariance and correlation</a:t>
            </a:r>
          </a:p>
        </p:txBody>
      </p:sp>
      <p:sp>
        <p:nvSpPr>
          <p:cNvPr id="3" name="Content Placeholder 2">
            <a:extLst>
              <a:ext uri="{FF2B5EF4-FFF2-40B4-BE49-F238E27FC236}">
                <a16:creationId xmlns:a16="http://schemas.microsoft.com/office/drawing/2014/main" id="{FE6197BE-5745-4ABE-9BA4-61EEB014DACD}"/>
              </a:ext>
            </a:extLst>
          </p:cNvPr>
          <p:cNvSpPr>
            <a:spLocks noGrp="1"/>
          </p:cNvSpPr>
          <p:nvPr>
            <p:ph idx="1"/>
          </p:nvPr>
        </p:nvSpPr>
        <p:spPr>
          <a:xfrm>
            <a:off x="407727" y="873456"/>
            <a:ext cx="11376546" cy="5298506"/>
          </a:xfrm>
        </p:spPr>
        <p:txBody>
          <a:bodyPr/>
          <a:lstStyle/>
          <a:p>
            <a:pPr>
              <a:lnSpc>
                <a:spcPct val="150000"/>
              </a:lnSpc>
            </a:pPr>
            <a:r>
              <a:rPr lang="en-US" sz="2200" b="1" dirty="0">
                <a:latin typeface="Times New Roman" panose="02020603050405020304" pitchFamily="18" charset="0"/>
                <a:cs typeface="Times New Roman" panose="02020603050405020304" pitchFamily="18" charset="0"/>
              </a:rPr>
              <a:t>Covariance</a:t>
            </a:r>
            <a:r>
              <a:rPr lang="en-US" sz="2200" dirty="0">
                <a:latin typeface="Times New Roman" panose="02020603050405020304" pitchFamily="18" charset="0"/>
                <a:cs typeface="Times New Roman" panose="02020603050405020304" pitchFamily="18" charset="0"/>
              </a:rPr>
              <a:t> provides insight into how two variables are related to one another. </a:t>
            </a:r>
          </a:p>
          <a:p>
            <a:pPr>
              <a:lnSpc>
                <a:spcPct val="150000"/>
              </a:lnSpc>
            </a:pPr>
            <a:r>
              <a:rPr lang="en-US" sz="2200" b="1" dirty="0">
                <a:effectLst/>
                <a:latin typeface="Times New Roman" panose="02020603050405020304" pitchFamily="18" charset="0"/>
                <a:cs typeface="Times New Roman" panose="02020603050405020304" pitchFamily="18" charset="0"/>
              </a:rPr>
              <a:t>Correlation</a:t>
            </a:r>
            <a:r>
              <a:rPr lang="en-US" sz="2200" dirty="0">
                <a:effectLst/>
                <a:latin typeface="Times New Roman" panose="02020603050405020304" pitchFamily="18" charset="0"/>
                <a:cs typeface="Times New Roman" panose="02020603050405020304" pitchFamily="18" charset="0"/>
              </a:rPr>
              <a:t> tells that at what degree tw</a:t>
            </a:r>
            <a:r>
              <a:rPr lang="en-US" sz="2200" dirty="0">
                <a:latin typeface="Times New Roman" panose="02020603050405020304" pitchFamily="18" charset="0"/>
                <a:cs typeface="Times New Roman" panose="02020603050405020304" pitchFamily="18" charset="0"/>
              </a:rPr>
              <a:t>o or more variables are related.</a:t>
            </a:r>
          </a:p>
          <a:p>
            <a:endParaRPr lang="en-US" dirty="0">
              <a:effectLst/>
            </a:endParaRPr>
          </a:p>
        </p:txBody>
      </p:sp>
      <p:pic>
        <p:nvPicPr>
          <p:cNvPr id="7" name="Picture 6" descr="A close up of a map&#10;&#10;Description automatically generated">
            <a:extLst>
              <a:ext uri="{FF2B5EF4-FFF2-40B4-BE49-F238E27FC236}">
                <a16:creationId xmlns:a16="http://schemas.microsoft.com/office/drawing/2014/main" id="{CD2EA2D2-181E-4B1E-AB8B-8D53F7ECD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1040" y="2639355"/>
            <a:ext cx="7884669" cy="2889670"/>
          </a:xfrm>
          <a:prstGeom prst="rect">
            <a:avLst/>
          </a:prstGeom>
        </p:spPr>
      </p:pic>
    </p:spTree>
    <p:extLst>
      <p:ext uri="{BB962C8B-B14F-4D97-AF65-F5344CB8AC3E}">
        <p14:creationId xmlns:p14="http://schemas.microsoft.com/office/powerpoint/2010/main" val="141906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C8F1DB-1C92-4DD2-BA4D-5CD46A6AA91C}"/>
              </a:ext>
            </a:extLst>
          </p:cNvPr>
          <p:cNvSpPr/>
          <p:nvPr/>
        </p:nvSpPr>
        <p:spPr>
          <a:xfrm>
            <a:off x="458287" y="250584"/>
            <a:ext cx="10872322" cy="584775"/>
          </a:xfrm>
          <a:prstGeom prst="rect">
            <a:avLst/>
          </a:prstGeom>
        </p:spPr>
        <p:txBody>
          <a:bodyPr wrap="square">
            <a:spAutoFit/>
          </a:bodyPr>
          <a:lstStyle/>
          <a:p>
            <a:pPr algn="ctr"/>
            <a:r>
              <a:rPr lang="en-US" sz="3200" b="1" dirty="0">
                <a:solidFill>
                  <a:schemeClr val="accent2">
                    <a:lumMod val="75000"/>
                  </a:schemeClr>
                </a:solidFill>
                <a:latin typeface="Cambria" panose="02040503050406030204" pitchFamily="18" charset="0"/>
                <a:cs typeface="Times New Roman" panose="02020603050405020304" pitchFamily="18" charset="0"/>
              </a:rPr>
              <a:t>Steps in Data Science</a:t>
            </a:r>
            <a:endParaRPr lang="en-US" sz="2000" b="1" dirty="0">
              <a:solidFill>
                <a:schemeClr val="accent2">
                  <a:lumMod val="75000"/>
                </a:schemeClr>
              </a:solidFill>
              <a:latin typeface="Cambria" panose="020405030504060302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E762FE0-1A26-4ED4-91A2-EECA8CEF51F5}"/>
              </a:ext>
            </a:extLst>
          </p:cNvPr>
          <p:cNvSpPr/>
          <p:nvPr/>
        </p:nvSpPr>
        <p:spPr>
          <a:xfrm>
            <a:off x="419983" y="946056"/>
            <a:ext cx="5009322" cy="3884333"/>
          </a:xfrm>
          <a:prstGeom prst="rect">
            <a:avLst/>
          </a:prstGeom>
        </p:spPr>
        <p:txBody>
          <a:bodyPr wrap="square">
            <a:spAutoFit/>
          </a:bodyPr>
          <a:lstStyle/>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Problem Identification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Collection/Generation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Preprocessing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Exploration </a:t>
            </a:r>
            <a:r>
              <a:rPr lang="en-US" sz="1600" dirty="0">
                <a:solidFill>
                  <a:schemeClr val="accent1">
                    <a:lumMod val="50000"/>
                  </a:schemeClr>
                </a:solidFill>
                <a:latin typeface="Cambria" panose="02040503050406030204" pitchFamily="18" charset="0"/>
                <a:cs typeface="Times New Roman" panose="02020603050405020304" pitchFamily="18" charset="0"/>
              </a:rPr>
              <a:t>(EDA)</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Building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Evaluation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Analyze Results</a:t>
            </a:r>
            <a:endParaRPr lang="en-US" sz="1400" dirty="0">
              <a:solidFill>
                <a:schemeClr val="accent1">
                  <a:lumMod val="50000"/>
                </a:schemeClr>
              </a:solidFill>
              <a:latin typeface="Cambria" panose="020405030504060302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1943B2FF-059A-46F2-B069-5B87CCF5241E}"/>
              </a:ext>
            </a:extLst>
          </p:cNvPr>
          <p:cNvSpPr/>
          <p:nvPr/>
        </p:nvSpPr>
        <p:spPr>
          <a:xfrm>
            <a:off x="4177615" y="910501"/>
            <a:ext cx="4191944" cy="3955442"/>
          </a:xfrm>
          <a:prstGeom prst="rect">
            <a:avLst/>
          </a:prstGeom>
        </p:spPr>
        <p:txBody>
          <a:bodyPr wrap="square">
            <a:spAutoFit/>
          </a:bodyPr>
          <a:lstStyle/>
          <a:p>
            <a:pPr algn="just">
              <a:lnSpc>
                <a:spcPct val="200000"/>
              </a:lnSpc>
            </a:pPr>
            <a:r>
              <a:rPr lang="en-US" sz="1600" b="1" dirty="0">
                <a:solidFill>
                  <a:schemeClr val="accent1">
                    <a:lumMod val="50000"/>
                  </a:schemeClr>
                </a:solidFill>
                <a:latin typeface="Cambria" panose="02040503050406030204" pitchFamily="18" charset="0"/>
                <a:cs typeface="Times New Roman" panose="02020603050405020304" pitchFamily="18" charset="0"/>
              </a:rPr>
              <a:t>Data Wrangling / Munging</a:t>
            </a:r>
            <a:r>
              <a:rPr lang="en-US" sz="1600" b="1" dirty="0">
                <a:solidFill>
                  <a:schemeClr val="accent1">
                    <a:lumMod val="50000"/>
                  </a:schemeClr>
                </a:solidFill>
                <a:latin typeface="Cambria" panose="02040503050406030204" pitchFamily="18" charset="0"/>
              </a:rPr>
              <a:t> </a:t>
            </a:r>
            <a:endParaRPr lang="en-US" sz="1600" b="1" dirty="0">
              <a:solidFill>
                <a:schemeClr val="accent1">
                  <a:lumMod val="50000"/>
                </a:schemeClr>
              </a:solidFill>
              <a:latin typeface="Cambria" panose="02040503050406030204" pitchFamily="18" charset="0"/>
              <a:cs typeface="Times New Roman" panose="02020603050405020304" pitchFamily="18" charset="0"/>
            </a:endParaRP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Imputation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Integration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Encoding / Decoding</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Outlier Analysis</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Transformation / Normalization</a:t>
            </a:r>
          </a:p>
          <a:p>
            <a:pPr indent="-457200" algn="just">
              <a:lnSpc>
                <a:spcPct val="200000"/>
              </a:lnSpc>
              <a:buFont typeface="Arial" panose="020B0604020202020204" pitchFamily="34" charset="0"/>
              <a:buChar char="•"/>
            </a:pPr>
            <a:r>
              <a:rPr lang="en-US" sz="1600" dirty="0">
                <a:solidFill>
                  <a:srgbClr val="FF0000"/>
                </a:solidFill>
                <a:latin typeface="Cambria" panose="02040503050406030204" pitchFamily="18" charset="0"/>
                <a:cs typeface="Times New Roman" panose="02020603050405020304" pitchFamily="18" charset="0"/>
              </a:rPr>
              <a:t>Dimensionality Reduction</a:t>
            </a:r>
          </a:p>
          <a:p>
            <a:pPr indent="-457200" algn="just">
              <a:lnSpc>
                <a:spcPct val="200000"/>
              </a:lnSpc>
              <a:buFont typeface="Arial" panose="020B0604020202020204" pitchFamily="34" charset="0"/>
              <a:buChar char="•"/>
            </a:pPr>
            <a:r>
              <a:rPr lang="en-US" sz="1600" dirty="0">
                <a:solidFill>
                  <a:srgbClr val="FF0000"/>
                </a:solidFill>
                <a:latin typeface="Cambria" panose="02040503050406030204" pitchFamily="18" charset="0"/>
                <a:cs typeface="Times New Roman" panose="02020603050405020304" pitchFamily="18" charset="0"/>
              </a:rPr>
              <a:t>Feature Engineering/Selection</a:t>
            </a:r>
          </a:p>
        </p:txBody>
      </p:sp>
      <p:sp>
        <p:nvSpPr>
          <p:cNvPr id="3" name="TextBox 2">
            <a:extLst>
              <a:ext uri="{FF2B5EF4-FFF2-40B4-BE49-F238E27FC236}">
                <a16:creationId xmlns:a16="http://schemas.microsoft.com/office/drawing/2014/main" id="{FDBFF620-1CCB-168F-8A55-9E640AF4FA79}"/>
              </a:ext>
            </a:extLst>
          </p:cNvPr>
          <p:cNvSpPr txBox="1"/>
          <p:nvPr/>
        </p:nvSpPr>
        <p:spPr>
          <a:xfrm>
            <a:off x="1399592" y="5144094"/>
            <a:ext cx="10618236" cy="1315553"/>
          </a:xfrm>
          <a:prstGeom prst="rect">
            <a:avLst/>
          </a:prstGeom>
          <a:noFill/>
        </p:spPr>
        <p:txBody>
          <a:bodyPr wrap="square">
            <a:spAutoFit/>
          </a:bodyPr>
          <a:lstStyle/>
          <a:p>
            <a:pPr marL="342900" lvl="0" indent="-342900">
              <a:lnSpc>
                <a:spcPts val="2490"/>
              </a:lnSpc>
              <a:spcBef>
                <a:spcPts val="2175"/>
              </a:spcBef>
              <a:buFont typeface="Symbol" panose="05050102010706020507" pitchFamily="18" charset="2"/>
              <a:buChar char=""/>
            </a:pPr>
            <a:r>
              <a:rPr lang="en-US"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Feature selection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is the process of identifying and selecting relevant features for your sample.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490"/>
              </a:lnSpc>
              <a:spcBef>
                <a:spcPts val="2175"/>
              </a:spcBef>
              <a:spcAft>
                <a:spcPts val="800"/>
              </a:spcAft>
              <a:buFont typeface="Symbol" panose="05050102010706020507" pitchFamily="18" charset="2"/>
              <a:buChar char=""/>
            </a:pPr>
            <a:r>
              <a:rPr lang="en-US"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Feature engineering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is manually generating new features from existing features, by applying some transformation or performing some operation on them.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23749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ece of paper with writing on it&#10;&#10;Description automatically generated">
            <a:extLst>
              <a:ext uri="{FF2B5EF4-FFF2-40B4-BE49-F238E27FC236}">
                <a16:creationId xmlns:a16="http://schemas.microsoft.com/office/drawing/2014/main" id="{093C0061-A113-E72E-3BE3-9EC3CD162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043" y="351196"/>
            <a:ext cx="4412320" cy="6155607"/>
          </a:xfrm>
          <a:prstGeom prst="rect">
            <a:avLst/>
          </a:prstGeom>
        </p:spPr>
      </p:pic>
    </p:spTree>
    <p:extLst>
      <p:ext uri="{BB962C8B-B14F-4D97-AF65-F5344CB8AC3E}">
        <p14:creationId xmlns:p14="http://schemas.microsoft.com/office/powerpoint/2010/main" val="120670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228" y="95153"/>
            <a:ext cx="10515600" cy="913169"/>
          </a:xfrm>
        </p:spPr>
        <p:txBody>
          <a:bodyPr/>
          <a:lstStyle/>
          <a:p>
            <a:r>
              <a:rPr lang="en-US" dirty="0"/>
              <a:t>Curse of Dimensionality</a:t>
            </a:r>
          </a:p>
        </p:txBody>
      </p:sp>
      <p:sp>
        <p:nvSpPr>
          <p:cNvPr id="3" name="Content Placeholder 2"/>
          <p:cNvSpPr>
            <a:spLocks noGrp="1"/>
          </p:cNvSpPr>
          <p:nvPr>
            <p:ph idx="1"/>
          </p:nvPr>
        </p:nvSpPr>
        <p:spPr>
          <a:xfrm>
            <a:off x="824203" y="1158843"/>
            <a:ext cx="11240278" cy="1183141"/>
          </a:xfrm>
        </p:spPr>
        <p:txBody>
          <a:bodyPr/>
          <a:lstStyle/>
          <a:p>
            <a:pPr>
              <a:lnSpc>
                <a:spcPct val="93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number of training examples is fixed</a:t>
            </a:r>
          </a:p>
          <a:p>
            <a:pPr lvl="1">
              <a:lnSpc>
                <a:spcPct val="93000"/>
              </a:lnSpc>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	=&gt; the classifier</a:t>
            </a:r>
            <a:r>
              <a:rPr lang="en-IN" dirty="0">
                <a:latin typeface="Arial"/>
              </a:rPr>
              <a:t>’</a:t>
            </a:r>
            <a:r>
              <a:rPr lang="en-GB" dirty="0"/>
              <a:t>s performance usually will degrade for a large number of features!</a:t>
            </a:r>
          </a:p>
        </p:txBody>
      </p:sp>
      <p:pic>
        <p:nvPicPr>
          <p:cNvPr id="4" name="Picture 17" descr="curse_of_dimensionality_c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504" y="2242458"/>
            <a:ext cx="5817047" cy="2613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243DE2-1FCF-4389-B415-C0700E2F631F}"/>
              </a:ext>
            </a:extLst>
          </p:cNvPr>
          <p:cNvSpPr txBox="1"/>
          <p:nvPr/>
        </p:nvSpPr>
        <p:spPr>
          <a:xfrm>
            <a:off x="945500" y="5237492"/>
            <a:ext cx="10997683" cy="1477328"/>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B41"/>
                </a:solidFill>
                <a:effectLst/>
                <a:latin typeface="Georgia" panose="02040502050405020303" pitchFamily="18" charset="0"/>
              </a:rPr>
              <a:t>Curse of dimensionality also describes the phenomenon where the feature space becomes increasingly sparse for an increasing number of dimensions of a fixed-size training dataset. </a:t>
            </a:r>
          </a:p>
          <a:p>
            <a:endParaRPr lang="en-US" dirty="0">
              <a:solidFill>
                <a:srgbClr val="3A3B41"/>
              </a:solidFill>
              <a:latin typeface="Georgia" panose="02040502050405020303" pitchFamily="18" charset="0"/>
            </a:endParaRPr>
          </a:p>
          <a:p>
            <a:pPr marL="285750" indent="-285750">
              <a:buFont typeface="Arial" panose="020B0604020202020204" pitchFamily="34" charset="0"/>
              <a:buChar char="•"/>
            </a:pPr>
            <a:r>
              <a:rPr lang="en-US" b="0" i="0" dirty="0">
                <a:solidFill>
                  <a:srgbClr val="3A3B41"/>
                </a:solidFill>
                <a:effectLst/>
                <a:latin typeface="Georgia" panose="02040502050405020303" pitchFamily="18" charset="0"/>
              </a:rPr>
              <a:t>Intuitively, we can think of even the closest neighbors being too far away in a high-dimensional space to give a good estimate. </a:t>
            </a:r>
            <a:endParaRPr lang="en-IN" dirty="0"/>
          </a:p>
        </p:txBody>
      </p:sp>
    </p:spTree>
    <p:extLst>
      <p:ext uri="{BB962C8B-B14F-4D97-AF65-F5344CB8AC3E}">
        <p14:creationId xmlns:p14="http://schemas.microsoft.com/office/powerpoint/2010/main" val="1767796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Reduction in ML</a:t>
            </a:r>
          </a:p>
        </p:txBody>
      </p:sp>
      <p:sp>
        <p:nvSpPr>
          <p:cNvPr id="3" name="Content Placeholder 2"/>
          <p:cNvSpPr>
            <a:spLocks noGrp="1"/>
          </p:cNvSpPr>
          <p:nvPr>
            <p:ph idx="1"/>
          </p:nvPr>
        </p:nvSpPr>
        <p:spPr/>
        <p:txBody>
          <a:bodyPr>
            <a:normAutofit/>
          </a:bodyPr>
          <a:lstStyle/>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Irrelevant and </a:t>
            </a:r>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redundant features </a:t>
            </a:r>
          </a:p>
          <a:p>
            <a:pPr lvl="1">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can confuse learners.</a:t>
            </a:r>
          </a:p>
          <a:p>
            <a:pPr lvl="1">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endParaRPr lang="en-GB" dirty="0"/>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Limited training data.</a:t>
            </a:r>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Limited computational resources.</a:t>
            </a:r>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b="1" dirty="0"/>
              <a:t>Curse of dimensionality</a:t>
            </a:r>
            <a:r>
              <a:rPr lang="en-GB" dirty="0"/>
              <a:t>.</a:t>
            </a:r>
          </a:p>
          <a:p>
            <a:pPr>
              <a:lnSpc>
                <a:spcPct val="93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US" dirty="0"/>
          </a:p>
        </p:txBody>
      </p:sp>
    </p:spTree>
    <p:extLst>
      <p:ext uri="{BB962C8B-B14F-4D97-AF65-F5344CB8AC3E}">
        <p14:creationId xmlns:p14="http://schemas.microsoft.com/office/powerpoint/2010/main" val="3132925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5732" y="304800"/>
            <a:ext cx="8229600" cy="990600"/>
          </a:xfrm>
        </p:spPr>
        <p:txBody>
          <a:bodyPr>
            <a:normAutofit/>
          </a:bodyPr>
          <a:lstStyle/>
          <a:p>
            <a:r>
              <a:rPr lang="en-US" sz="3600" dirty="0"/>
              <a:t>Feature Selection</a:t>
            </a:r>
          </a:p>
        </p:txBody>
      </p:sp>
      <p:sp>
        <p:nvSpPr>
          <p:cNvPr id="3" name="Content Placeholder 2"/>
          <p:cNvSpPr>
            <a:spLocks noGrp="1"/>
          </p:cNvSpPr>
          <p:nvPr>
            <p:ph idx="1"/>
          </p:nvPr>
        </p:nvSpPr>
        <p:spPr>
          <a:xfrm>
            <a:off x="1965638" y="1295401"/>
            <a:ext cx="8229600" cy="1066799"/>
          </a:xfrm>
        </p:spPr>
        <p:txBody>
          <a:bodyPr>
            <a:normAutofit/>
          </a:bodyPr>
          <a:lstStyle/>
          <a:p>
            <a:pPr marL="0" indent="0">
              <a:buNone/>
            </a:pPr>
            <a:r>
              <a:rPr lang="en-GB" dirty="0"/>
              <a:t>Problem of selecting some subset of features, while ignoring the rest </a:t>
            </a:r>
            <a:endParaRPr lang="en-US" dirty="0"/>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a:xfrm>
                <a:off x="1965638" y="3352800"/>
                <a:ext cx="8153400" cy="1295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tr-TR" sz="2800" dirty="0"/>
                  <a:t>Project the </a:t>
                </a:r>
                <a:r>
                  <a:rPr lang="en-US" sz="2800" dirty="0"/>
                  <a:t> </a:t>
                </a:r>
                <a:r>
                  <a:rPr lang="tr-TR" sz="2800" dirty="0"/>
                  <a:t>original </a:t>
                </a:r>
                <a:r>
                  <a:rPr lang="tr-TR" sz="2800" i="1" dirty="0">
                    <a:solidFill>
                      <a:srgbClr val="0000FF"/>
                    </a:solidFill>
                  </a:rPr>
                  <a:t>x</a:t>
                </a:r>
                <a:r>
                  <a:rPr lang="tr-TR" sz="2800" i="1" baseline="-25000" dirty="0">
                    <a:solidFill>
                      <a:srgbClr val="0000FF"/>
                    </a:solidFill>
                  </a:rPr>
                  <a:t>i</a:t>
                </a:r>
                <a:r>
                  <a:rPr lang="tr-TR" sz="2800" dirty="0">
                    <a:solidFill>
                      <a:srgbClr val="0000FF"/>
                    </a:solidFill>
                  </a:rPr>
                  <a:t> </a:t>
                </a:r>
                <a:r>
                  <a:rPr lang="tr-TR" sz="2800" dirty="0"/>
                  <a:t>, </a:t>
                </a:r>
                <a:r>
                  <a:rPr lang="tr-TR" sz="2800" i="1" dirty="0">
                    <a:solidFill>
                      <a:schemeClr val="accent1">
                        <a:lumMod val="50000"/>
                      </a:schemeClr>
                    </a:solidFill>
                  </a:rPr>
                  <a:t>i </a:t>
                </a:r>
                <a:r>
                  <a:rPr lang="tr-TR" sz="2800" dirty="0">
                    <a:solidFill>
                      <a:schemeClr val="accent1">
                        <a:lumMod val="50000"/>
                      </a:schemeClr>
                    </a:solidFill>
                  </a:rPr>
                  <a:t>=1,...,</a:t>
                </a:r>
                <a:r>
                  <a:rPr lang="tr-TR" sz="2800" i="1" dirty="0">
                    <a:solidFill>
                      <a:schemeClr val="accent1">
                        <a:lumMod val="50000"/>
                      </a:schemeClr>
                    </a:solidFill>
                  </a:rPr>
                  <a:t>d</a:t>
                </a:r>
                <a:r>
                  <a:rPr lang="tr-TR" sz="2800" dirty="0">
                    <a:solidFill>
                      <a:schemeClr val="accent1">
                        <a:lumMod val="50000"/>
                      </a:schemeClr>
                    </a:solidFill>
                  </a:rPr>
                  <a:t> </a:t>
                </a:r>
                <a:r>
                  <a:rPr lang="tr-TR" sz="2800" dirty="0"/>
                  <a:t>dimensions to </a:t>
                </a:r>
                <a:r>
                  <a:rPr lang="en-US" sz="2800" dirty="0"/>
                  <a:t> </a:t>
                </a:r>
                <a:r>
                  <a:rPr lang="tr-TR" sz="2800" dirty="0"/>
                  <a:t>new </a:t>
                </a:r>
                <a14:m>
                  <m:oMath xmlns:m="http://schemas.openxmlformats.org/officeDocument/2006/math">
                    <m:r>
                      <a:rPr lang="en-IN" sz="2800" i="1">
                        <a:latin typeface="Cambria Math"/>
                      </a:rPr>
                      <m:t>𝑘</m:t>
                    </m:r>
                    <m:r>
                      <a:rPr lang="en-IN" sz="2800" i="1">
                        <a:latin typeface="Cambria Math"/>
                      </a:rPr>
                      <m:t>&lt;</m:t>
                    </m:r>
                    <m:r>
                      <a:rPr lang="en-IN" sz="2800" i="1">
                        <a:latin typeface="Cambria Math"/>
                      </a:rPr>
                      <m:t>𝑑</m:t>
                    </m:r>
                    <m:r>
                      <a:rPr lang="en-IN" sz="2800" i="1">
                        <a:latin typeface="Cambria Math"/>
                      </a:rPr>
                      <m:t> </m:t>
                    </m:r>
                  </m:oMath>
                </a14:m>
                <a:r>
                  <a:rPr lang="tr-TR" sz="2800" dirty="0"/>
                  <a:t>dimensions, </a:t>
                </a:r>
                <a:r>
                  <a:rPr lang="tr-TR" sz="2800" i="1" dirty="0">
                    <a:solidFill>
                      <a:srgbClr val="0000FF"/>
                    </a:solidFill>
                  </a:rPr>
                  <a:t>z</a:t>
                </a:r>
                <a:r>
                  <a:rPr lang="tr-TR" sz="2800" i="1" baseline="-25000" dirty="0">
                    <a:solidFill>
                      <a:srgbClr val="0000FF"/>
                    </a:solidFill>
                  </a:rPr>
                  <a:t>j</a:t>
                </a:r>
                <a:r>
                  <a:rPr lang="tr-TR" sz="2800" dirty="0"/>
                  <a:t> , </a:t>
                </a:r>
                <a:r>
                  <a:rPr lang="tr-TR" sz="2800" i="1" dirty="0">
                    <a:solidFill>
                      <a:schemeClr val="accent1">
                        <a:lumMod val="50000"/>
                      </a:schemeClr>
                    </a:solidFill>
                  </a:rPr>
                  <a:t>j </a:t>
                </a:r>
                <a:r>
                  <a:rPr lang="tr-TR" sz="2800" dirty="0">
                    <a:solidFill>
                      <a:schemeClr val="accent1">
                        <a:lumMod val="50000"/>
                      </a:schemeClr>
                    </a:solidFill>
                  </a:rPr>
                  <a:t>=1,...,</a:t>
                </a:r>
                <a:r>
                  <a:rPr lang="tr-TR" sz="2800" i="1" dirty="0">
                    <a:solidFill>
                      <a:schemeClr val="accent1">
                        <a:lumMod val="50000"/>
                      </a:schemeClr>
                    </a:solidFill>
                  </a:rPr>
                  <a:t>k</a:t>
                </a:r>
              </a:p>
            </p:txBody>
          </p:sp>
        </mc:Choice>
        <mc:Fallback xmlns="">
          <p:sp>
            <p:nvSpPr>
              <p:cNvPr id="4" name="Rectangle 3"/>
              <p:cNvSpPr txBox="1">
                <a:spLocks noRot="1" noChangeAspect="1" noMove="1" noResize="1" noEditPoints="1" noAdjustHandles="1" noChangeArrowheads="1" noChangeShapeType="1" noTextEdit="1"/>
              </p:cNvSpPr>
              <p:nvPr/>
            </p:nvSpPr>
            <p:spPr>
              <a:xfrm>
                <a:off x="1965638" y="3352800"/>
                <a:ext cx="8153400" cy="1295400"/>
              </a:xfrm>
              <a:prstGeom prst="rect">
                <a:avLst/>
              </a:prstGeom>
              <a:blipFill>
                <a:blip r:embed="rId2"/>
                <a:stretch>
                  <a:fillRect l="-1345" t="-4225"/>
                </a:stretch>
              </a:blipFill>
            </p:spPr>
            <p:txBody>
              <a:bodyPr/>
              <a:lstStyle/>
              <a:p>
                <a:r>
                  <a:rPr lang="en-IN">
                    <a:noFill/>
                  </a:rPr>
                  <a:t> </a:t>
                </a:r>
              </a:p>
            </p:txBody>
          </p:sp>
        </mc:Fallback>
      </mc:AlternateContent>
      <p:sp>
        <p:nvSpPr>
          <p:cNvPr id="5" name="Title 1"/>
          <p:cNvSpPr txBox="1">
            <a:spLocks/>
          </p:cNvSpPr>
          <p:nvPr/>
        </p:nvSpPr>
        <p:spPr>
          <a:xfrm>
            <a:off x="1969050" y="2362200"/>
            <a:ext cx="8229600" cy="9906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accent2">
                    <a:lumMod val="75000"/>
                  </a:schemeClr>
                </a:solidFill>
                <a:latin typeface="+mj-lt"/>
                <a:ea typeface="+mj-ea"/>
                <a:cs typeface="+mj-cs"/>
              </a:defRPr>
            </a:lvl1pPr>
          </a:lstStyle>
          <a:p>
            <a:r>
              <a:rPr lang="en-US" sz="3600" dirty="0"/>
              <a:t>Feature Extraction</a:t>
            </a:r>
          </a:p>
        </p:txBody>
      </p:sp>
      <p:sp>
        <p:nvSpPr>
          <p:cNvPr id="6" name="TextBox 5"/>
          <p:cNvSpPr txBox="1"/>
          <p:nvPr/>
        </p:nvSpPr>
        <p:spPr>
          <a:xfrm>
            <a:off x="2259169" y="4659574"/>
            <a:ext cx="7566338" cy="1661993"/>
          </a:xfrm>
          <a:prstGeom prst="rect">
            <a:avLst/>
          </a:prstGeom>
          <a:solidFill>
            <a:schemeClr val="accent2">
              <a:lumMod val="20000"/>
              <a:lumOff val="80000"/>
            </a:schemeClr>
          </a:solidFill>
          <a:ln w="3175">
            <a:solidFill>
              <a:schemeClr val="tx1"/>
            </a:solidFill>
          </a:ln>
        </p:spPr>
        <p:txBody>
          <a:bodyPr wrap="square" rtlCol="0">
            <a:spAutoFit/>
          </a:bodyPr>
          <a:lstStyle/>
          <a:p>
            <a:r>
              <a:rPr lang="en-US" sz="2800" dirty="0">
                <a:solidFill>
                  <a:srgbClr val="002060"/>
                </a:solidFill>
              </a:rPr>
              <a:t>Criteria for selection/extraction: </a:t>
            </a:r>
          </a:p>
          <a:p>
            <a:r>
              <a:rPr lang="en-US" sz="2800" dirty="0">
                <a:solidFill>
                  <a:srgbClr val="002060"/>
                </a:solidFill>
              </a:rPr>
              <a:t>either improve or maintain the classification accuracy, simplify classifier complexity.</a:t>
            </a:r>
          </a:p>
          <a:p>
            <a:endParaRPr lang="en-US" dirty="0"/>
          </a:p>
        </p:txBody>
      </p:sp>
    </p:spTree>
    <p:extLst>
      <p:ext uri="{BB962C8B-B14F-4D97-AF65-F5344CB8AC3E}">
        <p14:creationId xmlns:p14="http://schemas.microsoft.com/office/powerpoint/2010/main" val="2551419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Selection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295401"/>
                <a:ext cx="8229600" cy="4830763"/>
              </a:xfrm>
            </p:spPr>
            <p:txBody>
              <a:bodyPr>
                <a:normAutofit/>
              </a:bodyPr>
              <a:lstStyle/>
              <a:p>
                <a:pPr>
                  <a:lnSpc>
                    <a:spcPct val="93000"/>
                  </a:lnSpc>
                  <a:spcBef>
                    <a:spcPts val="7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Given a set of features </a:t>
                </a:r>
                <a14:m>
                  <m:oMath xmlns:m="http://schemas.openxmlformats.org/officeDocument/2006/math">
                    <m:r>
                      <a:rPr lang="en-IN" i="1">
                        <a:latin typeface="Cambria Math"/>
                      </a:rPr>
                      <m:t> </m:t>
                    </m:r>
                    <m:r>
                      <a:rPr lang="en-IN" i="1">
                        <a:latin typeface="Cambria Math"/>
                      </a:rPr>
                      <m:t>𝐹</m:t>
                    </m:r>
                    <m:r>
                      <a:rPr lang="en-IN" i="1">
                        <a:latin typeface="Cambria Math"/>
                      </a:rPr>
                      <m:t>={</m:t>
                    </m:r>
                    <m:sSub>
                      <m:sSubPr>
                        <m:ctrlPr>
                          <a:rPr lang="en-IN" i="1">
                            <a:latin typeface="Cambria Math" panose="02040503050406030204" pitchFamily="18" charset="0"/>
                          </a:rPr>
                        </m:ctrlPr>
                      </m:sSubPr>
                      <m:e>
                        <m:r>
                          <a:rPr lang="en-US" i="1">
                            <a:latin typeface="Cambria Math"/>
                          </a:rPr>
                          <m:t>𝑥</m:t>
                        </m:r>
                      </m:e>
                      <m:sub>
                        <m:r>
                          <a:rPr lang="en-IN" i="1">
                            <a:latin typeface="Cambria Math"/>
                          </a:rPr>
                          <m:t>1</m:t>
                        </m:r>
                      </m:sub>
                    </m:sSub>
                    <m:r>
                      <a:rPr lang="en-IN" i="1">
                        <a:latin typeface="Cambria Math"/>
                      </a:rPr>
                      <m:t>, …,</m:t>
                    </m:r>
                    <m:sSub>
                      <m:sSubPr>
                        <m:ctrlPr>
                          <a:rPr lang="en-IN" i="1">
                            <a:latin typeface="Cambria Math" panose="02040503050406030204" pitchFamily="18" charset="0"/>
                          </a:rPr>
                        </m:ctrlPr>
                      </m:sSubPr>
                      <m:e>
                        <m:r>
                          <a:rPr lang="en-US" i="1">
                            <a:latin typeface="Cambria Math"/>
                          </a:rPr>
                          <m:t>𝑥</m:t>
                        </m:r>
                      </m:e>
                      <m:sub>
                        <m:r>
                          <a:rPr lang="en-IN" i="1">
                            <a:latin typeface="Cambria Math"/>
                          </a:rPr>
                          <m:t>𝑛</m:t>
                        </m:r>
                      </m:sub>
                    </m:sSub>
                    <m:r>
                      <a:rPr lang="en-IN" i="1">
                        <a:latin typeface="Cambria Math"/>
                      </a:rPr>
                      <m:t>}</m:t>
                    </m:r>
                  </m:oMath>
                </a14:m>
                <a:endParaRPr lang="en-GB" dirty="0"/>
              </a:p>
              <a:p>
                <a:pPr lvl="1">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the</a:t>
                </a:r>
                <a:r>
                  <a:rPr lang="en-GB" dirty="0">
                    <a:solidFill>
                      <a:srgbClr val="C20000"/>
                    </a:solidFill>
                  </a:rPr>
                  <a:t> Feature Selection problem </a:t>
                </a:r>
                <a:r>
                  <a:rPr lang="en-GB" dirty="0"/>
                  <a:t>is</a:t>
                </a:r>
              </a:p>
              <a:p>
                <a:pPr lvl="1">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to find a subset  </a:t>
                </a:r>
                <a14:m>
                  <m:oMath xmlns:m="http://schemas.openxmlformats.org/officeDocument/2006/math">
                    <m:r>
                      <a:rPr lang="en-IN" b="0" i="1" smtClean="0">
                        <a:latin typeface="Cambria Math"/>
                      </a:rPr>
                      <m:t>𝐹</m:t>
                    </m:r>
                    <m:r>
                      <a:rPr lang="en-IN" b="0" i="1" smtClean="0">
                        <a:latin typeface="Cambria Math"/>
                      </a:rPr>
                      <m:t>′⊆</m:t>
                    </m:r>
                    <m:r>
                      <a:rPr lang="en-IN" b="0" i="1" smtClean="0">
                        <a:latin typeface="Cambria Math"/>
                        <a:ea typeface="Cambria Math"/>
                      </a:rPr>
                      <m:t>𝐹</m:t>
                    </m:r>
                  </m:oMath>
                </a14:m>
                <a:r>
                  <a:rPr lang="en-GB" dirty="0"/>
                  <a:t>  that maximizes the learners</a:t>
                </a:r>
              </a:p>
              <a:p>
                <a:pPr lvl="1">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ability to classify patterns.</a:t>
                </a:r>
              </a:p>
              <a:p>
                <a:pP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Formally </a:t>
                </a:r>
                <a14:m>
                  <m:oMath xmlns:m="http://schemas.openxmlformats.org/officeDocument/2006/math">
                    <m:r>
                      <a:rPr lang="en-IN" i="1">
                        <a:latin typeface="Cambria Math"/>
                      </a:rPr>
                      <m:t>𝐹</m:t>
                    </m:r>
                    <m:r>
                      <a:rPr lang="en-IN" i="1">
                        <a:latin typeface="Cambria Math"/>
                      </a:rPr>
                      <m:t>′</m:t>
                    </m:r>
                  </m:oMath>
                </a14:m>
                <a:r>
                  <a:rPr lang="en-GB" i="1" dirty="0"/>
                  <a:t> </a:t>
                </a:r>
                <a:r>
                  <a:rPr lang="en-GB" dirty="0"/>
                  <a:t>should maximize some scoring function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295401"/>
                <a:ext cx="8229600" cy="4830763"/>
              </a:xfrm>
              <a:blipFill>
                <a:blip r:embed="rId2"/>
                <a:stretch>
                  <a:fillRect l="-1333" t="-1894"/>
                </a:stretch>
              </a:blipFill>
            </p:spPr>
            <p:txBody>
              <a:bodyPr/>
              <a:lstStyle/>
              <a:p>
                <a:r>
                  <a:rPr lang="en-IN">
                    <a:noFill/>
                  </a:rPr>
                  <a:t> </a:t>
                </a:r>
              </a:p>
            </p:txBody>
          </p:sp>
        </mc:Fallback>
      </mc:AlternateContent>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4065882"/>
            <a:ext cx="4038600" cy="2792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990322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136775" y="228600"/>
            <a:ext cx="8153400" cy="990600"/>
          </a:xfrm>
        </p:spPr>
        <p:txBody>
          <a:bodyPr/>
          <a:lstStyle/>
          <a:p>
            <a:pPr eaLnBrk="1" hangingPunct="1"/>
            <a:r>
              <a:rPr lang="en-US" dirty="0"/>
              <a:t>Subset selection</a:t>
            </a:r>
          </a:p>
        </p:txBody>
      </p:sp>
      <p:sp>
        <p:nvSpPr>
          <p:cNvPr id="4" name="Slide Number Placeholder 3"/>
          <p:cNvSpPr>
            <a:spLocks noGrp="1"/>
          </p:cNvSpPr>
          <p:nvPr>
            <p:ph type="sldNum" sz="quarter" idx="11"/>
          </p:nvPr>
        </p:nvSpPr>
        <p:spPr/>
        <p:txBody>
          <a:bodyPr/>
          <a:lstStyle>
            <a:lvl1pPr eaLnBrk="0" hangingPunct="0">
              <a:defRPr sz="3200">
                <a:solidFill>
                  <a:schemeClr val="tx1"/>
                </a:solidFill>
                <a:latin typeface="Palatino Linotype" charset="0"/>
                <a:ea typeface="ＭＳ Ｐゴシック" charset="0"/>
              </a:defRPr>
            </a:lvl1pPr>
            <a:lvl2pPr marL="742950" indent="-285750" eaLnBrk="0" hangingPunct="0">
              <a:defRPr sz="3200">
                <a:solidFill>
                  <a:schemeClr val="tx1"/>
                </a:solidFill>
                <a:latin typeface="Palatino Linotype" charset="0"/>
                <a:ea typeface="ＭＳ Ｐゴシック" charset="0"/>
              </a:defRPr>
            </a:lvl2pPr>
            <a:lvl3pPr marL="1143000" indent="-228600" eaLnBrk="0" hangingPunct="0">
              <a:defRPr sz="3200">
                <a:solidFill>
                  <a:schemeClr val="tx1"/>
                </a:solidFill>
                <a:latin typeface="Palatino Linotype" charset="0"/>
                <a:ea typeface="ＭＳ Ｐゴシック" charset="0"/>
              </a:defRPr>
            </a:lvl3pPr>
            <a:lvl4pPr marL="1600200" indent="-228600" eaLnBrk="0" hangingPunct="0">
              <a:defRPr sz="3200">
                <a:solidFill>
                  <a:schemeClr val="tx1"/>
                </a:solidFill>
                <a:latin typeface="Palatino Linotype" charset="0"/>
                <a:ea typeface="ＭＳ Ｐゴシック" charset="0"/>
              </a:defRPr>
            </a:lvl4pPr>
            <a:lvl5pPr marL="2057400" indent="-228600" eaLnBrk="0" hangingPunct="0">
              <a:defRPr sz="3200">
                <a:solidFill>
                  <a:schemeClr val="tx1"/>
                </a:solidFill>
                <a:latin typeface="Palatino Linotype" charset="0"/>
                <a:ea typeface="ＭＳ Ｐゴシック" charset="0"/>
              </a:defRPr>
            </a:lvl5pPr>
            <a:lvl6pPr marL="2514600" indent="-228600" eaLnBrk="0" fontAlgn="base" hangingPunct="0">
              <a:spcBef>
                <a:spcPct val="0"/>
              </a:spcBef>
              <a:spcAft>
                <a:spcPct val="0"/>
              </a:spcAft>
              <a:defRPr sz="3200">
                <a:solidFill>
                  <a:schemeClr val="tx1"/>
                </a:solidFill>
                <a:latin typeface="Palatino Linotype" charset="0"/>
                <a:ea typeface="ＭＳ Ｐゴシック" charset="0"/>
              </a:defRPr>
            </a:lvl6pPr>
            <a:lvl7pPr marL="2971800" indent="-228600" eaLnBrk="0" fontAlgn="base" hangingPunct="0">
              <a:spcBef>
                <a:spcPct val="0"/>
              </a:spcBef>
              <a:spcAft>
                <a:spcPct val="0"/>
              </a:spcAft>
              <a:defRPr sz="3200">
                <a:solidFill>
                  <a:schemeClr val="tx1"/>
                </a:solidFill>
                <a:latin typeface="Palatino Linotype" charset="0"/>
                <a:ea typeface="ＭＳ Ｐゴシック" charset="0"/>
              </a:defRPr>
            </a:lvl7pPr>
            <a:lvl8pPr marL="3429000" indent="-228600" eaLnBrk="0" fontAlgn="base" hangingPunct="0">
              <a:spcBef>
                <a:spcPct val="0"/>
              </a:spcBef>
              <a:spcAft>
                <a:spcPct val="0"/>
              </a:spcAft>
              <a:defRPr sz="3200">
                <a:solidFill>
                  <a:schemeClr val="tx1"/>
                </a:solidFill>
                <a:latin typeface="Palatino Linotype" charset="0"/>
                <a:ea typeface="ＭＳ Ｐゴシック" charset="0"/>
              </a:defRPr>
            </a:lvl8pPr>
            <a:lvl9pPr marL="3886200" indent="-228600" eaLnBrk="0" fontAlgn="base" hangingPunct="0">
              <a:spcBef>
                <a:spcPct val="0"/>
              </a:spcBef>
              <a:spcAft>
                <a:spcPct val="0"/>
              </a:spcAft>
              <a:defRPr sz="3200">
                <a:solidFill>
                  <a:schemeClr val="tx1"/>
                </a:solidFill>
                <a:latin typeface="Palatino Linotype" charset="0"/>
                <a:ea typeface="ＭＳ Ｐゴシック" charset="0"/>
              </a:defRPr>
            </a:lvl9pPr>
          </a:lstStyle>
          <a:p>
            <a:pPr eaLnBrk="1" hangingPunct="1">
              <a:lnSpc>
                <a:spcPct val="80000"/>
              </a:lnSpc>
            </a:pPr>
            <a:fld id="{93861D09-05D5-F949-82A0-2624FD504B0B}" type="slidenum">
              <a:rPr lang="tr-TR" sz="1200">
                <a:solidFill>
                  <a:srgbClr val="FFFFFF"/>
                </a:solidFill>
              </a:rPr>
              <a:pPr eaLnBrk="1" hangingPunct="1">
                <a:lnSpc>
                  <a:spcPct val="80000"/>
                </a:lnSpc>
              </a:pPr>
              <a:t>20</a:t>
            </a:fld>
            <a:endParaRPr lang="tr-TR" sz="1200">
              <a:solidFill>
                <a:srgbClr val="FFFFFF"/>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2136775" y="1600200"/>
                <a:ext cx="8153400" cy="4495800"/>
              </a:xfrm>
            </p:spPr>
            <p:txBody>
              <a:bodyPr>
                <a:normAutofit/>
              </a:bodyPr>
              <a:lstStyle/>
              <a:p>
                <a:pPr eaLnBrk="1" hangingPunct="1"/>
                <a:r>
                  <a:rPr lang="en-US" i="1" dirty="0">
                    <a:solidFill>
                      <a:srgbClr val="0000FF"/>
                    </a:solidFill>
                  </a:rPr>
                  <a:t>d</a:t>
                </a:r>
                <a:r>
                  <a:rPr lang="en-US" dirty="0"/>
                  <a:t> initial features </a:t>
                </a:r>
              </a:p>
              <a:p>
                <a:pPr eaLnBrk="1" hangingPunct="1"/>
                <a:r>
                  <a:rPr lang="en-US" dirty="0"/>
                  <a:t>There are </a:t>
                </a:r>
                <a14:m>
                  <m:oMath xmlns:m="http://schemas.openxmlformats.org/officeDocument/2006/math">
                    <m:sSup>
                      <m:sSupPr>
                        <m:ctrlPr>
                          <a:rPr lang="en-US" sz="4000" i="1">
                            <a:solidFill>
                              <a:srgbClr val="0000FF"/>
                            </a:solidFill>
                            <a:latin typeface="Cambria Math" panose="02040503050406030204" pitchFamily="18" charset="0"/>
                          </a:rPr>
                        </m:ctrlPr>
                      </m:sSupPr>
                      <m:e>
                        <m:r>
                          <a:rPr lang="en-IN" sz="4000" i="1">
                            <a:solidFill>
                              <a:srgbClr val="0000FF"/>
                            </a:solidFill>
                            <a:latin typeface="Cambria Math"/>
                          </a:rPr>
                          <m:t>2</m:t>
                        </m:r>
                      </m:e>
                      <m:sup>
                        <m:r>
                          <a:rPr lang="en-IN" sz="4000" i="1">
                            <a:solidFill>
                              <a:srgbClr val="0000FF"/>
                            </a:solidFill>
                            <a:latin typeface="Cambria Math"/>
                          </a:rPr>
                          <m:t>𝑑</m:t>
                        </m:r>
                      </m:sup>
                    </m:sSup>
                  </m:oMath>
                </a14:m>
                <a:r>
                  <a:rPr lang="en-US" dirty="0"/>
                  <a:t>  possible subsets</a:t>
                </a:r>
              </a:p>
              <a:p>
                <a:r>
                  <a:rPr lang="en-US" dirty="0"/>
                  <a:t>Criteria to decide which subset is the best: </a:t>
                </a:r>
              </a:p>
              <a:p>
                <a:pPr lvl="1"/>
                <a:r>
                  <a:rPr lang="en-IN" dirty="0"/>
                  <a:t>classifier based on these m features has the lowest probability of error of all such classifiers</a:t>
                </a:r>
                <a:endParaRPr lang="en-US" dirty="0"/>
              </a:p>
              <a:p>
                <a:r>
                  <a:rPr lang="en-US" dirty="0"/>
                  <a:t>Can’t go over all </a:t>
                </a:r>
                <a14:m>
                  <m:oMath xmlns:m="http://schemas.openxmlformats.org/officeDocument/2006/math">
                    <m:sSup>
                      <m:sSupPr>
                        <m:ctrlPr>
                          <a:rPr lang="en-US" i="1">
                            <a:solidFill>
                              <a:srgbClr val="0000FF"/>
                            </a:solidFill>
                            <a:latin typeface="Cambria Math" panose="02040503050406030204" pitchFamily="18" charset="0"/>
                          </a:rPr>
                        </m:ctrlPr>
                      </m:sSupPr>
                      <m:e>
                        <m:r>
                          <a:rPr lang="en-IN" i="1">
                            <a:solidFill>
                              <a:srgbClr val="0000FF"/>
                            </a:solidFill>
                            <a:latin typeface="Cambria Math"/>
                          </a:rPr>
                          <m:t>2</m:t>
                        </m:r>
                      </m:e>
                      <m:sup>
                        <m:r>
                          <a:rPr lang="en-IN" i="1">
                            <a:solidFill>
                              <a:srgbClr val="0000FF"/>
                            </a:solidFill>
                            <a:latin typeface="Cambria Math"/>
                          </a:rPr>
                          <m:t>𝑑</m:t>
                        </m:r>
                      </m:sup>
                    </m:sSup>
                  </m:oMath>
                </a14:m>
                <a:r>
                  <a:rPr lang="en-US" dirty="0"/>
                  <a:t> possibilities </a:t>
                </a:r>
              </a:p>
              <a:p>
                <a:pPr eaLnBrk="1" hangingPunct="1"/>
                <a:r>
                  <a:rPr lang="en-US" dirty="0"/>
                  <a:t>Need some heuristics</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2136775" y="1600200"/>
                <a:ext cx="8153400" cy="4495800"/>
              </a:xfrm>
              <a:blipFill>
                <a:blip r:embed="rId3"/>
                <a:stretch>
                  <a:fillRect l="-1346" t="-2307"/>
                </a:stretch>
              </a:blipFill>
            </p:spPr>
            <p:txBody>
              <a:bodyPr/>
              <a:lstStyle/>
              <a:p>
                <a:r>
                  <a:rPr lang="en-IN">
                    <a:noFill/>
                  </a:rPr>
                  <a:t> </a:t>
                </a:r>
              </a:p>
            </p:txBody>
          </p:sp>
        </mc:Fallback>
      </mc:AlternateContent>
    </p:spTree>
    <p:extLst>
      <p:ext uri="{BB962C8B-B14F-4D97-AF65-F5344CB8AC3E}">
        <p14:creationId xmlns:p14="http://schemas.microsoft.com/office/powerpoint/2010/main" val="538790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wipe(down)">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wipe(down)">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wipe(down)">
                                      <p:cBhvr>
                                        <p:cTn id="3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133600" y="228600"/>
            <a:ext cx="7772400" cy="1143000"/>
          </a:xfrm>
        </p:spPr>
        <p:txBody>
          <a:bodyPr/>
          <a:lstStyle/>
          <a:p>
            <a:pPr eaLnBrk="1" hangingPunct="1"/>
            <a:r>
              <a:rPr lang="en-US" altLang="en-US" sz="4000" dirty="0"/>
              <a:t>Feature Selection Steps</a:t>
            </a:r>
          </a:p>
        </p:txBody>
      </p:sp>
      <p:sp>
        <p:nvSpPr>
          <p:cNvPr id="672771" name="Rectangle 3"/>
          <p:cNvSpPr>
            <a:spLocks noGrp="1" noChangeArrowheads="1"/>
          </p:cNvSpPr>
          <p:nvPr>
            <p:ph type="body" sz="half" idx="1"/>
          </p:nvPr>
        </p:nvSpPr>
        <p:spPr>
          <a:xfrm>
            <a:off x="2243138" y="1752600"/>
            <a:ext cx="4191000" cy="4724400"/>
          </a:xfrm>
        </p:spPr>
        <p:txBody>
          <a:bodyPr rtlCol="0">
            <a:normAutofit fontScale="77500" lnSpcReduction="20000"/>
          </a:bodyPr>
          <a:lstStyle/>
          <a:p>
            <a:pPr marL="0" indent="0">
              <a:lnSpc>
                <a:spcPct val="120000"/>
              </a:lnSpc>
              <a:buNone/>
              <a:defRPr/>
            </a:pPr>
            <a:r>
              <a:rPr lang="en-US" sz="4000" dirty="0"/>
              <a:t>Feature selection is an </a:t>
            </a:r>
            <a:r>
              <a:rPr lang="en-US" sz="4000" b="1" dirty="0"/>
              <a:t>optimization</a:t>
            </a:r>
            <a:r>
              <a:rPr lang="en-US" sz="4000" dirty="0"/>
              <a:t> problem.</a:t>
            </a:r>
            <a:endParaRPr lang="en-US" sz="2300" dirty="0"/>
          </a:p>
          <a:p>
            <a:pPr>
              <a:lnSpc>
                <a:spcPct val="120000"/>
              </a:lnSpc>
              <a:buFont typeface="Courier New" panose="02070309020205020404" pitchFamily="49" charset="0"/>
              <a:buChar char="o"/>
              <a:defRPr/>
            </a:pPr>
            <a:r>
              <a:rPr lang="en-US" sz="3800" dirty="0">
                <a:solidFill>
                  <a:srgbClr val="FF0000"/>
                </a:solidFill>
              </a:rPr>
              <a:t>Step 1:</a:t>
            </a:r>
            <a:r>
              <a:rPr lang="en-US" sz="3800" dirty="0"/>
              <a:t> Search the space of possible feature subsets.</a:t>
            </a:r>
          </a:p>
          <a:p>
            <a:pPr>
              <a:lnSpc>
                <a:spcPct val="120000"/>
              </a:lnSpc>
              <a:buFont typeface="Courier New" panose="02070309020205020404" pitchFamily="49" charset="0"/>
              <a:buChar char="o"/>
              <a:defRPr/>
            </a:pPr>
            <a:r>
              <a:rPr lang="en-US" sz="3800" dirty="0">
                <a:solidFill>
                  <a:srgbClr val="FF0000"/>
                </a:solidFill>
              </a:rPr>
              <a:t>Step 2:</a:t>
            </a:r>
            <a:r>
              <a:rPr lang="en-US" sz="3800" dirty="0"/>
              <a:t> Pick the subset that is optimal or near-optimal with respect to some objective function.</a:t>
            </a:r>
            <a:endParaRPr lang="en-US" dirty="0">
              <a:latin typeface="Arial" charset="0"/>
            </a:endParaRPr>
          </a:p>
          <a:p>
            <a:pPr marL="0" indent="0">
              <a:buNone/>
              <a:defRPr/>
            </a:pPr>
            <a:r>
              <a:rPr lang="en-US" sz="2400" dirty="0">
                <a:latin typeface="Arial" charset="0"/>
              </a:rPr>
              <a:t>    </a:t>
            </a:r>
          </a:p>
          <a:p>
            <a:pPr marL="457200" lvl="1" indent="0">
              <a:buNone/>
              <a:defRPr/>
            </a:pPr>
            <a:endParaRPr lang="en-US" sz="2000" dirty="0">
              <a:latin typeface="Arial" charset="0"/>
            </a:endParaRPr>
          </a:p>
        </p:txBody>
      </p:sp>
      <p:pic>
        <p:nvPicPr>
          <p:cNvPr id="266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219200"/>
            <a:ext cx="3352800" cy="5242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114779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feature subset</a:t>
            </a:r>
          </a:p>
        </p:txBody>
      </p:sp>
      <p:sp>
        <p:nvSpPr>
          <p:cNvPr id="3" name="Content Placeholder 2"/>
          <p:cNvSpPr>
            <a:spLocks noGrp="1"/>
          </p:cNvSpPr>
          <p:nvPr>
            <p:ph idx="1"/>
          </p:nvPr>
        </p:nvSpPr>
        <p:spPr/>
        <p:txBody>
          <a:bodyPr/>
          <a:lstStyle/>
          <a:p>
            <a:r>
              <a:rPr lang="en-US" dirty="0">
                <a:solidFill>
                  <a:schemeClr val="tx2">
                    <a:lumMod val="75000"/>
                  </a:schemeClr>
                </a:solidFill>
              </a:rPr>
              <a:t>Supervised (wrapper method)</a:t>
            </a:r>
          </a:p>
          <a:p>
            <a:pPr lvl="1"/>
            <a:r>
              <a:rPr lang="en-US" dirty="0"/>
              <a:t>Train using selected subset</a:t>
            </a:r>
          </a:p>
          <a:p>
            <a:pPr lvl="1"/>
            <a:r>
              <a:rPr lang="en-US" dirty="0"/>
              <a:t>Estimate error on validation dataset</a:t>
            </a:r>
          </a:p>
          <a:p>
            <a:endParaRPr lang="en-US" dirty="0"/>
          </a:p>
          <a:p>
            <a:r>
              <a:rPr lang="en-US" dirty="0">
                <a:solidFill>
                  <a:schemeClr val="tx2">
                    <a:lumMod val="75000"/>
                  </a:schemeClr>
                </a:solidFill>
              </a:rPr>
              <a:t>Unsupervised (filter method)</a:t>
            </a:r>
          </a:p>
          <a:p>
            <a:pPr lvl="1"/>
            <a:r>
              <a:rPr lang="en-US" dirty="0"/>
              <a:t>Look at input only</a:t>
            </a:r>
          </a:p>
          <a:p>
            <a:pPr lvl="1"/>
            <a:r>
              <a:rPr lang="en-US" dirty="0"/>
              <a:t>Select the subset that has the most information</a:t>
            </a:r>
          </a:p>
        </p:txBody>
      </p:sp>
    </p:spTree>
    <p:extLst>
      <p:ext uri="{BB962C8B-B14F-4D97-AF65-F5344CB8AC3E}">
        <p14:creationId xmlns:p14="http://schemas.microsoft.com/office/powerpoint/2010/main" val="913797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09800" y="152400"/>
            <a:ext cx="7772400" cy="1143000"/>
          </a:xfrm>
        </p:spPr>
        <p:txBody>
          <a:bodyPr/>
          <a:lstStyle/>
          <a:p>
            <a:pPr eaLnBrk="1" hangingPunct="1"/>
            <a:r>
              <a:rPr lang="en-US" altLang="en-US" sz="4000" dirty="0"/>
              <a:t>Evaluation Strategies</a:t>
            </a:r>
          </a:p>
        </p:txBody>
      </p:sp>
      <p:sp>
        <p:nvSpPr>
          <p:cNvPr id="31747" name="Rectangle 3"/>
          <p:cNvSpPr>
            <a:spLocks noGrp="1" noChangeArrowheads="1"/>
          </p:cNvSpPr>
          <p:nvPr>
            <p:ph type="body" sz="half" idx="1"/>
          </p:nvPr>
        </p:nvSpPr>
        <p:spPr>
          <a:xfrm>
            <a:off x="2209800" y="1494790"/>
            <a:ext cx="4267200" cy="679450"/>
          </a:xfrm>
        </p:spPr>
        <p:txBody>
          <a:bodyPr/>
          <a:lstStyle/>
          <a:p>
            <a:pPr marL="0" indent="0" algn="ctr">
              <a:buNone/>
            </a:pPr>
            <a:r>
              <a:rPr lang="en-US" altLang="en-US" dirty="0">
                <a:solidFill>
                  <a:srgbClr val="FF0000"/>
                </a:solidFill>
              </a:rPr>
              <a:t>Filter Methods</a:t>
            </a:r>
          </a:p>
          <a:p>
            <a:pPr marL="0" indent="0">
              <a:buNone/>
            </a:pPr>
            <a:endParaRPr lang="en-US" altLang="en-US" sz="2000" dirty="0">
              <a:latin typeface="Arial" pitchFamily="34" charset="0"/>
            </a:endParaRPr>
          </a:p>
        </p:txBody>
      </p:sp>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1" y="2209800"/>
            <a:ext cx="3228975" cy="432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6025" y="2133601"/>
            <a:ext cx="3409950" cy="444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
        <p:nvSpPr>
          <p:cNvPr id="6" name="Rectangle 3"/>
          <p:cNvSpPr txBox="1">
            <a:spLocks noChangeArrowheads="1"/>
          </p:cNvSpPr>
          <p:nvPr/>
        </p:nvSpPr>
        <p:spPr>
          <a:xfrm>
            <a:off x="5743575" y="1447800"/>
            <a:ext cx="3962400" cy="60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en-US" sz="2800" dirty="0">
                <a:solidFill>
                  <a:srgbClr val="FF0000"/>
                </a:solidFill>
              </a:rPr>
              <a:t>Wrapper</a:t>
            </a:r>
            <a:r>
              <a:rPr lang="en-US" altLang="en-US" sz="2400" dirty="0">
                <a:solidFill>
                  <a:srgbClr val="FF0000"/>
                </a:solidFill>
                <a:latin typeface="Arial" pitchFamily="34" charset="0"/>
              </a:rPr>
              <a:t> Methods</a:t>
            </a:r>
          </a:p>
        </p:txBody>
      </p:sp>
    </p:spTree>
    <p:extLst>
      <p:ext uri="{BB962C8B-B14F-4D97-AF65-F5344CB8AC3E}">
        <p14:creationId xmlns:p14="http://schemas.microsoft.com/office/powerpoint/2010/main" val="1342730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Subset selection</a:t>
            </a:r>
          </a:p>
        </p:txBody>
      </p:sp>
      <p:sp>
        <p:nvSpPr>
          <p:cNvPr id="3" name="Content Placeholder 2"/>
          <p:cNvSpPr>
            <a:spLocks noGrp="1"/>
          </p:cNvSpPr>
          <p:nvPr>
            <p:ph idx="1"/>
          </p:nvPr>
        </p:nvSpPr>
        <p:spPr/>
        <p:txBody>
          <a:bodyPr>
            <a:normAutofit/>
          </a:bodyPr>
          <a:lstStyle/>
          <a:p>
            <a:r>
              <a:rPr lang="en-US" dirty="0"/>
              <a:t>Select uncorrelated features</a:t>
            </a:r>
          </a:p>
          <a:p>
            <a:r>
              <a:rPr lang="en-US" dirty="0">
                <a:solidFill>
                  <a:schemeClr val="tx2">
                    <a:lumMod val="75000"/>
                  </a:schemeClr>
                </a:solidFill>
              </a:rPr>
              <a:t>Forward search</a:t>
            </a:r>
          </a:p>
          <a:p>
            <a:pPr lvl="1"/>
            <a:r>
              <a:rPr lang="en-US" dirty="0"/>
              <a:t>Start from empty set of features</a:t>
            </a:r>
          </a:p>
          <a:p>
            <a:pPr lvl="1"/>
            <a:r>
              <a:rPr lang="en-US" dirty="0"/>
              <a:t>Try each of remaining features</a:t>
            </a:r>
          </a:p>
          <a:p>
            <a:pPr lvl="1"/>
            <a:r>
              <a:rPr lang="en-US" dirty="0"/>
              <a:t>Estimate classification/regression error for adding specific feature</a:t>
            </a:r>
          </a:p>
          <a:p>
            <a:pPr lvl="1"/>
            <a:r>
              <a:rPr lang="en-US" dirty="0"/>
              <a:t>Select feature that gives maximum improvement in validation error</a:t>
            </a:r>
          </a:p>
          <a:p>
            <a:pPr lvl="1"/>
            <a:r>
              <a:rPr lang="en-US" dirty="0"/>
              <a:t>Stop when no significant improvement</a:t>
            </a:r>
          </a:p>
          <a:p>
            <a:r>
              <a:rPr lang="en-US" dirty="0">
                <a:solidFill>
                  <a:schemeClr val="tx2">
                    <a:lumMod val="75000"/>
                  </a:schemeClr>
                </a:solidFill>
              </a:rPr>
              <a:t>Backward search</a:t>
            </a:r>
          </a:p>
          <a:p>
            <a:pPr lvl="1"/>
            <a:r>
              <a:rPr lang="en-US" dirty="0"/>
              <a:t>Start with original set of size </a:t>
            </a:r>
            <a:r>
              <a:rPr lang="en-US" i="1" dirty="0">
                <a:solidFill>
                  <a:schemeClr val="tx2">
                    <a:lumMod val="75000"/>
                  </a:schemeClr>
                </a:solidFill>
              </a:rPr>
              <a:t>d</a:t>
            </a:r>
          </a:p>
          <a:p>
            <a:pPr lvl="1"/>
            <a:r>
              <a:rPr lang="en-US" dirty="0"/>
              <a:t>Drop features with smallest impact on error</a:t>
            </a:r>
          </a:p>
          <a:p>
            <a:endParaRPr lang="en-US" dirty="0"/>
          </a:p>
        </p:txBody>
      </p:sp>
    </p:spTree>
    <p:extLst>
      <p:ext uri="{BB962C8B-B14F-4D97-AF65-F5344CB8AC3E}">
        <p14:creationId xmlns:p14="http://schemas.microsoft.com/office/powerpoint/2010/main" val="202296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selection</a:t>
            </a:r>
          </a:p>
        </p:txBody>
      </p:sp>
      <p:sp>
        <p:nvSpPr>
          <p:cNvPr id="3" name="Content Placeholder 2"/>
          <p:cNvSpPr>
            <a:spLocks noGrp="1"/>
          </p:cNvSpPr>
          <p:nvPr>
            <p:ph idx="1"/>
          </p:nvPr>
        </p:nvSpPr>
        <p:spPr>
          <a:xfrm>
            <a:off x="1828800" y="1524000"/>
            <a:ext cx="8229600" cy="4191000"/>
          </a:xfrm>
        </p:spPr>
        <p:txBody>
          <a:bodyPr>
            <a:normAutofit fontScale="85000" lnSpcReduction="10000"/>
          </a:bodyPr>
          <a:lstStyle/>
          <a:p>
            <a:pPr marL="57150" indent="0">
              <a:lnSpc>
                <a:spcPct val="120000"/>
              </a:lnSpc>
              <a:buNone/>
            </a:pPr>
            <a:r>
              <a:rPr lang="en-US" sz="3100" dirty="0">
                <a:latin typeface="Calibri" charset="0"/>
              </a:rPr>
              <a:t>Univariate (looks at each feature independently of others)</a:t>
            </a:r>
          </a:p>
          <a:p>
            <a:pPr lvl="1">
              <a:lnSpc>
                <a:spcPct val="120000"/>
              </a:lnSpc>
            </a:pPr>
            <a:r>
              <a:rPr lang="en-US" dirty="0">
                <a:latin typeface="Calibri" charset="0"/>
              </a:rPr>
              <a:t>Pearson correlation coefficient</a:t>
            </a:r>
          </a:p>
          <a:p>
            <a:pPr lvl="1">
              <a:lnSpc>
                <a:spcPct val="120000"/>
              </a:lnSpc>
            </a:pPr>
            <a:r>
              <a:rPr lang="en-US" dirty="0">
                <a:latin typeface="Calibri" charset="0"/>
              </a:rPr>
              <a:t>F-score</a:t>
            </a:r>
          </a:p>
          <a:p>
            <a:pPr lvl="1">
              <a:lnSpc>
                <a:spcPct val="120000"/>
              </a:lnSpc>
            </a:pPr>
            <a:r>
              <a:rPr lang="en-US" dirty="0">
                <a:latin typeface="Calibri" charset="0"/>
              </a:rPr>
              <a:t>Chi-square</a:t>
            </a:r>
          </a:p>
          <a:p>
            <a:pPr lvl="1">
              <a:lnSpc>
                <a:spcPct val="120000"/>
              </a:lnSpc>
            </a:pPr>
            <a:r>
              <a:rPr lang="en-US" dirty="0">
                <a:latin typeface="Calibri" charset="0"/>
              </a:rPr>
              <a:t>Signal to noise ratio</a:t>
            </a:r>
          </a:p>
          <a:p>
            <a:pPr lvl="1">
              <a:lnSpc>
                <a:spcPct val="120000"/>
              </a:lnSpc>
            </a:pPr>
            <a:r>
              <a:rPr lang="en-US" dirty="0">
                <a:latin typeface="Calibri" charset="0"/>
              </a:rPr>
              <a:t>mutual information</a:t>
            </a:r>
          </a:p>
          <a:p>
            <a:pPr lvl="1">
              <a:lnSpc>
                <a:spcPct val="120000"/>
              </a:lnSpc>
            </a:pPr>
            <a:r>
              <a:rPr lang="en-US" dirty="0">
                <a:latin typeface="Calibri" charset="0"/>
              </a:rPr>
              <a:t>Etc.</a:t>
            </a:r>
          </a:p>
          <a:p>
            <a:pPr>
              <a:lnSpc>
                <a:spcPct val="120000"/>
              </a:lnSpc>
            </a:pPr>
            <a:r>
              <a:rPr lang="en-US" sz="3300" dirty="0">
                <a:latin typeface="Calibri" charset="0"/>
              </a:rPr>
              <a:t>Rank features by importance</a:t>
            </a:r>
          </a:p>
          <a:p>
            <a:pPr>
              <a:lnSpc>
                <a:spcPct val="120000"/>
              </a:lnSpc>
            </a:pPr>
            <a:r>
              <a:rPr lang="en-US" sz="3100" dirty="0">
                <a:latin typeface="Calibri" charset="0"/>
              </a:rPr>
              <a:t>Ranking cut-off is determined by user</a:t>
            </a:r>
          </a:p>
        </p:txBody>
      </p:sp>
      <p:sp>
        <p:nvSpPr>
          <p:cNvPr id="4" name="Content Placeholder 2"/>
          <p:cNvSpPr txBox="1">
            <a:spLocks/>
          </p:cNvSpPr>
          <p:nvPr/>
        </p:nvSpPr>
        <p:spPr>
          <a:xfrm>
            <a:off x="5867400" y="2340000"/>
            <a:ext cx="4572000" cy="2362200"/>
          </a:xfrm>
          <a:prstGeom prst="rect">
            <a:avLst/>
          </a:prstGeom>
          <a:solidFill>
            <a:schemeClr val="accent6">
              <a:lumMod val="20000"/>
              <a:lumOff val="80000"/>
            </a:schemeClr>
          </a:solidFill>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2800" dirty="0">
                <a:latin typeface="Calibri" charset="0"/>
              </a:rPr>
              <a:t>Univariate methods measure some type of correlation between two random variables </a:t>
            </a:r>
          </a:p>
          <a:p>
            <a:pPr>
              <a:lnSpc>
                <a:spcPct val="120000"/>
              </a:lnSpc>
            </a:pPr>
            <a:r>
              <a:rPr lang="en-US" sz="2600" dirty="0">
                <a:latin typeface="Calibri" charset="0"/>
              </a:rPr>
              <a:t>the label (</a:t>
            </a:r>
            <a:r>
              <a:rPr lang="en-US" sz="2600" dirty="0" err="1">
                <a:latin typeface="Calibri" charset="0"/>
              </a:rPr>
              <a:t>y</a:t>
            </a:r>
            <a:r>
              <a:rPr lang="en-US" sz="2600" baseline="-25000" dirty="0" err="1">
                <a:latin typeface="Calibri" charset="0"/>
              </a:rPr>
              <a:t>i</a:t>
            </a:r>
            <a:r>
              <a:rPr lang="en-US" sz="2600" dirty="0">
                <a:latin typeface="Calibri" charset="0"/>
              </a:rPr>
              <a:t>) and a fixed feature (</a:t>
            </a:r>
            <a:r>
              <a:rPr lang="en-US" sz="2600" dirty="0" err="1">
                <a:latin typeface="Calibri" charset="0"/>
              </a:rPr>
              <a:t>x</a:t>
            </a:r>
            <a:r>
              <a:rPr lang="en-US" sz="2600" baseline="-25000" dirty="0" err="1">
                <a:latin typeface="Calibri" charset="0"/>
              </a:rPr>
              <a:t>ij</a:t>
            </a:r>
            <a:r>
              <a:rPr lang="en-US" sz="2600" dirty="0">
                <a:latin typeface="Calibri" charset="0"/>
              </a:rPr>
              <a:t> for fixed j) </a:t>
            </a:r>
          </a:p>
          <a:p>
            <a:pPr marL="0" indent="0">
              <a:buNone/>
            </a:pPr>
            <a:endParaRPr lang="en-US" dirty="0"/>
          </a:p>
        </p:txBody>
      </p:sp>
    </p:spTree>
    <p:extLst>
      <p:ext uri="{BB962C8B-B14F-4D97-AF65-F5344CB8AC3E}">
        <p14:creationId xmlns:p14="http://schemas.microsoft.com/office/powerpoint/2010/main" val="65265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981200" y="14288"/>
            <a:ext cx="8229600" cy="1143000"/>
          </a:xfrm>
        </p:spPr>
        <p:txBody>
          <a:bodyPr/>
          <a:lstStyle/>
          <a:p>
            <a:pPr eaLnBrk="1" hangingPunct="1"/>
            <a:r>
              <a:rPr lang="en-US" dirty="0">
                <a:latin typeface="Calibri" charset="0"/>
              </a:rPr>
              <a:t>Pearson correlation coefficient</a:t>
            </a:r>
          </a:p>
        </p:txBody>
      </p:sp>
      <mc:AlternateContent xmlns:mc="http://schemas.openxmlformats.org/markup-compatibility/2006" xmlns:a14="http://schemas.microsoft.com/office/drawing/2010/main">
        <mc:Choice Requires="a14">
          <p:sp>
            <p:nvSpPr>
              <p:cNvPr id="16386" name="Content Placeholder 2"/>
              <p:cNvSpPr>
                <a:spLocks noGrp="1"/>
              </p:cNvSpPr>
              <p:nvPr>
                <p:ph idx="1"/>
              </p:nvPr>
            </p:nvSpPr>
            <p:spPr>
              <a:xfrm>
                <a:off x="1981200" y="1128713"/>
                <a:ext cx="8229600" cy="5348287"/>
              </a:xfrm>
            </p:spPr>
            <p:txBody>
              <a:bodyPr>
                <a:noAutofit/>
              </a:bodyPr>
              <a:lstStyle/>
              <a:p>
                <a:pPr eaLnBrk="1" hangingPunct="1"/>
                <a:r>
                  <a:rPr lang="en-US" dirty="0">
                    <a:latin typeface="Calibri" charset="0"/>
                  </a:rPr>
                  <a:t>Measures the correlation between two variables</a:t>
                </a:r>
              </a:p>
              <a:p>
                <a:pPr eaLnBrk="1" hangingPunct="1"/>
                <a:r>
                  <a:rPr lang="en-US" dirty="0">
                    <a:latin typeface="Calibri" charset="0"/>
                  </a:rPr>
                  <a:t>Formula for Pearson correlation = </a:t>
                </a:r>
              </a:p>
              <a:p>
                <a:pPr eaLnBrk="1" hangingPunct="1"/>
                <a:endParaRPr lang="en-US" dirty="0">
                  <a:latin typeface="Calibri" charset="0"/>
                </a:endParaRPr>
              </a:p>
              <a:p>
                <a:pPr lvl="1" eaLnBrk="1" hangingPunct="1"/>
                <a:endParaRPr lang="en-US" dirty="0">
                  <a:latin typeface="Calibri" charset="0"/>
                </a:endParaRPr>
              </a:p>
              <a:p>
                <a:pPr lvl="1" eaLnBrk="1" hangingPunct="1"/>
                <a:endParaRPr lang="en-US" dirty="0">
                  <a:latin typeface="Calibri" charset="0"/>
                </a:endParaRPr>
              </a:p>
              <a:p>
                <a:pPr lvl="1" eaLnBrk="1" hangingPunct="1"/>
                <a:endParaRPr lang="en-US" dirty="0">
                  <a:latin typeface="Calibri" charset="0"/>
                </a:endParaRPr>
              </a:p>
              <a:p>
                <a:pPr eaLnBrk="1" hangingPunct="1"/>
                <a:r>
                  <a:rPr lang="en-US" dirty="0">
                    <a:latin typeface="Calibri" charset="0"/>
                  </a:rPr>
                  <a:t>The correlation r is between </a:t>
                </a:r>
                <a14:m>
                  <m:oMath xmlns:m="http://schemas.openxmlformats.org/officeDocument/2006/math">
                    <m:r>
                      <a:rPr lang="en-IN" i="1">
                        <a:latin typeface="Cambria Math"/>
                      </a:rPr>
                      <m:t>+1</m:t>
                    </m:r>
                  </m:oMath>
                </a14:m>
                <a:r>
                  <a:rPr lang="en-US" dirty="0">
                    <a:latin typeface="Calibri" charset="0"/>
                  </a:rPr>
                  <a:t> and </a:t>
                </a:r>
                <a14:m>
                  <m:oMath xmlns:m="http://schemas.openxmlformats.org/officeDocument/2006/math">
                    <m:r>
                      <a:rPr lang="en-IN" i="1">
                        <a:latin typeface="Cambria Math"/>
                      </a:rPr>
                      <m:t>−1</m:t>
                    </m:r>
                  </m:oMath>
                </a14:m>
                <a:r>
                  <a:rPr lang="en-US" dirty="0">
                    <a:latin typeface="Calibri" charset="0"/>
                  </a:rPr>
                  <a:t>. </a:t>
                </a:r>
              </a:p>
              <a:p>
                <a:pPr lvl="1">
                  <a:buFont typeface="Wingdings" panose="05000000000000000000" pitchFamily="2" charset="2"/>
                  <a:buChar char="§"/>
                </a:pPr>
                <a14:m>
                  <m:oMath xmlns:m="http://schemas.openxmlformats.org/officeDocument/2006/math">
                    <m:r>
                      <a:rPr lang="en-IN" i="1">
                        <a:solidFill>
                          <a:srgbClr val="0000FF"/>
                        </a:solidFill>
                        <a:latin typeface="Cambria Math"/>
                      </a:rPr>
                      <m:t>+1</m:t>
                    </m:r>
                  </m:oMath>
                </a14:m>
                <a:r>
                  <a:rPr lang="en-US" dirty="0">
                    <a:solidFill>
                      <a:srgbClr val="0000FF"/>
                    </a:solidFill>
                    <a:latin typeface="Calibri" charset="0"/>
                  </a:rPr>
                  <a:t> </a:t>
                </a:r>
                <a:r>
                  <a:rPr lang="en-US" dirty="0">
                    <a:latin typeface="Calibri" charset="0"/>
                  </a:rPr>
                  <a:t>means perfect positive correlation</a:t>
                </a:r>
              </a:p>
              <a:p>
                <a:pPr lvl="1">
                  <a:buFont typeface="Wingdings" panose="05000000000000000000" pitchFamily="2" charset="2"/>
                  <a:buChar char="§"/>
                </a:pPr>
                <a14:m>
                  <m:oMath xmlns:m="http://schemas.openxmlformats.org/officeDocument/2006/math">
                    <m:r>
                      <a:rPr lang="en-IN" i="1">
                        <a:solidFill>
                          <a:srgbClr val="0000FF"/>
                        </a:solidFill>
                        <a:latin typeface="Cambria Math"/>
                      </a:rPr>
                      <m:t>−1</m:t>
                    </m:r>
                  </m:oMath>
                </a14:m>
                <a:r>
                  <a:rPr lang="en-US" dirty="0">
                    <a:solidFill>
                      <a:srgbClr val="0000FF"/>
                    </a:solidFill>
                    <a:latin typeface="Calibri" charset="0"/>
                  </a:rPr>
                  <a:t> </a:t>
                </a:r>
                <a:r>
                  <a:rPr lang="en-US" dirty="0">
                    <a:latin typeface="Calibri" charset="0"/>
                  </a:rPr>
                  <a:t>in the other direction</a:t>
                </a:r>
              </a:p>
            </p:txBody>
          </p:sp>
        </mc:Choice>
        <mc:Fallback xmlns="">
          <p:sp>
            <p:nvSpPr>
              <p:cNvPr id="16386" name="Content Placeholder 2"/>
              <p:cNvSpPr>
                <a:spLocks noGrp="1" noRot="1" noChangeAspect="1" noMove="1" noResize="1" noEditPoints="1" noAdjustHandles="1" noChangeArrowheads="1" noChangeShapeType="1" noTextEdit="1"/>
              </p:cNvSpPr>
              <p:nvPr>
                <p:ph idx="1"/>
              </p:nvPr>
            </p:nvSpPr>
            <p:spPr>
              <a:xfrm>
                <a:off x="1981200" y="1128713"/>
                <a:ext cx="8229600" cy="5348287"/>
              </a:xfrm>
              <a:blipFill>
                <a:blip r:embed="rId2"/>
                <a:stretch>
                  <a:fillRect l="-1333" t="-1822"/>
                </a:stretch>
              </a:blipFill>
            </p:spPr>
            <p:txBody>
              <a:bodyPr/>
              <a:lstStyle/>
              <a:p>
                <a:r>
                  <a:rPr lang="en-IN">
                    <a:noFill/>
                  </a:rPr>
                  <a:t> </a:t>
                </a:r>
              </a:p>
            </p:txBody>
          </p:sp>
        </mc:Fallback>
      </mc:AlternateContent>
      <p:pic>
        <p:nvPicPr>
          <p:cNvPr id="16387" name="Picture 1" descr="Screen Shot 2013-10-30 at 11.12.13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7001" y="2362200"/>
            <a:ext cx="6113463"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4963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latin typeface="Calibri" charset="0"/>
              </a:rPr>
              <a:t>Pearson correlation coefficient</a:t>
            </a:r>
          </a:p>
        </p:txBody>
      </p:sp>
      <p:pic>
        <p:nvPicPr>
          <p:cNvPr id="24578" name="Content Placeholder 3" descr="Screen Shot 2013-10-31 at 11.37.27 AM.png"/>
          <p:cNvPicPr>
            <a:picLocks noGrp="1" noChangeAspect="1"/>
          </p:cNvPicPr>
          <p:nvPr>
            <p:ph idx="1"/>
          </p:nvPr>
        </p:nvPicPr>
        <p:blipFill>
          <a:blip r:embed="rId2">
            <a:extLst>
              <a:ext uri="{28A0092B-C50C-407E-A947-70E740481C1C}">
                <a14:useLocalDpi xmlns:a14="http://schemas.microsoft.com/office/drawing/2010/main" val="0"/>
              </a:ext>
            </a:extLst>
          </a:blip>
          <a:srcRect t="1964" b="1964"/>
          <a:stretch>
            <a:fillRect/>
          </a:stretch>
        </p:blipFill>
        <p:spPr/>
      </p:pic>
      <p:sp>
        <p:nvSpPr>
          <p:cNvPr id="24579" name="TextBox 4"/>
          <p:cNvSpPr txBox="1">
            <a:spLocks noChangeArrowheads="1"/>
          </p:cNvSpPr>
          <p:nvPr/>
        </p:nvSpPr>
        <p:spPr bwMode="auto">
          <a:xfrm>
            <a:off x="8543926" y="6310314"/>
            <a:ext cx="1666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800"/>
              <a:t>From Wikipedia</a:t>
            </a:r>
          </a:p>
        </p:txBody>
      </p:sp>
    </p:spTree>
    <p:extLst>
      <p:ext uri="{BB962C8B-B14F-4D97-AF65-F5344CB8AC3E}">
        <p14:creationId xmlns:p14="http://schemas.microsoft.com/office/powerpoint/2010/main" val="2878087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extraction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427038" indent="-322263">
                  <a:lnSpc>
                    <a:spcPct val="93000"/>
                  </a:lnSpc>
                  <a:spcBef>
                    <a:spcPts val="700"/>
                  </a:spcBef>
                  <a:tabLst>
                    <a:tab pos="533400" algn="l"/>
                    <a:tab pos="982663" algn="l"/>
                    <a:tab pos="1431925" algn="l"/>
                    <a:tab pos="1881188" algn="l"/>
                    <a:tab pos="2330450" algn="l"/>
                    <a:tab pos="2779713" algn="l"/>
                    <a:tab pos="3228975" algn="l"/>
                    <a:tab pos="3678238" algn="l"/>
                    <a:tab pos="4127500" algn="l"/>
                    <a:tab pos="4576763" algn="l"/>
                    <a:tab pos="5026025" algn="l"/>
                    <a:tab pos="5475288" algn="l"/>
                    <a:tab pos="5924550" algn="l"/>
                    <a:tab pos="6373813" algn="l"/>
                    <a:tab pos="6823075" algn="l"/>
                    <a:tab pos="7272338" algn="l"/>
                    <a:tab pos="7721600" algn="l"/>
                    <a:tab pos="8170863" algn="l"/>
                    <a:tab pos="8620125" algn="l"/>
                    <a:tab pos="9069388" algn="l"/>
                  </a:tabLst>
                </a:pPr>
                <a:r>
                  <a:rPr lang="en-GB" dirty="0"/>
                  <a:t>Given a set of features </a:t>
                </a:r>
                <a14:m>
                  <m:oMath xmlns:m="http://schemas.openxmlformats.org/officeDocument/2006/math">
                    <m:r>
                      <a:rPr lang="en-IN" i="1">
                        <a:latin typeface="Cambria Math"/>
                      </a:rPr>
                      <m:t>𝐹</m:t>
                    </m:r>
                    <m:r>
                      <a:rPr lang="en-IN" i="1">
                        <a:latin typeface="Cambria Math"/>
                      </a:rPr>
                      <m:t>={</m:t>
                    </m:r>
                    <m:sSub>
                      <m:sSubPr>
                        <m:ctrlPr>
                          <a:rPr lang="en-IN" i="1">
                            <a:latin typeface="Cambria Math" panose="02040503050406030204" pitchFamily="18" charset="0"/>
                          </a:rPr>
                        </m:ctrlPr>
                      </m:sSubPr>
                      <m:e>
                        <m:r>
                          <a:rPr lang="en-US" i="1">
                            <a:latin typeface="Cambria Math"/>
                          </a:rPr>
                          <m:t>𝑥</m:t>
                        </m:r>
                      </m:e>
                      <m:sub>
                        <m:r>
                          <a:rPr lang="en-IN" i="1">
                            <a:latin typeface="Cambria Math"/>
                          </a:rPr>
                          <m:t>1</m:t>
                        </m:r>
                      </m:sub>
                    </m:sSub>
                    <m:r>
                      <a:rPr lang="en-IN" i="1">
                        <a:latin typeface="Cambria Math"/>
                      </a:rPr>
                      <m:t>, …,</m:t>
                    </m:r>
                    <m:sSub>
                      <m:sSubPr>
                        <m:ctrlPr>
                          <a:rPr lang="en-IN" i="1">
                            <a:latin typeface="Cambria Math" panose="02040503050406030204" pitchFamily="18" charset="0"/>
                          </a:rPr>
                        </m:ctrlPr>
                      </m:sSubPr>
                      <m:e>
                        <m:r>
                          <a:rPr lang="en-US" i="1">
                            <a:latin typeface="Cambria Math"/>
                          </a:rPr>
                          <m:t>𝑥</m:t>
                        </m:r>
                      </m:e>
                      <m:sub>
                        <m:r>
                          <a:rPr lang="en-IN" i="1">
                            <a:latin typeface="Cambria Math"/>
                          </a:rPr>
                          <m:t>𝑁</m:t>
                        </m:r>
                      </m:sub>
                    </m:sSub>
                    <m:r>
                      <a:rPr lang="en-IN" i="1">
                        <a:latin typeface="Cambria Math"/>
                      </a:rPr>
                      <m:t>}</m:t>
                    </m:r>
                  </m:oMath>
                </a14:m>
                <a:endParaRPr lang="en-GB" dirty="0"/>
              </a:p>
              <a:p>
                <a:pPr marL="858838" lvl="1">
                  <a:buNone/>
                  <a:tabLst>
                    <a:tab pos="533400" algn="l"/>
                    <a:tab pos="982663" algn="l"/>
                    <a:tab pos="1431925" algn="l"/>
                    <a:tab pos="1881188" algn="l"/>
                    <a:tab pos="2330450" algn="l"/>
                    <a:tab pos="2779713" algn="l"/>
                    <a:tab pos="3228975" algn="l"/>
                    <a:tab pos="3678238" algn="l"/>
                    <a:tab pos="4127500" algn="l"/>
                    <a:tab pos="4576763" algn="l"/>
                    <a:tab pos="5026025" algn="l"/>
                    <a:tab pos="5475288" algn="l"/>
                    <a:tab pos="5924550" algn="l"/>
                    <a:tab pos="6373813" algn="l"/>
                    <a:tab pos="6823075" algn="l"/>
                    <a:tab pos="7272338" algn="l"/>
                    <a:tab pos="7721600" algn="l"/>
                    <a:tab pos="8170863" algn="l"/>
                    <a:tab pos="8620125" algn="l"/>
                    <a:tab pos="9069388" algn="l"/>
                  </a:tabLst>
                </a:pPr>
                <a:r>
                  <a:rPr lang="en-GB" dirty="0"/>
                  <a:t>the</a:t>
                </a:r>
                <a:r>
                  <a:rPr lang="en-GB" dirty="0">
                    <a:solidFill>
                      <a:srgbClr val="C20000"/>
                    </a:solidFill>
                  </a:rPr>
                  <a:t> Feature Extraction(</a:t>
                </a:r>
                <a:r>
                  <a:rPr lang="ja-JP" altLang="en-GB" dirty="0">
                    <a:solidFill>
                      <a:srgbClr val="C20000"/>
                    </a:solidFill>
                    <a:latin typeface="Arial"/>
                  </a:rPr>
                  <a:t>“</a:t>
                </a:r>
                <a:r>
                  <a:rPr lang="en-GB" dirty="0">
                    <a:solidFill>
                      <a:srgbClr val="C20000"/>
                    </a:solidFill>
                  </a:rPr>
                  <a:t>Construction</a:t>
                </a:r>
                <a:r>
                  <a:rPr lang="ja-JP" altLang="en-GB" dirty="0">
                    <a:solidFill>
                      <a:srgbClr val="C20000"/>
                    </a:solidFill>
                    <a:latin typeface="Arial"/>
                  </a:rPr>
                  <a:t>”</a:t>
                </a:r>
                <a:r>
                  <a:rPr lang="en-GB" dirty="0">
                    <a:solidFill>
                      <a:srgbClr val="C20000"/>
                    </a:solidFill>
                  </a:rPr>
                  <a:t>) problem </a:t>
                </a:r>
                <a:r>
                  <a:rPr lang="en-GB" dirty="0"/>
                  <a:t>is</a:t>
                </a:r>
              </a:p>
              <a:p>
                <a:pPr marL="858838" lvl="1">
                  <a:buNone/>
                  <a:tabLst>
                    <a:tab pos="533400" algn="l"/>
                    <a:tab pos="982663" algn="l"/>
                    <a:tab pos="1431925" algn="l"/>
                    <a:tab pos="1881188" algn="l"/>
                    <a:tab pos="2330450" algn="l"/>
                    <a:tab pos="2779713" algn="l"/>
                    <a:tab pos="3228975" algn="l"/>
                    <a:tab pos="3678238" algn="l"/>
                    <a:tab pos="4127500" algn="l"/>
                    <a:tab pos="4576763" algn="l"/>
                    <a:tab pos="5026025" algn="l"/>
                    <a:tab pos="5475288" algn="l"/>
                    <a:tab pos="5924550" algn="l"/>
                    <a:tab pos="6373813" algn="l"/>
                    <a:tab pos="6823075" algn="l"/>
                    <a:tab pos="7272338" algn="l"/>
                    <a:tab pos="7721600" algn="l"/>
                    <a:tab pos="8170863" algn="l"/>
                    <a:tab pos="8620125" algn="l"/>
                    <a:tab pos="9069388" algn="l"/>
                  </a:tabLst>
                </a:pPr>
                <a:r>
                  <a:rPr lang="en-GB" dirty="0"/>
                  <a:t>is to map </a:t>
                </a:r>
                <a14:m>
                  <m:oMath xmlns:m="http://schemas.openxmlformats.org/officeDocument/2006/math">
                    <m:r>
                      <a:rPr lang="en-IN" b="0" i="1" smtClean="0">
                        <a:latin typeface="Cambria Math"/>
                      </a:rPr>
                      <m:t>𝐹</m:t>
                    </m:r>
                  </m:oMath>
                </a14:m>
                <a:r>
                  <a:rPr lang="en-GB" dirty="0"/>
                  <a:t> to some feature set  </a:t>
                </a:r>
                <a14:m>
                  <m:oMath xmlns:m="http://schemas.openxmlformats.org/officeDocument/2006/math">
                    <m:r>
                      <a:rPr lang="en-IN" b="0" i="1" smtClean="0">
                        <a:latin typeface="Cambria Math"/>
                      </a:rPr>
                      <m:t>𝐹</m:t>
                    </m:r>
                    <m:r>
                      <a:rPr lang="en-IN" b="0" i="1" smtClean="0">
                        <a:latin typeface="Cambria Math"/>
                      </a:rPr>
                      <m:t>′′</m:t>
                    </m:r>
                  </m:oMath>
                </a14:m>
                <a:r>
                  <a:rPr lang="en-GB" dirty="0"/>
                  <a:t> that maximizes the learner</a:t>
                </a:r>
                <a:r>
                  <a:rPr lang="ja-JP" altLang="en-GB" dirty="0">
                    <a:latin typeface="Arial"/>
                  </a:rPr>
                  <a:t>’</a:t>
                </a:r>
                <a:r>
                  <a:rPr lang="en-GB" dirty="0"/>
                  <a:t>s ability to classify patterns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887" r="-889"/>
                </a:stretch>
              </a:blipFill>
            </p:spPr>
            <p:txBody>
              <a:bodyPr/>
              <a:lstStyle/>
              <a:p>
                <a:r>
                  <a:rPr lang="en-IN">
                    <a:noFill/>
                  </a:rPr>
                  <a:t> </a:t>
                </a:r>
              </a:p>
            </p:txBody>
          </p:sp>
        </mc:Fallback>
      </mc:AlternateContent>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850" y="3733800"/>
            <a:ext cx="4876800"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4139936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a:t>
            </a:r>
          </a:p>
        </p:txBody>
      </p:sp>
      <p:pic>
        <p:nvPicPr>
          <p:cNvPr id="4" name="Picture 2" descr="PCA pl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1" y="1609055"/>
            <a:ext cx="6119813"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738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882</TotalTime>
  <Words>1281</Words>
  <Application>Microsoft Office PowerPoint</Application>
  <PresentationFormat>Widescreen</PresentationFormat>
  <Paragraphs>186</Paragraphs>
  <Slides>29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Calibri Light</vt:lpstr>
      <vt:lpstr>Cambria</vt:lpstr>
      <vt:lpstr>Cambria Math</vt:lpstr>
      <vt:lpstr>Courier New</vt:lpstr>
      <vt:lpstr>Georgia</vt:lpstr>
      <vt:lpstr>Symbol</vt:lpstr>
      <vt:lpstr>Times New Roman</vt:lpstr>
      <vt:lpstr>Wingdings</vt:lpstr>
      <vt:lpstr>Office Theme</vt:lpstr>
      <vt:lpstr>Machine Learning</vt:lpstr>
      <vt:lpstr>PowerPoint Presentation</vt:lpstr>
      <vt:lpstr>PowerPoint Presentation</vt:lpstr>
      <vt:lpstr>Data Generation</vt:lpstr>
      <vt:lpstr>Data Imputation</vt:lpstr>
      <vt:lpstr>Data Encoding</vt:lpstr>
      <vt:lpstr>Data Encoding</vt:lpstr>
      <vt:lpstr>Outlier Detection</vt:lpstr>
      <vt:lpstr>Data Normalization</vt:lpstr>
      <vt:lpstr>PowerPoint Presentation</vt:lpstr>
      <vt:lpstr>Dimensionality Reduction</vt:lpstr>
      <vt:lpstr>Feature Selection and Engineering</vt:lpstr>
      <vt:lpstr>Covariance and correlation</vt:lpstr>
      <vt:lpstr>PowerPoint Presentation</vt:lpstr>
      <vt:lpstr>PowerPoint Presentation</vt:lpstr>
      <vt:lpstr>Curse of Dimensionality</vt:lpstr>
      <vt:lpstr>Feature Reduction in ML</vt:lpstr>
      <vt:lpstr>Feature Selection</vt:lpstr>
      <vt:lpstr>Feature Selection - Definition</vt:lpstr>
      <vt:lpstr>Subset selection</vt:lpstr>
      <vt:lpstr>Feature Selection Steps</vt:lpstr>
      <vt:lpstr>Evaluating feature subset</vt:lpstr>
      <vt:lpstr>Evaluation Strategies</vt:lpstr>
      <vt:lpstr>Subset selection</vt:lpstr>
      <vt:lpstr>Feature selection</vt:lpstr>
      <vt:lpstr>Pearson correlation coefficient</vt:lpstr>
      <vt:lpstr>Pearson correlation coefficient</vt:lpstr>
      <vt:lpstr>Feature extraction - definition</vt:lpstr>
      <vt:lpstr>PCA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GanapatiRaju Nadimpalli</dc:creator>
  <cp:lastModifiedBy>Ganapathi Raju</cp:lastModifiedBy>
  <cp:revision>282</cp:revision>
  <dcterms:created xsi:type="dcterms:W3CDTF">2020-01-31T01:38:22Z</dcterms:created>
  <dcterms:modified xsi:type="dcterms:W3CDTF">2025-04-28T13:18:36Z</dcterms:modified>
</cp:coreProperties>
</file>